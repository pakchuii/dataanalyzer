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14.fntdata" ContentType="application/x-fontdata"/>
  <Override PartName="/ppt/fonts/font15.fntdata" ContentType="application/x-fontdata"/>
  <Override PartName="/ppt/fonts/font16.fntdata" ContentType="application/x-fontdata"/>
  <Override PartName="/ppt/fonts/font17.fntdata" ContentType="application/x-fontdata"/>
  <Override PartName="/ppt/fonts/font18.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media/image21.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44.svg" ContentType="image/svg+xml"/>
  <Override PartName="/ppt/media/image6.svg" ContentType="image/svg+xml"/>
  <Override PartName="/ppt/media/image93.svg" ContentType="image/svg+xml"/>
  <Override PartName="/ppt/media/image9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6"/>
  </p:notesMasterIdLst>
  <p:sldIdLst>
    <p:sldId id="256" r:id="rId3"/>
    <p:sldId id="257" r:id="rId4"/>
    <p:sldId id="258" r:id="rId5"/>
    <p:sldId id="276" r:id="rId7"/>
    <p:sldId id="277" r:id="rId8"/>
    <p:sldId id="291" r:id="rId9"/>
    <p:sldId id="278" r:id="rId10"/>
    <p:sldId id="263" r:id="rId11"/>
    <p:sldId id="293" r:id="rId12"/>
    <p:sldId id="294" r:id="rId13"/>
    <p:sldId id="288" r:id="rId14"/>
    <p:sldId id="279" r:id="rId15"/>
    <p:sldId id="260" r:id="rId16"/>
    <p:sldId id="281" r:id="rId17"/>
    <p:sldId id="282" r:id="rId18"/>
    <p:sldId id="283" r:id="rId19"/>
    <p:sldId id="284" r:id="rId20"/>
    <p:sldId id="295" r:id="rId21"/>
    <p:sldId id="296" r:id="rId22"/>
    <p:sldId id="298" r:id="rId23"/>
    <p:sldId id="299" r:id="rId24"/>
    <p:sldId id="300" r:id="rId25"/>
    <p:sldId id="297" r:id="rId26"/>
    <p:sldId id="302" r:id="rId27"/>
    <p:sldId id="303" r:id="rId28"/>
    <p:sldId id="304" r:id="rId29"/>
    <p:sldId id="305" r:id="rId30"/>
    <p:sldId id="285" r:id="rId31"/>
    <p:sldId id="289" r:id="rId32"/>
    <p:sldId id="290" r:id="rId33"/>
    <p:sldId id="286" r:id="rId34"/>
    <p:sldId id="275" r:id="rId35"/>
  </p:sldIdLst>
  <p:sldSz cx="18288000" cy="10287000"/>
  <p:notesSz cx="6858000" cy="9144000"/>
  <p:embeddedFontLst>
    <p:embeddedFont>
      <p:font typeface="微软雅黑" panose="020B0503020204020204" charset="-122"/>
      <p:regular r:id="rId39"/>
    </p:embeddedFont>
    <p:embeddedFont>
      <p:font typeface="Aharoni CLM" panose="02000503000000000000"/>
      <p:regular r:id="rId40"/>
    </p:embeddedFont>
    <p:embeddedFont>
      <p:font typeface="Abril Fatface" panose="02000503000000020003"/>
      <p:regular r:id="rId41"/>
    </p:embeddedFont>
    <p:embeddedFont>
      <p:font typeface="黑体" panose="02010609060101010101" charset="-122"/>
      <p:regular r:id="rId42"/>
    </p:embeddedFont>
    <p:embeddedFont>
      <p:font typeface="Calibri" panose="020F0502020204030204" charset="0"/>
      <p:regular r:id="rId43"/>
      <p:bold r:id="rId44"/>
      <p:italic r:id="rId45"/>
      <p:boldItalic r:id="rId46"/>
    </p:embeddedFont>
    <p:embeddedFont>
      <p:font typeface="Roboto Slab" pitchFamily="34" charset="-120"/>
      <p:regular r:id="rId47"/>
    </p:embeddedFont>
    <p:embeddedFont>
      <p:font typeface="Roboto" panose="02000000000000000000" pitchFamily="34" charset="-120"/>
      <p:regular r:id="rId48"/>
    </p:embeddedFont>
    <p:embeddedFont>
      <p:font typeface="Roboto Slab" pitchFamily="34" charset="0"/>
      <p:regular r:id="rId49"/>
      <p:bold r:id="rId50"/>
    </p:embeddedFont>
    <p:embeddedFont>
      <p:font typeface="Roboto Slab" pitchFamily="34" charset="-122"/>
      <p:regular r:id="rId51"/>
    </p:embeddedFont>
    <p:embeddedFont>
      <p:font typeface="Roboto" panose="02000000000000000000" pitchFamily="34" charset="0"/>
      <p:regular r:id="rId52"/>
      <p:bold r:id="rId53"/>
      <p:italic r:id="rId54"/>
      <p:boldItalic r:id="rId55"/>
    </p:embeddedFont>
    <p:embeddedFont>
      <p:font typeface="Roboto" panose="02000000000000000000" pitchFamily="34" charset="-122"/>
      <p:regular r:id="rId5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6" userDrawn="1">
          <p15:clr>
            <a:srgbClr val="A4A3A4"/>
          </p15:clr>
        </p15:guide>
        <p15:guide id="2" pos="279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206"/>
        <p:guide pos="2794"/>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notesMaster" Target="notesMasters/notesMaster1.xml"/><Relationship Id="rId56" Type="http://schemas.openxmlformats.org/officeDocument/2006/relationships/font" Target="fonts/font18.fntdata"/><Relationship Id="rId55" Type="http://schemas.openxmlformats.org/officeDocument/2006/relationships/font" Target="fonts/font17.fntdata"/><Relationship Id="rId54" Type="http://schemas.openxmlformats.org/officeDocument/2006/relationships/font" Target="fonts/font16.fntdata"/><Relationship Id="rId53" Type="http://schemas.openxmlformats.org/officeDocument/2006/relationships/font" Target="fonts/font15.fntdata"/><Relationship Id="rId52" Type="http://schemas.openxmlformats.org/officeDocument/2006/relationships/font" Target="fonts/font14.fntdata"/><Relationship Id="rId51" Type="http://schemas.openxmlformats.org/officeDocument/2006/relationships/font" Target="fonts/font13.fntdata"/><Relationship Id="rId50" Type="http://schemas.openxmlformats.org/officeDocument/2006/relationships/font" Target="fonts/font12.fntdata"/><Relationship Id="rId5" Type="http://schemas.openxmlformats.org/officeDocument/2006/relationships/slide" Target="slides/slide3.xml"/><Relationship Id="rId49" Type="http://schemas.openxmlformats.org/officeDocument/2006/relationships/font" Target="fonts/font11.fntdata"/><Relationship Id="rId48" Type="http://schemas.openxmlformats.org/officeDocument/2006/relationships/font" Target="fonts/font10.fntdata"/><Relationship Id="rId47" Type="http://schemas.openxmlformats.org/officeDocument/2006/relationships/font" Target="fonts/font9.fntdata"/><Relationship Id="rId46" Type="http://schemas.openxmlformats.org/officeDocument/2006/relationships/font" Target="fonts/font8.fntdata"/><Relationship Id="rId45" Type="http://schemas.openxmlformats.org/officeDocument/2006/relationships/font" Target="fonts/font7.fntdata"/><Relationship Id="rId44" Type="http://schemas.openxmlformats.org/officeDocument/2006/relationships/font" Target="fonts/font6.fntdata"/><Relationship Id="rId43" Type="http://schemas.openxmlformats.org/officeDocument/2006/relationships/font" Target="fonts/font5.fntdata"/><Relationship Id="rId42" Type="http://schemas.openxmlformats.org/officeDocument/2006/relationships/font" Target="fonts/font4.fntdata"/><Relationship Id="rId41" Type="http://schemas.openxmlformats.org/officeDocument/2006/relationships/font" Target="fonts/font3.fntdata"/><Relationship Id="rId40" Type="http://schemas.openxmlformats.org/officeDocument/2006/relationships/font" Target="fonts/font2.fntdata"/><Relationship Id="rId4" Type="http://schemas.openxmlformats.org/officeDocument/2006/relationships/slide" Target="slides/slide2.xml"/><Relationship Id="rId39" Type="http://schemas.openxmlformats.org/officeDocument/2006/relationships/font" Target="fonts/font1.fntdata"/><Relationship Id="rId38" Type="http://schemas.openxmlformats.org/officeDocument/2006/relationships/tableStyles" Target="tableStyles.xml"/><Relationship Id="rId37" Type="http://schemas.openxmlformats.org/officeDocument/2006/relationships/viewProps" Target="viewProps.xml"/><Relationship Id="rId36" Type="http://schemas.openxmlformats.org/officeDocument/2006/relationships/presProps" Target="presProps.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2.png"/><Relationship Id="rId1" Type="http://schemas.openxmlformats.org/officeDocument/2006/relationships/image" Target="../media/image7.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8.jpe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7.xml"/><Relationship Id="rId6" Type="http://schemas.openxmlformats.org/officeDocument/2006/relationships/tags" Target="../tags/tag7.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9.jpe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3.xml"/><Relationship Id="rId5" Type="http://schemas.openxmlformats.org/officeDocument/2006/relationships/slideLayout" Target="../slideLayouts/slideLayout7.xml"/><Relationship Id="rId4" Type="http://schemas.openxmlformats.org/officeDocument/2006/relationships/image" Target="../media/image12.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9.jpeg"/></Relationships>
</file>

<file path=ppt/slides/_rels/slide6.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7.xml"/><Relationship Id="rId7" Type="http://schemas.openxmlformats.org/officeDocument/2006/relationships/image" Target="../media/image16.png"/><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3.png"/><Relationship Id="rId1" Type="http://schemas.openxmlformats.org/officeDocument/2006/relationships/image" Target="../media/image9.jpe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7.xml"/><Relationship Id="rId7" Type="http://schemas.openxmlformats.org/officeDocument/2006/relationships/tags" Target="../tags/tag10.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image" Target="../media/image17.jpe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8.jpe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8.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9.jpe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image" Target="../media/image9.jpeg"/></Relationships>
</file>

<file path=ppt/slides/_rels/slide11.xml.rels><?xml version="1.0" encoding="UTF-8" standalone="yes"?>
<Relationships xmlns="http://schemas.openxmlformats.org/package/2006/relationships"><Relationship Id="rId9" Type="http://schemas.openxmlformats.org/officeDocument/2006/relationships/tags" Target="../tags/tag16.xml"/><Relationship Id="rId8" Type="http://schemas.openxmlformats.org/officeDocument/2006/relationships/tags" Target="../tags/tag15.xml"/><Relationship Id="rId7" Type="http://schemas.openxmlformats.org/officeDocument/2006/relationships/tags" Target="../tags/tag14.xml"/><Relationship Id="rId6" Type="http://schemas.openxmlformats.org/officeDocument/2006/relationships/tags" Target="../tags/tag13.xml"/><Relationship Id="rId5" Type="http://schemas.openxmlformats.org/officeDocument/2006/relationships/tags" Target="../tags/tag12.xml"/><Relationship Id="rId4" Type="http://schemas.openxmlformats.org/officeDocument/2006/relationships/tags" Target="../tags/tag11.xml"/><Relationship Id="rId3" Type="http://schemas.openxmlformats.org/officeDocument/2006/relationships/image" Target="../media/image3.png"/><Relationship Id="rId2" Type="http://schemas.openxmlformats.org/officeDocument/2006/relationships/image" Target="../media/image2.png"/><Relationship Id="rId16" Type="http://schemas.openxmlformats.org/officeDocument/2006/relationships/slideLayout" Target="../slideLayouts/slideLayout7.xml"/><Relationship Id="rId15" Type="http://schemas.openxmlformats.org/officeDocument/2006/relationships/tags" Target="../tags/tag22.xml"/><Relationship Id="rId14" Type="http://schemas.openxmlformats.org/officeDocument/2006/relationships/tags" Target="../tags/tag21.xml"/><Relationship Id="rId13" Type="http://schemas.openxmlformats.org/officeDocument/2006/relationships/tags" Target="../tags/tag20.xml"/><Relationship Id="rId12" Type="http://schemas.openxmlformats.org/officeDocument/2006/relationships/tags" Target="../tags/tag19.xml"/><Relationship Id="rId11" Type="http://schemas.openxmlformats.org/officeDocument/2006/relationships/tags" Target="../tags/tag18.xml"/><Relationship Id="rId10" Type="http://schemas.openxmlformats.org/officeDocument/2006/relationships/tags" Target="../tags/tag17.xml"/><Relationship Id="rId1" Type="http://schemas.openxmlformats.org/officeDocument/2006/relationships/image" Target="../media/image9.jpeg"/></Relationships>
</file>

<file path=ppt/slides/_rels/slide12.xml.rels><?xml version="1.0" encoding="UTF-8" standalone="yes"?>
<Relationships xmlns="http://schemas.openxmlformats.org/package/2006/relationships"><Relationship Id="rId9" Type="http://schemas.openxmlformats.org/officeDocument/2006/relationships/notesSlide" Target="../notesSlides/notesSlide6.xml"/><Relationship Id="rId8" Type="http://schemas.openxmlformats.org/officeDocument/2006/relationships/slideLayout" Target="../slideLayouts/slideLayout7.xml"/><Relationship Id="rId7" Type="http://schemas.openxmlformats.org/officeDocument/2006/relationships/image" Target="../media/image23.png"/><Relationship Id="rId6" Type="http://schemas.openxmlformats.org/officeDocument/2006/relationships/image" Target="../media/image22.png"/><Relationship Id="rId5" Type="http://schemas.openxmlformats.org/officeDocument/2006/relationships/image" Target="../media/image21.svg"/><Relationship Id="rId4" Type="http://schemas.openxmlformats.org/officeDocument/2006/relationships/image" Target="../media/image20.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9.jpeg"/></Relationships>
</file>

<file path=ppt/slides/_rels/slide13.xml.rels><?xml version="1.0" encoding="UTF-8" standalone="yes"?>
<Relationships xmlns="http://schemas.openxmlformats.org/package/2006/relationships"><Relationship Id="rId9" Type="http://schemas.openxmlformats.org/officeDocument/2006/relationships/image" Target="../media/image29.png"/><Relationship Id="rId8" Type="http://schemas.openxmlformats.org/officeDocument/2006/relationships/image" Target="../media/image28.svg"/><Relationship Id="rId7" Type="http://schemas.openxmlformats.org/officeDocument/2006/relationships/image" Target="../media/image27.png"/><Relationship Id="rId6" Type="http://schemas.openxmlformats.org/officeDocument/2006/relationships/image" Target="../media/image26.svg"/><Relationship Id="rId5" Type="http://schemas.openxmlformats.org/officeDocument/2006/relationships/image" Target="../media/image25.png"/><Relationship Id="rId4" Type="http://schemas.openxmlformats.org/officeDocument/2006/relationships/image" Target="../media/image24.png"/><Relationship Id="rId3" Type="http://schemas.openxmlformats.org/officeDocument/2006/relationships/image" Target="../media/image3.png"/><Relationship Id="rId23" Type="http://schemas.openxmlformats.org/officeDocument/2006/relationships/slideLayout" Target="../slideLayouts/slideLayout7.xml"/><Relationship Id="rId22" Type="http://schemas.openxmlformats.org/officeDocument/2006/relationships/image" Target="../media/image42.png"/><Relationship Id="rId21" Type="http://schemas.openxmlformats.org/officeDocument/2006/relationships/image" Target="../media/image41.png"/><Relationship Id="rId20" Type="http://schemas.openxmlformats.org/officeDocument/2006/relationships/image" Target="../media/image40.png"/><Relationship Id="rId2" Type="http://schemas.openxmlformats.org/officeDocument/2006/relationships/image" Target="../media/image2.png"/><Relationship Id="rId19" Type="http://schemas.openxmlformats.org/officeDocument/2006/relationships/image" Target="../media/image39.png"/><Relationship Id="rId18" Type="http://schemas.openxmlformats.org/officeDocument/2006/relationships/image" Target="../media/image38.png"/><Relationship Id="rId17" Type="http://schemas.openxmlformats.org/officeDocument/2006/relationships/image" Target="../media/image37.png"/><Relationship Id="rId16" Type="http://schemas.openxmlformats.org/officeDocument/2006/relationships/image" Target="../media/image36.png"/><Relationship Id="rId15" Type="http://schemas.openxmlformats.org/officeDocument/2006/relationships/image" Target="../media/image35.png"/><Relationship Id="rId14" Type="http://schemas.openxmlformats.org/officeDocument/2006/relationships/image" Target="../media/image34.png"/><Relationship Id="rId13" Type="http://schemas.openxmlformats.org/officeDocument/2006/relationships/image" Target="../media/image33.png"/><Relationship Id="rId12" Type="http://schemas.openxmlformats.org/officeDocument/2006/relationships/image" Target="../media/image32.svg"/><Relationship Id="rId11" Type="http://schemas.openxmlformats.org/officeDocument/2006/relationships/image" Target="../media/image31.png"/><Relationship Id="rId10" Type="http://schemas.openxmlformats.org/officeDocument/2006/relationships/image" Target="../media/image30.svg"/><Relationship Id="rId1" Type="http://schemas.openxmlformats.org/officeDocument/2006/relationships/image" Target="../media/image9.jpeg"/></Relationships>
</file>

<file path=ppt/slides/_rels/slide14.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image" Target="../media/image44.svg"/><Relationship Id="rId7" Type="http://schemas.openxmlformats.org/officeDocument/2006/relationships/image" Target="../media/image43.png"/><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6" Type="http://schemas.openxmlformats.org/officeDocument/2006/relationships/slideLayout" Target="../slideLayouts/slideLayout7.xml"/><Relationship Id="rId35" Type="http://schemas.openxmlformats.org/officeDocument/2006/relationships/tags" Target="../tags/tag52.xml"/><Relationship Id="rId34" Type="http://schemas.openxmlformats.org/officeDocument/2006/relationships/tags" Target="../tags/tag51.xml"/><Relationship Id="rId33" Type="http://schemas.openxmlformats.org/officeDocument/2006/relationships/tags" Target="../tags/tag50.xml"/><Relationship Id="rId32" Type="http://schemas.openxmlformats.org/officeDocument/2006/relationships/tags" Target="../tags/tag49.xml"/><Relationship Id="rId31" Type="http://schemas.openxmlformats.org/officeDocument/2006/relationships/tags" Target="../tags/tag48.xml"/><Relationship Id="rId30" Type="http://schemas.openxmlformats.org/officeDocument/2006/relationships/tags" Target="../tags/tag47.xml"/><Relationship Id="rId3" Type="http://schemas.openxmlformats.org/officeDocument/2006/relationships/image" Target="../media/image3.png"/><Relationship Id="rId29" Type="http://schemas.openxmlformats.org/officeDocument/2006/relationships/tags" Target="../tags/tag46.xml"/><Relationship Id="rId28" Type="http://schemas.openxmlformats.org/officeDocument/2006/relationships/tags" Target="../tags/tag45.xml"/><Relationship Id="rId27" Type="http://schemas.openxmlformats.org/officeDocument/2006/relationships/tags" Target="../tags/tag44.xml"/><Relationship Id="rId26" Type="http://schemas.openxmlformats.org/officeDocument/2006/relationships/tags" Target="../tags/tag43.xml"/><Relationship Id="rId25" Type="http://schemas.openxmlformats.org/officeDocument/2006/relationships/tags" Target="../tags/tag42.xml"/><Relationship Id="rId24" Type="http://schemas.openxmlformats.org/officeDocument/2006/relationships/tags" Target="../tags/tag41.xml"/><Relationship Id="rId23" Type="http://schemas.openxmlformats.org/officeDocument/2006/relationships/tags" Target="../tags/tag40.xml"/><Relationship Id="rId22" Type="http://schemas.openxmlformats.org/officeDocument/2006/relationships/tags" Target="../tags/tag39.xml"/><Relationship Id="rId21" Type="http://schemas.openxmlformats.org/officeDocument/2006/relationships/tags" Target="../tags/tag38.xml"/><Relationship Id="rId20" Type="http://schemas.openxmlformats.org/officeDocument/2006/relationships/tags" Target="../tags/tag37.xml"/><Relationship Id="rId2" Type="http://schemas.openxmlformats.org/officeDocument/2006/relationships/image" Target="../media/image2.png"/><Relationship Id="rId19" Type="http://schemas.openxmlformats.org/officeDocument/2006/relationships/tags" Target="../tags/tag36.xml"/><Relationship Id="rId18" Type="http://schemas.openxmlformats.org/officeDocument/2006/relationships/tags" Target="../tags/tag35.xml"/><Relationship Id="rId17" Type="http://schemas.openxmlformats.org/officeDocument/2006/relationships/tags" Target="../tags/tag34.xml"/><Relationship Id="rId16" Type="http://schemas.openxmlformats.org/officeDocument/2006/relationships/tags" Target="../tags/tag33.xml"/><Relationship Id="rId15" Type="http://schemas.openxmlformats.org/officeDocument/2006/relationships/tags" Target="../tags/tag32.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image" Target="../media/image9.jpe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png"/><Relationship Id="rId1" Type="http://schemas.openxmlformats.org/officeDocument/2006/relationships/image" Target="../media/image8.jpeg"/></Relationships>
</file>

<file path=ppt/slides/_rels/slide16.xml.rels><?xml version="1.0" encoding="UTF-8" standalone="yes"?>
<Relationships xmlns="http://schemas.openxmlformats.org/package/2006/relationships"><Relationship Id="rId9" Type="http://schemas.openxmlformats.org/officeDocument/2006/relationships/tags" Target="../tags/tag55.xml"/><Relationship Id="rId8" Type="http://schemas.openxmlformats.org/officeDocument/2006/relationships/tags" Target="../tags/tag54.xml"/><Relationship Id="rId7" Type="http://schemas.openxmlformats.org/officeDocument/2006/relationships/tags" Target="../tags/tag53.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47.jpeg"/><Relationship Id="rId31" Type="http://schemas.openxmlformats.org/officeDocument/2006/relationships/slideLayout" Target="../slideLayouts/slideLayout7.xml"/><Relationship Id="rId30" Type="http://schemas.openxmlformats.org/officeDocument/2006/relationships/tags" Target="../tags/tag74.xml"/><Relationship Id="rId3" Type="http://schemas.openxmlformats.org/officeDocument/2006/relationships/image" Target="../media/image46.jpeg"/><Relationship Id="rId29" Type="http://schemas.openxmlformats.org/officeDocument/2006/relationships/tags" Target="../tags/tag73.xml"/><Relationship Id="rId28" Type="http://schemas.openxmlformats.org/officeDocument/2006/relationships/tags" Target="../tags/tag72.xml"/><Relationship Id="rId27" Type="http://schemas.openxmlformats.org/officeDocument/2006/relationships/tags" Target="../tags/tag71.xml"/><Relationship Id="rId26" Type="http://schemas.openxmlformats.org/officeDocument/2006/relationships/tags" Target="../tags/tag70.xml"/><Relationship Id="rId25" Type="http://schemas.openxmlformats.org/officeDocument/2006/relationships/tags" Target="../tags/tag69.xml"/><Relationship Id="rId24" Type="http://schemas.openxmlformats.org/officeDocument/2006/relationships/tags" Target="../tags/tag68.xml"/><Relationship Id="rId23" Type="http://schemas.openxmlformats.org/officeDocument/2006/relationships/tags" Target="../tags/tag67.xml"/><Relationship Id="rId22" Type="http://schemas.openxmlformats.org/officeDocument/2006/relationships/tags" Target="../tags/tag66.xml"/><Relationship Id="rId21" Type="http://schemas.openxmlformats.org/officeDocument/2006/relationships/tags" Target="../tags/tag65.xml"/><Relationship Id="rId20" Type="http://schemas.openxmlformats.org/officeDocument/2006/relationships/tags" Target="../tags/tag64.xml"/><Relationship Id="rId2" Type="http://schemas.openxmlformats.org/officeDocument/2006/relationships/image" Target="../media/image45.jpeg"/><Relationship Id="rId19" Type="http://schemas.openxmlformats.org/officeDocument/2006/relationships/tags" Target="../tags/tag63.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image" Target="../media/image44.svg"/><Relationship Id="rId11" Type="http://schemas.openxmlformats.org/officeDocument/2006/relationships/image" Target="../media/image43.png"/><Relationship Id="rId10" Type="http://schemas.openxmlformats.org/officeDocument/2006/relationships/tags" Target="../tags/tag56.xml"/><Relationship Id="rId1" Type="http://schemas.openxmlformats.org/officeDocument/2006/relationships/image" Target="../media/image9.jpeg"/></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50.png"/><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24.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9.jpeg"/></Relationships>
</file>

<file path=ppt/slides/_rels/slide1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55.png"/><Relationship Id="rId7" Type="http://schemas.openxmlformats.org/officeDocument/2006/relationships/image" Target="../media/image54.png"/><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9.jpeg"/></Relationships>
</file>

<file path=ppt/slides/_rels/slide19.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0.png"/><Relationship Id="rId7" Type="http://schemas.openxmlformats.org/officeDocument/2006/relationships/image" Target="../media/image59.png"/><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9.jpeg"/></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65.png"/><Relationship Id="rId7" Type="http://schemas.openxmlformats.org/officeDocument/2006/relationships/image" Target="../media/image64.png"/><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9.jpeg"/></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69.png"/><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9.jpeg"/></Relationships>
</file>

<file path=ppt/slides/_rels/slide22.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9.jpeg"/></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74.png"/><Relationship Id="rId5" Type="http://schemas.openxmlformats.org/officeDocument/2006/relationships/image" Target="../media/image73.png"/><Relationship Id="rId4" Type="http://schemas.openxmlformats.org/officeDocument/2006/relationships/image" Target="../media/image22.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9.jpeg"/></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79.png"/><Relationship Id="rId7" Type="http://schemas.openxmlformats.org/officeDocument/2006/relationships/image" Target="../media/image78.png"/><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9.jpeg"/></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81.png"/><Relationship Id="rId4" Type="http://schemas.openxmlformats.org/officeDocument/2006/relationships/image" Target="../media/image80.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9.jpeg"/></Relationships>
</file>

<file path=ppt/slides/_rels/slide26.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84.png"/><Relationship Id="rId5" Type="http://schemas.openxmlformats.org/officeDocument/2006/relationships/image" Target="../media/image83.png"/><Relationship Id="rId4" Type="http://schemas.openxmlformats.org/officeDocument/2006/relationships/image" Target="../media/image82.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9.jpeg"/></Relationships>
</file>

<file path=ppt/slides/_rels/slide27.xml.rels><?xml version="1.0" encoding="UTF-8" standalone="yes"?>
<Relationships xmlns="http://schemas.openxmlformats.org/package/2006/relationships"><Relationship Id="rId9" Type="http://schemas.openxmlformats.org/officeDocument/2006/relationships/tags" Target="../tags/tag78.xml"/><Relationship Id="rId8" Type="http://schemas.openxmlformats.org/officeDocument/2006/relationships/image" Target="../media/image44.svg"/><Relationship Id="rId7" Type="http://schemas.openxmlformats.org/officeDocument/2006/relationships/image" Target="../media/image43.png"/><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 Id="rId3" Type="http://schemas.openxmlformats.org/officeDocument/2006/relationships/image" Target="../media/image3.png"/><Relationship Id="rId2" Type="http://schemas.openxmlformats.org/officeDocument/2006/relationships/image" Target="../media/image2.png"/><Relationship Id="rId19" Type="http://schemas.openxmlformats.org/officeDocument/2006/relationships/slideLayout" Target="../slideLayouts/slideLayout7.xml"/><Relationship Id="rId18" Type="http://schemas.openxmlformats.org/officeDocument/2006/relationships/image" Target="../media/image87.png"/><Relationship Id="rId17" Type="http://schemas.openxmlformats.org/officeDocument/2006/relationships/image" Target="../media/image86.png"/><Relationship Id="rId16" Type="http://schemas.openxmlformats.org/officeDocument/2006/relationships/image" Target="../media/image85.png"/><Relationship Id="rId15" Type="http://schemas.openxmlformats.org/officeDocument/2006/relationships/tags" Target="../tags/tag84.xml"/><Relationship Id="rId14" Type="http://schemas.openxmlformats.org/officeDocument/2006/relationships/tags" Target="../tags/tag83.xml"/><Relationship Id="rId13" Type="http://schemas.openxmlformats.org/officeDocument/2006/relationships/tags" Target="../tags/tag82.xml"/><Relationship Id="rId12" Type="http://schemas.openxmlformats.org/officeDocument/2006/relationships/tags" Target="../tags/tag81.xml"/><Relationship Id="rId11" Type="http://schemas.openxmlformats.org/officeDocument/2006/relationships/tags" Target="../tags/tag80.xml"/><Relationship Id="rId10" Type="http://schemas.openxmlformats.org/officeDocument/2006/relationships/tags" Target="../tags/tag79.xml"/><Relationship Id="rId1" Type="http://schemas.openxmlformats.org/officeDocument/2006/relationships/image" Target="../media/image9.jpeg"/></Relationships>
</file>

<file path=ppt/slides/_rels/slide28.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90.png"/><Relationship Id="rId6" Type="http://schemas.openxmlformats.org/officeDocument/2006/relationships/image" Target="../media/image82.png"/><Relationship Id="rId5" Type="http://schemas.openxmlformats.org/officeDocument/2006/relationships/image" Target="../media/image89.png"/><Relationship Id="rId4" Type="http://schemas.openxmlformats.org/officeDocument/2006/relationships/image" Target="../media/image88.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9.jpeg"/></Relationships>
</file>

<file path=ppt/slides/_rels/slide2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91.pn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9.jpeg"/></Relationships>
</file>

<file path=ppt/slides/_rels/slide30.xml.rels><?xml version="1.0" encoding="UTF-8" standalone="yes"?>
<Relationships xmlns="http://schemas.openxmlformats.org/package/2006/relationships"><Relationship Id="rId9" Type="http://schemas.openxmlformats.org/officeDocument/2006/relationships/image" Target="../media/image97.png"/><Relationship Id="rId8" Type="http://schemas.openxmlformats.org/officeDocument/2006/relationships/image" Target="../media/image96.png"/><Relationship Id="rId7" Type="http://schemas.openxmlformats.org/officeDocument/2006/relationships/image" Target="../media/image95.svg"/><Relationship Id="rId6" Type="http://schemas.openxmlformats.org/officeDocument/2006/relationships/image" Target="../media/image94.png"/><Relationship Id="rId5" Type="http://schemas.openxmlformats.org/officeDocument/2006/relationships/image" Target="../media/image93.svg"/><Relationship Id="rId4" Type="http://schemas.openxmlformats.org/officeDocument/2006/relationships/image" Target="../media/image92.png"/><Relationship Id="rId3" Type="http://schemas.openxmlformats.org/officeDocument/2006/relationships/image" Target="../media/image3.png"/><Relationship Id="rId2" Type="http://schemas.openxmlformats.org/officeDocument/2006/relationships/image" Target="../media/image2.png"/><Relationship Id="rId13" Type="http://schemas.openxmlformats.org/officeDocument/2006/relationships/slideLayout" Target="../slideLayouts/slideLayout7.xml"/><Relationship Id="rId12" Type="http://schemas.openxmlformats.org/officeDocument/2006/relationships/image" Target="../media/image100.png"/><Relationship Id="rId11" Type="http://schemas.openxmlformats.org/officeDocument/2006/relationships/image" Target="../media/image99.png"/><Relationship Id="rId10" Type="http://schemas.openxmlformats.org/officeDocument/2006/relationships/image" Target="../media/image98.png"/><Relationship Id="rId1" Type="http://schemas.openxmlformats.org/officeDocument/2006/relationships/image" Target="../media/image9.jpeg"/></Relationships>
</file>

<file path=ppt/slides/_rels/slide31.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101.jpe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9.jpeg"/></Relationships>
</file>

<file path=ppt/slides/_rels/slide32.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0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9612" r="-18117" b="-30291"/>
            </a:stretch>
          </a:blipFill>
        </p:spPr>
      </p:sp>
      <p:sp>
        <p:nvSpPr>
          <p:cNvPr id="3" name="Freeform 3"/>
          <p:cNvSpPr/>
          <p:nvPr/>
        </p:nvSpPr>
        <p:spPr>
          <a:xfrm rot="-1034855" flipV="1">
            <a:off x="7892424" y="6002963"/>
            <a:ext cx="13085169" cy="5743161"/>
          </a:xfrm>
          <a:custGeom>
            <a:avLst/>
            <a:gdLst/>
            <a:ahLst/>
            <a:cxnLst/>
            <a:rect l="l" t="t" r="r" b="b"/>
            <a:pathLst>
              <a:path w="13085169" h="5743161">
                <a:moveTo>
                  <a:pt x="0" y="5743160"/>
                </a:moveTo>
                <a:lnTo>
                  <a:pt x="13085169" y="5743160"/>
                </a:lnTo>
                <a:lnTo>
                  <a:pt x="13085169" y="0"/>
                </a:lnTo>
                <a:lnTo>
                  <a:pt x="0" y="0"/>
                </a:lnTo>
                <a:lnTo>
                  <a:pt x="0" y="5743160"/>
                </a:lnTo>
                <a:close/>
              </a:path>
            </a:pathLst>
          </a:custGeom>
          <a:blipFill>
            <a:blip r:embed="rId2">
              <a:alphaModFix amt="46000"/>
            </a:blip>
            <a:stretch>
              <a:fillRect l="-2095" r="-2095"/>
            </a:stretch>
          </a:blipFill>
        </p:spPr>
      </p:sp>
      <p:sp>
        <p:nvSpPr>
          <p:cNvPr id="4" name="Freeform 4"/>
          <p:cNvSpPr/>
          <p:nvPr/>
        </p:nvSpPr>
        <p:spPr>
          <a:xfrm rot="-1204851" flipV="1">
            <a:off x="5641124" y="8018466"/>
            <a:ext cx="13996660" cy="4723021"/>
          </a:xfrm>
          <a:custGeom>
            <a:avLst/>
            <a:gdLst/>
            <a:ahLst/>
            <a:cxnLst/>
            <a:rect l="l" t="t" r="r" b="b"/>
            <a:pathLst>
              <a:path w="13996660" h="4723021">
                <a:moveTo>
                  <a:pt x="0" y="4723021"/>
                </a:moveTo>
                <a:lnTo>
                  <a:pt x="13996660" y="4723021"/>
                </a:lnTo>
                <a:lnTo>
                  <a:pt x="13996660" y="0"/>
                </a:lnTo>
                <a:lnTo>
                  <a:pt x="0" y="0"/>
                </a:lnTo>
                <a:lnTo>
                  <a:pt x="0" y="4723021"/>
                </a:lnTo>
                <a:close/>
              </a:path>
            </a:pathLst>
          </a:custGeom>
          <a:blipFill>
            <a:blip r:embed="rId3">
              <a:alphaModFix amt="18000"/>
            </a:blip>
            <a:stretch>
              <a:fillRect r="-24401"/>
            </a:stretch>
          </a:blipFill>
          <a:ln cap="sq">
            <a:noFill/>
            <a:prstDash val="solid"/>
            <a:miter/>
          </a:ln>
        </p:spPr>
      </p:sp>
      <p:sp>
        <p:nvSpPr>
          <p:cNvPr id="5" name="Freeform 5"/>
          <p:cNvSpPr/>
          <p:nvPr/>
        </p:nvSpPr>
        <p:spPr>
          <a:xfrm rot="862994">
            <a:off x="-7949821" y="7331300"/>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9999"/>
            </a:blip>
            <a:stretch>
              <a:fillRect/>
            </a:stretch>
          </a:blipFill>
          <a:ln cap="sq">
            <a:noFill/>
            <a:prstDash val="solid"/>
            <a:miter/>
          </a:ln>
        </p:spPr>
      </p:sp>
      <p:sp>
        <p:nvSpPr>
          <p:cNvPr id="6" name="Freeform 6"/>
          <p:cNvSpPr/>
          <p:nvPr/>
        </p:nvSpPr>
        <p:spPr>
          <a:xfrm rot="10060989">
            <a:off x="-3585179" y="-3313264"/>
            <a:ext cx="17412058" cy="4723021"/>
          </a:xfrm>
          <a:custGeom>
            <a:avLst/>
            <a:gdLst/>
            <a:ahLst/>
            <a:cxnLst/>
            <a:rect l="l" t="t" r="r" b="b"/>
            <a:pathLst>
              <a:path w="17412058" h="4723021">
                <a:moveTo>
                  <a:pt x="0" y="0"/>
                </a:moveTo>
                <a:lnTo>
                  <a:pt x="17412059" y="0"/>
                </a:lnTo>
                <a:lnTo>
                  <a:pt x="17412059" y="4723020"/>
                </a:lnTo>
                <a:lnTo>
                  <a:pt x="0" y="4723020"/>
                </a:lnTo>
                <a:lnTo>
                  <a:pt x="0" y="0"/>
                </a:lnTo>
                <a:close/>
              </a:path>
            </a:pathLst>
          </a:custGeom>
          <a:blipFill>
            <a:blip r:embed="rId3">
              <a:alphaModFix amt="21999"/>
            </a:blip>
            <a:stretch>
              <a:fillRect/>
            </a:stretch>
          </a:blipFill>
          <a:ln cap="sq">
            <a:noFill/>
            <a:prstDash val="solid"/>
            <a:miter/>
          </a:ln>
        </p:spPr>
      </p:sp>
      <p:grpSp>
        <p:nvGrpSpPr>
          <p:cNvPr id="7" name="Group 7"/>
          <p:cNvGrpSpPr/>
          <p:nvPr/>
        </p:nvGrpSpPr>
        <p:grpSpPr>
          <a:xfrm rot="0">
            <a:off x="2285948" y="7206094"/>
            <a:ext cx="3315236" cy="641186"/>
            <a:chOff x="0" y="0"/>
            <a:chExt cx="1328788" cy="256995"/>
          </a:xfrm>
        </p:grpSpPr>
        <p:sp>
          <p:nvSpPr>
            <p:cNvPr id="8" name="Freeform 8"/>
            <p:cNvSpPr/>
            <p:nvPr/>
          </p:nvSpPr>
          <p:spPr>
            <a:xfrm>
              <a:off x="0" y="0"/>
              <a:ext cx="1328788" cy="256995"/>
            </a:xfrm>
            <a:custGeom>
              <a:avLst/>
              <a:gdLst/>
              <a:ahLst/>
              <a:cxnLst/>
              <a:rect l="l" t="t" r="r" b="b"/>
              <a:pathLst>
                <a:path w="1328788" h="256995">
                  <a:moveTo>
                    <a:pt x="91075" y="0"/>
                  </a:moveTo>
                  <a:lnTo>
                    <a:pt x="1237713" y="0"/>
                  </a:lnTo>
                  <a:cubicBezTo>
                    <a:pt x="1261868" y="0"/>
                    <a:pt x="1285033" y="9595"/>
                    <a:pt x="1302113" y="26675"/>
                  </a:cubicBezTo>
                  <a:cubicBezTo>
                    <a:pt x="1319193" y="43755"/>
                    <a:pt x="1328788" y="66920"/>
                    <a:pt x="1328788" y="91075"/>
                  </a:cubicBezTo>
                  <a:lnTo>
                    <a:pt x="1328788" y="165920"/>
                  </a:lnTo>
                  <a:cubicBezTo>
                    <a:pt x="1328788" y="216219"/>
                    <a:pt x="1288012" y="256995"/>
                    <a:pt x="1237713" y="256995"/>
                  </a:cubicBezTo>
                  <a:lnTo>
                    <a:pt x="91075" y="256995"/>
                  </a:lnTo>
                  <a:cubicBezTo>
                    <a:pt x="40776" y="256995"/>
                    <a:pt x="0" y="216219"/>
                    <a:pt x="0" y="165920"/>
                  </a:cubicBezTo>
                  <a:lnTo>
                    <a:pt x="0" y="91075"/>
                  </a:lnTo>
                  <a:cubicBezTo>
                    <a:pt x="0" y="40776"/>
                    <a:pt x="40776" y="0"/>
                    <a:pt x="91075" y="0"/>
                  </a:cubicBezTo>
                  <a:close/>
                </a:path>
              </a:pathLst>
            </a:custGeom>
            <a:solidFill>
              <a:srgbClr val="3B64C9"/>
            </a:solidFill>
          </p:spPr>
        </p:sp>
        <p:sp>
          <p:nvSpPr>
            <p:cNvPr id="9" name="TextBox 9"/>
            <p:cNvSpPr txBox="1"/>
            <p:nvPr/>
          </p:nvSpPr>
          <p:spPr>
            <a:xfrm>
              <a:off x="0" y="-47625"/>
              <a:ext cx="1328788" cy="304620"/>
            </a:xfrm>
            <a:prstGeom prst="rect">
              <a:avLst/>
            </a:prstGeom>
          </p:spPr>
          <p:txBody>
            <a:bodyPr lIns="33381" tIns="33381" rIns="33381" bIns="33381" rtlCol="0" anchor="ctr"/>
            <a:lstStyle/>
            <a:p>
              <a:pPr algn="ctr">
                <a:lnSpc>
                  <a:spcPts val="3660"/>
                </a:lnSpc>
              </a:pPr>
            </a:p>
          </p:txBody>
        </p:sp>
      </p:grpSp>
      <p:sp>
        <p:nvSpPr>
          <p:cNvPr id="10" name="TextBox 10"/>
          <p:cNvSpPr txBox="1"/>
          <p:nvPr/>
        </p:nvSpPr>
        <p:spPr>
          <a:xfrm>
            <a:off x="2373870" y="7266977"/>
            <a:ext cx="3139393" cy="506730"/>
          </a:xfrm>
          <a:prstGeom prst="rect">
            <a:avLst/>
          </a:prstGeom>
        </p:spPr>
        <p:txBody>
          <a:bodyPr lIns="0" tIns="0" rIns="0" bIns="0" rtlCol="0" anchor="t">
            <a:spAutoFit/>
          </a:bodyPr>
          <a:lstStyle/>
          <a:p>
            <a:pPr algn="ctr">
              <a:lnSpc>
                <a:spcPts val="3955"/>
              </a:lnSpc>
            </a:pPr>
            <a:r>
              <a:rPr lang="en-US" sz="2825" b="1">
                <a:solidFill>
                  <a:srgbClr val="FFFFFF"/>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rPr>
              <a:t>汇报人：</a:t>
            </a:r>
            <a:r>
              <a:rPr lang="zh-CN" altLang="en-US" sz="2825" b="1">
                <a:solidFill>
                  <a:srgbClr val="FFFFFF"/>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rPr>
              <a:t>毛旭锋</a:t>
            </a:r>
            <a:endParaRPr lang="zh-CN" altLang="en-US" sz="2825" b="1">
              <a:solidFill>
                <a:srgbClr val="FFFFFF"/>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endParaRPr>
          </a:p>
        </p:txBody>
      </p:sp>
      <p:sp>
        <p:nvSpPr>
          <p:cNvPr id="11" name="TextBox 11"/>
          <p:cNvSpPr txBox="1"/>
          <p:nvPr/>
        </p:nvSpPr>
        <p:spPr>
          <a:xfrm>
            <a:off x="1981200" y="2553970"/>
            <a:ext cx="14305915" cy="3641725"/>
          </a:xfrm>
          <a:prstGeom prst="rect">
            <a:avLst/>
          </a:prstGeom>
        </p:spPr>
        <p:txBody>
          <a:bodyPr wrap="square" lIns="0" tIns="0" rIns="0" bIns="0" rtlCol="0" anchor="t">
            <a:noAutofit/>
          </a:bodyPr>
          <a:lstStyle/>
          <a:p>
            <a:pPr algn="l">
              <a:lnSpc>
                <a:spcPts val="14880"/>
              </a:lnSpc>
            </a:pPr>
            <a:r>
              <a:rPr lang="zh-CN" altLang="en-US" sz="9600" b="1" spc="531">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集成统计分析与可视化的表单数据处理系统</a:t>
            </a:r>
            <a:endParaRPr lang="zh-CN" altLang="en-US" sz="9600" b="1" spc="531">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12" name="TextBox 12"/>
          <p:cNvSpPr txBox="1"/>
          <p:nvPr/>
        </p:nvSpPr>
        <p:spPr>
          <a:xfrm>
            <a:off x="1940508" y="1104970"/>
            <a:ext cx="2725816" cy="1977390"/>
          </a:xfrm>
          <a:prstGeom prst="rect">
            <a:avLst/>
          </a:prstGeom>
        </p:spPr>
        <p:txBody>
          <a:bodyPr lIns="0" tIns="0" rIns="0" bIns="0" rtlCol="0" anchor="t">
            <a:spAutoFit/>
          </a:bodyPr>
          <a:lstStyle/>
          <a:p>
            <a:pPr algn="l">
              <a:lnSpc>
                <a:spcPts val="15420"/>
              </a:lnSpc>
            </a:pPr>
            <a:r>
              <a:rPr lang="en-US" sz="11015" spc="220">
                <a:solidFill>
                  <a:srgbClr val="3B64C9">
                    <a:alpha val="82745"/>
                  </a:srgbClr>
                </a:solidFill>
                <a:latin typeface="Aharoni CLM" panose="02000503000000000000"/>
                <a:ea typeface="Aharoni CLM" panose="02000503000000000000"/>
                <a:cs typeface="Aharoni CLM" panose="02000503000000000000"/>
                <a:sym typeface="Aharoni CLM" panose="02000503000000000000"/>
              </a:rPr>
              <a:t>2026</a:t>
            </a:r>
            <a:endParaRPr lang="en-US" sz="11015" spc="220">
              <a:solidFill>
                <a:srgbClr val="3B64C9">
                  <a:alpha val="82745"/>
                </a:srgbClr>
              </a:solidFill>
              <a:latin typeface="Aharoni CLM" panose="02000503000000000000"/>
              <a:ea typeface="Aharoni CLM" panose="02000503000000000000"/>
              <a:cs typeface="Aharoni CLM" panose="02000503000000000000"/>
              <a:sym typeface="Aharoni CLM" panose="02000503000000000000"/>
            </a:endParaRPr>
          </a:p>
        </p:txBody>
      </p:sp>
      <p:sp>
        <p:nvSpPr>
          <p:cNvPr id="13" name="TextBox 13"/>
          <p:cNvSpPr txBox="1"/>
          <p:nvPr/>
        </p:nvSpPr>
        <p:spPr>
          <a:xfrm>
            <a:off x="4495800" y="1485900"/>
            <a:ext cx="3507105" cy="1224915"/>
          </a:xfrm>
          <a:prstGeom prst="rect">
            <a:avLst/>
          </a:prstGeom>
        </p:spPr>
        <p:txBody>
          <a:bodyPr wrap="square" lIns="0" tIns="0" rIns="0" bIns="0" rtlCol="0" anchor="t">
            <a:spAutoFit/>
          </a:bodyPr>
          <a:lstStyle/>
          <a:p>
            <a:pPr algn="l">
              <a:lnSpc>
                <a:spcPts val="9555"/>
              </a:lnSpc>
            </a:pPr>
            <a:r>
              <a:rPr lang="zh-CN" altLang="en-US" sz="6825">
                <a:solidFill>
                  <a:srgbClr val="373737"/>
                </a:solidFill>
                <a:latin typeface="思源宋体-超粗体" panose="02020900000000000000" charset="-122"/>
                <a:ea typeface="思源宋体-超粗体" panose="02020900000000000000" charset="-122"/>
                <a:cs typeface="思源宋体-超粗体" panose="02020900000000000000" charset="-122"/>
                <a:sym typeface="思源宋体-超粗体" panose="02020900000000000000" charset="-122"/>
              </a:rPr>
              <a:t>软件工程</a:t>
            </a:r>
            <a:endParaRPr lang="zh-CN" altLang="en-US" sz="6825">
              <a:solidFill>
                <a:srgbClr val="373737"/>
              </a:solidFill>
              <a:latin typeface="思源宋体-超粗体" panose="02020900000000000000" charset="-122"/>
              <a:ea typeface="思源宋体-超粗体" panose="02020900000000000000" charset="-122"/>
              <a:cs typeface="思源宋体-超粗体" panose="02020900000000000000" charset="-122"/>
              <a:sym typeface="思源宋体-超粗体" panose="02020900000000000000" charset="-122"/>
            </a:endParaRPr>
          </a:p>
        </p:txBody>
      </p:sp>
      <p:sp>
        <p:nvSpPr>
          <p:cNvPr id="14" name="TextBox 14"/>
          <p:cNvSpPr txBox="1"/>
          <p:nvPr/>
        </p:nvSpPr>
        <p:spPr>
          <a:xfrm>
            <a:off x="8229915" y="2019273"/>
            <a:ext cx="5985394" cy="534670"/>
          </a:xfrm>
          <a:prstGeom prst="rect">
            <a:avLst/>
          </a:prstGeom>
        </p:spPr>
        <p:txBody>
          <a:bodyPr lIns="0" tIns="0" rIns="0" bIns="0" rtlCol="0" anchor="t">
            <a:spAutoFit/>
          </a:bodyPr>
          <a:lstStyle/>
          <a:p>
            <a:pPr algn="just">
              <a:lnSpc>
                <a:spcPts val="4170"/>
              </a:lnSpc>
            </a:pPr>
            <a:r>
              <a:rPr lang="zh-CN" altLang="en-US" sz="2980" spc="447">
                <a:solidFill>
                  <a:srgbClr val="373737"/>
                </a:solidFill>
                <a:latin typeface="思源宋体-超粗体" panose="02020900000000000000" charset="-122"/>
                <a:ea typeface="思源宋体-超粗体" panose="02020900000000000000" charset="-122"/>
                <a:cs typeface="思源宋体-超粗体" panose="02020900000000000000" charset="-122"/>
                <a:sym typeface="思源宋体-超粗体" panose="02020900000000000000" charset="-122"/>
              </a:rPr>
              <a:t>论文答辩</a:t>
            </a:r>
            <a:endParaRPr lang="en-US" sz="2980" spc="447">
              <a:solidFill>
                <a:srgbClr val="373737"/>
              </a:solidFill>
              <a:latin typeface="思源宋体-超粗体" panose="02020900000000000000" charset="-122"/>
              <a:ea typeface="思源宋体-超粗体" panose="02020900000000000000" charset="-122"/>
              <a:cs typeface="思源宋体-超粗体" panose="02020900000000000000" charset="-122"/>
              <a:sym typeface="思源宋体-超粗体" panose="02020900000000000000" charset="-122"/>
            </a:endParaRPr>
          </a:p>
        </p:txBody>
      </p:sp>
      <p:grpSp>
        <p:nvGrpSpPr>
          <p:cNvPr id="16" name="Group 3"/>
          <p:cNvGrpSpPr/>
          <p:nvPr/>
        </p:nvGrpSpPr>
        <p:grpSpPr>
          <a:xfrm rot="0">
            <a:off x="2042160" y="2630805"/>
            <a:ext cx="9452610" cy="171450"/>
            <a:chOff x="0" y="0"/>
            <a:chExt cx="12603480" cy="228600"/>
          </a:xfrm>
        </p:grpSpPr>
        <p:sp>
          <p:nvSpPr>
            <p:cNvPr id="17" name="Freeform 4"/>
            <p:cNvSpPr/>
            <p:nvPr/>
          </p:nvSpPr>
          <p:spPr>
            <a:xfrm>
              <a:off x="121920" y="106680"/>
              <a:ext cx="12481560" cy="15240"/>
            </a:xfrm>
            <a:custGeom>
              <a:avLst/>
              <a:gdLst/>
              <a:ahLst/>
              <a:cxnLst/>
              <a:rect l="l" t="t" r="r" b="b"/>
              <a:pathLst>
                <a:path w="12481560" h="15240">
                  <a:moveTo>
                    <a:pt x="0" y="0"/>
                  </a:moveTo>
                  <a:lnTo>
                    <a:pt x="12481560" y="0"/>
                  </a:lnTo>
                  <a:lnTo>
                    <a:pt x="12481560" y="15240"/>
                  </a:lnTo>
                  <a:lnTo>
                    <a:pt x="0" y="15240"/>
                  </a:lnTo>
                  <a:lnTo>
                    <a:pt x="0" y="0"/>
                  </a:lnTo>
                  <a:close/>
                </a:path>
              </a:pathLst>
            </a:custGeom>
            <a:blipFill>
              <a:blip r:embed="rId4"/>
              <a:stretch>
                <a:fillRect/>
              </a:stretch>
            </a:blipFill>
          </p:spPr>
          <p:txBody>
            <a:bodyPr/>
            <a:p>
              <a:endParaRPr lang="zh-CN" altLang="en-US"/>
            </a:p>
          </p:txBody>
        </p:sp>
        <p:sp>
          <p:nvSpPr>
            <p:cNvPr id="18" name="Freeform 5"/>
            <p:cNvSpPr/>
            <p:nvPr/>
          </p:nvSpPr>
          <p:spPr>
            <a:xfrm>
              <a:off x="0" y="0"/>
              <a:ext cx="228600" cy="228600"/>
            </a:xfrm>
            <a:custGeom>
              <a:avLst/>
              <a:gdLst/>
              <a:ahLst/>
              <a:cxnLst/>
              <a:rect l="l" t="t" r="r" b="b"/>
              <a:pathLst>
                <a:path w="228600" h="228600">
                  <a:moveTo>
                    <a:pt x="0" y="0"/>
                  </a:moveTo>
                  <a:lnTo>
                    <a:pt x="228600" y="0"/>
                  </a:lnTo>
                  <a:lnTo>
                    <a:pt x="228600" y="228600"/>
                  </a:lnTo>
                  <a:lnTo>
                    <a:pt x="0" y="2286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grpSp>
        <p:nvGrpSpPr>
          <p:cNvPr id="19" name="Group 3"/>
          <p:cNvGrpSpPr/>
          <p:nvPr/>
        </p:nvGrpSpPr>
        <p:grpSpPr>
          <a:xfrm rot="0">
            <a:off x="2042160" y="6435090"/>
            <a:ext cx="9452610" cy="171450"/>
            <a:chOff x="0" y="0"/>
            <a:chExt cx="12603480" cy="228600"/>
          </a:xfrm>
        </p:grpSpPr>
        <p:sp>
          <p:nvSpPr>
            <p:cNvPr id="20" name="Freeform 4"/>
            <p:cNvSpPr/>
            <p:nvPr/>
          </p:nvSpPr>
          <p:spPr>
            <a:xfrm>
              <a:off x="121920" y="106680"/>
              <a:ext cx="12481560" cy="15240"/>
            </a:xfrm>
            <a:custGeom>
              <a:avLst/>
              <a:gdLst/>
              <a:ahLst/>
              <a:cxnLst/>
              <a:rect l="l" t="t" r="r" b="b"/>
              <a:pathLst>
                <a:path w="12481560" h="15240">
                  <a:moveTo>
                    <a:pt x="0" y="0"/>
                  </a:moveTo>
                  <a:lnTo>
                    <a:pt x="12481560" y="0"/>
                  </a:lnTo>
                  <a:lnTo>
                    <a:pt x="12481560" y="15240"/>
                  </a:lnTo>
                  <a:lnTo>
                    <a:pt x="0" y="15240"/>
                  </a:lnTo>
                  <a:lnTo>
                    <a:pt x="0" y="0"/>
                  </a:lnTo>
                  <a:close/>
                </a:path>
              </a:pathLst>
            </a:custGeom>
            <a:blipFill>
              <a:blip r:embed="rId4"/>
              <a:stretch>
                <a:fillRect/>
              </a:stretch>
            </a:blipFill>
          </p:spPr>
          <p:txBody>
            <a:bodyPr/>
            <a:p>
              <a:endParaRPr lang="zh-CN" altLang="en-US"/>
            </a:p>
          </p:txBody>
        </p:sp>
        <p:sp>
          <p:nvSpPr>
            <p:cNvPr id="21" name="Freeform 5"/>
            <p:cNvSpPr/>
            <p:nvPr/>
          </p:nvSpPr>
          <p:spPr>
            <a:xfrm>
              <a:off x="0" y="0"/>
              <a:ext cx="228600" cy="228600"/>
            </a:xfrm>
            <a:custGeom>
              <a:avLst/>
              <a:gdLst/>
              <a:ahLst/>
              <a:cxnLst/>
              <a:rect l="l" t="t" r="r" b="b"/>
              <a:pathLst>
                <a:path w="228600" h="228600">
                  <a:moveTo>
                    <a:pt x="0" y="0"/>
                  </a:moveTo>
                  <a:lnTo>
                    <a:pt x="228600" y="0"/>
                  </a:lnTo>
                  <a:lnTo>
                    <a:pt x="228600" y="228600"/>
                  </a:lnTo>
                  <a:lnTo>
                    <a:pt x="0" y="228600"/>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grpSp>
      <p:grpSp>
        <p:nvGrpSpPr>
          <p:cNvPr id="22" name="Group 7"/>
          <p:cNvGrpSpPr/>
          <p:nvPr/>
        </p:nvGrpSpPr>
        <p:grpSpPr>
          <a:xfrm rot="0">
            <a:off x="6460438" y="7157834"/>
            <a:ext cx="3315236" cy="641186"/>
            <a:chOff x="0" y="0"/>
            <a:chExt cx="1328788" cy="256995"/>
          </a:xfrm>
        </p:grpSpPr>
        <p:sp>
          <p:nvSpPr>
            <p:cNvPr id="23" name="Freeform 8"/>
            <p:cNvSpPr/>
            <p:nvPr/>
          </p:nvSpPr>
          <p:spPr>
            <a:xfrm>
              <a:off x="0" y="0"/>
              <a:ext cx="1328788" cy="256995"/>
            </a:xfrm>
            <a:custGeom>
              <a:avLst/>
              <a:gdLst/>
              <a:ahLst/>
              <a:cxnLst/>
              <a:rect l="l" t="t" r="r" b="b"/>
              <a:pathLst>
                <a:path w="1328788" h="256995">
                  <a:moveTo>
                    <a:pt x="91075" y="0"/>
                  </a:moveTo>
                  <a:lnTo>
                    <a:pt x="1237713" y="0"/>
                  </a:lnTo>
                  <a:cubicBezTo>
                    <a:pt x="1261868" y="0"/>
                    <a:pt x="1285033" y="9595"/>
                    <a:pt x="1302113" y="26675"/>
                  </a:cubicBezTo>
                  <a:cubicBezTo>
                    <a:pt x="1319193" y="43755"/>
                    <a:pt x="1328788" y="66920"/>
                    <a:pt x="1328788" y="91075"/>
                  </a:cubicBezTo>
                  <a:lnTo>
                    <a:pt x="1328788" y="165920"/>
                  </a:lnTo>
                  <a:cubicBezTo>
                    <a:pt x="1328788" y="216219"/>
                    <a:pt x="1288012" y="256995"/>
                    <a:pt x="1237713" y="256995"/>
                  </a:cubicBezTo>
                  <a:lnTo>
                    <a:pt x="91075" y="256995"/>
                  </a:lnTo>
                  <a:cubicBezTo>
                    <a:pt x="40776" y="256995"/>
                    <a:pt x="0" y="216219"/>
                    <a:pt x="0" y="165920"/>
                  </a:cubicBezTo>
                  <a:lnTo>
                    <a:pt x="0" y="91075"/>
                  </a:lnTo>
                  <a:cubicBezTo>
                    <a:pt x="0" y="40776"/>
                    <a:pt x="40776" y="0"/>
                    <a:pt x="91075" y="0"/>
                  </a:cubicBezTo>
                  <a:close/>
                </a:path>
              </a:pathLst>
            </a:custGeom>
            <a:solidFill>
              <a:srgbClr val="3B64C9"/>
            </a:solidFill>
          </p:spPr>
        </p:sp>
        <p:sp>
          <p:nvSpPr>
            <p:cNvPr id="24" name="TextBox 9"/>
            <p:cNvSpPr txBox="1"/>
            <p:nvPr/>
          </p:nvSpPr>
          <p:spPr>
            <a:xfrm>
              <a:off x="0" y="-47625"/>
              <a:ext cx="1328788" cy="304620"/>
            </a:xfrm>
            <a:prstGeom prst="rect">
              <a:avLst/>
            </a:prstGeom>
          </p:spPr>
          <p:txBody>
            <a:bodyPr lIns="33381" tIns="33381" rIns="33381" bIns="33381" rtlCol="0" anchor="ctr"/>
            <a:lstStyle/>
            <a:p>
              <a:pPr algn="ctr">
                <a:lnSpc>
                  <a:spcPts val="3660"/>
                </a:lnSpc>
              </a:pPr>
            </a:p>
          </p:txBody>
        </p:sp>
      </p:grpSp>
      <p:sp>
        <p:nvSpPr>
          <p:cNvPr id="25" name="TextBox 10"/>
          <p:cNvSpPr txBox="1"/>
          <p:nvPr/>
        </p:nvSpPr>
        <p:spPr>
          <a:xfrm>
            <a:off x="6548360" y="7218717"/>
            <a:ext cx="3139393" cy="506730"/>
          </a:xfrm>
          <a:prstGeom prst="rect">
            <a:avLst/>
          </a:prstGeom>
        </p:spPr>
        <p:txBody>
          <a:bodyPr lIns="0" tIns="0" rIns="0" bIns="0" rtlCol="0" anchor="t">
            <a:spAutoFit/>
          </a:bodyPr>
          <a:lstStyle/>
          <a:p>
            <a:pPr algn="ctr">
              <a:lnSpc>
                <a:spcPts val="3955"/>
              </a:lnSpc>
            </a:pPr>
            <a:r>
              <a:rPr lang="zh-CN" altLang="en-US" sz="2825" b="1">
                <a:solidFill>
                  <a:srgbClr val="FFFFFF"/>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rPr>
              <a:t>指导老师</a:t>
            </a:r>
            <a:r>
              <a:rPr lang="en-US" sz="2825" b="1">
                <a:solidFill>
                  <a:srgbClr val="FFFFFF"/>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rPr>
              <a:t>：</a:t>
            </a:r>
            <a:r>
              <a:rPr lang="zh-CN" altLang="en-US" sz="2825" b="1">
                <a:solidFill>
                  <a:srgbClr val="FFFFFF"/>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rPr>
              <a:t>严然辉</a:t>
            </a:r>
            <a:endParaRPr lang="zh-CN" altLang="en-US" sz="2825" b="1">
              <a:solidFill>
                <a:srgbClr val="FFFFFF"/>
              </a:solidFill>
              <a:latin typeface="思源宋体 Bold" panose="02020700000000000000" charset="-122"/>
              <a:ea typeface="思源宋体 Bold" panose="02020700000000000000" charset="-122"/>
              <a:cs typeface="思源宋体 Bold" panose="02020700000000000000" charset="-122"/>
              <a:sym typeface="思源宋体 Bold" panose="02020700000000000000"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a:off x="4000500" y="-4000500"/>
            <a:ext cx="10287000" cy="18288000"/>
          </a:xfrm>
          <a:custGeom>
            <a:avLst/>
            <a:gdLst/>
            <a:ahLst/>
            <a:cxnLst/>
            <a:rect l="l" t="t" r="r" b="b"/>
            <a:pathLst>
              <a:path w="10287000" h="18288000">
                <a:moveTo>
                  <a:pt x="10287000" y="18288000"/>
                </a:moveTo>
                <a:lnTo>
                  <a:pt x="10287000" y="0"/>
                </a:lnTo>
                <a:lnTo>
                  <a:pt x="0" y="0"/>
                </a:lnTo>
                <a:lnTo>
                  <a:pt x="0" y="18288000"/>
                </a:lnTo>
                <a:lnTo>
                  <a:pt x="10287000" y="18288000"/>
                </a:lnTo>
                <a:close/>
              </a:path>
            </a:pathLst>
          </a:custGeom>
          <a:blipFill>
            <a:blip r:embed="rId1"/>
            <a:stretch>
              <a:fillRect l="-56902" t="-4857" r="-151012" b="-10538"/>
            </a:stretch>
          </a:blipFill>
        </p:spPr>
      </p:sp>
      <p:sp>
        <p:nvSpPr>
          <p:cNvPr id="3" name="Freeform 3"/>
          <p:cNvSpPr/>
          <p:nvPr/>
        </p:nvSpPr>
        <p:spPr>
          <a:xfrm rot="-3192895" flipV="1">
            <a:off x="-7238984" y="-572700"/>
            <a:ext cx="13085169" cy="5743161"/>
          </a:xfrm>
          <a:custGeom>
            <a:avLst/>
            <a:gdLst/>
            <a:ahLst/>
            <a:cxnLst/>
            <a:rect l="l" t="t" r="r" b="b"/>
            <a:pathLst>
              <a:path w="13085169" h="5743161">
                <a:moveTo>
                  <a:pt x="0" y="5743161"/>
                </a:moveTo>
                <a:lnTo>
                  <a:pt x="13085169" y="5743161"/>
                </a:lnTo>
                <a:lnTo>
                  <a:pt x="13085169" y="0"/>
                </a:lnTo>
                <a:lnTo>
                  <a:pt x="0" y="0"/>
                </a:lnTo>
                <a:lnTo>
                  <a:pt x="0" y="5743161"/>
                </a:lnTo>
                <a:close/>
              </a:path>
            </a:pathLst>
          </a:custGeom>
          <a:blipFill>
            <a:blip r:embed="rId2">
              <a:alphaModFix amt="94000"/>
            </a:blip>
            <a:stretch>
              <a:fillRect l="-2095" r="-2095"/>
            </a:stretch>
          </a:blipFill>
        </p:spPr>
      </p:sp>
      <p:sp>
        <p:nvSpPr>
          <p:cNvPr id="4" name="TextBox 4"/>
          <p:cNvSpPr txBox="1"/>
          <p:nvPr/>
        </p:nvSpPr>
        <p:spPr>
          <a:xfrm>
            <a:off x="2587653" y="1358112"/>
            <a:ext cx="3523092" cy="5073500"/>
          </a:xfrm>
          <a:prstGeom prst="rect">
            <a:avLst/>
          </a:prstGeom>
        </p:spPr>
        <p:txBody>
          <a:bodyPr lIns="0" tIns="0" rIns="0" bIns="0" rtlCol="0" anchor="t">
            <a:spAutoFit/>
          </a:bodyPr>
          <a:lstStyle/>
          <a:p>
            <a:pPr algn="ctr">
              <a:lnSpc>
                <a:spcPts val="20380"/>
              </a:lnSpc>
            </a:pPr>
            <a:r>
              <a:rPr lang="en-US" sz="14560" spc="727">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目录</a:t>
            </a:r>
            <a:endParaRPr lang="en-US" sz="14560" spc="727">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5" name="TextBox 5"/>
          <p:cNvSpPr txBox="1"/>
          <p:nvPr/>
        </p:nvSpPr>
        <p:spPr>
          <a:xfrm rot="5400000">
            <a:off x="-2441547" y="4106890"/>
            <a:ext cx="10287000" cy="2073219"/>
          </a:xfrm>
          <a:prstGeom prst="rect">
            <a:avLst/>
          </a:prstGeom>
        </p:spPr>
        <p:txBody>
          <a:bodyPr lIns="0" tIns="0" rIns="0" bIns="0" rtlCol="0" anchor="t">
            <a:spAutoFit/>
          </a:bodyPr>
          <a:lstStyle/>
          <a:p>
            <a:pPr algn="ctr">
              <a:lnSpc>
                <a:spcPts val="16980"/>
              </a:lnSpc>
            </a:pPr>
            <a:r>
              <a:rPr lang="en-US" sz="12125" spc="1309">
                <a:solidFill>
                  <a:srgbClr val="3B64C9">
                    <a:alpha val="9804"/>
                  </a:srgbClr>
                </a:solidFill>
                <a:latin typeface="Abril Fatface" panose="02000503000000020003"/>
                <a:ea typeface="Abril Fatface" panose="02000503000000020003"/>
                <a:cs typeface="Abril Fatface" panose="02000503000000020003"/>
                <a:sym typeface="Abril Fatface" panose="02000503000000020003"/>
              </a:rPr>
              <a:t>CONTENTS</a:t>
            </a:r>
            <a:endParaRPr lang="en-US" sz="12125" spc="1309">
              <a:solidFill>
                <a:srgbClr val="3B64C9">
                  <a:alpha val="9804"/>
                </a:srgbClr>
              </a:solidFill>
              <a:latin typeface="Abril Fatface" panose="02000503000000020003"/>
              <a:ea typeface="Abril Fatface" panose="02000503000000020003"/>
              <a:cs typeface="Abril Fatface" panose="02000503000000020003"/>
              <a:sym typeface="Abril Fatface" panose="02000503000000020003"/>
            </a:endParaRPr>
          </a:p>
        </p:txBody>
      </p:sp>
      <p:sp>
        <p:nvSpPr>
          <p:cNvPr id="6" name="TextBox 6"/>
          <p:cNvSpPr txBox="1"/>
          <p:nvPr>
            <p:custDataLst>
              <p:tags r:id="rId3"/>
            </p:custDataLst>
          </p:nvPr>
        </p:nvSpPr>
        <p:spPr>
          <a:xfrm>
            <a:off x="8564654" y="1386639"/>
            <a:ext cx="1532400" cy="1136650"/>
          </a:xfrm>
          <a:prstGeom prst="rect">
            <a:avLst/>
          </a:prstGeom>
        </p:spPr>
        <p:txBody>
          <a:bodyPr lIns="0" tIns="0" rIns="0" bIns="0" rtlCol="0" anchor="t">
            <a:spAutoFit/>
          </a:bodyPr>
          <a:lstStyle/>
          <a:p>
            <a:pPr algn="ctr">
              <a:lnSpc>
                <a:spcPts val="8865"/>
              </a:lnSpc>
            </a:pPr>
            <a:r>
              <a:rPr lang="en-US" sz="6330" spc="316">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01.</a:t>
            </a:r>
            <a:endParaRPr lang="en-US" sz="6330" spc="316">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7" name="TextBox 7"/>
          <p:cNvSpPr txBox="1"/>
          <p:nvPr>
            <p:custDataLst>
              <p:tags r:id="rId4"/>
            </p:custDataLst>
          </p:nvPr>
        </p:nvSpPr>
        <p:spPr>
          <a:xfrm>
            <a:off x="10249607" y="1386639"/>
            <a:ext cx="3824614" cy="1136650"/>
          </a:xfrm>
          <a:prstGeom prst="rect">
            <a:avLst/>
          </a:prstGeom>
        </p:spPr>
        <p:txBody>
          <a:bodyPr lIns="0" tIns="0" rIns="0" bIns="0" rtlCol="0" anchor="t">
            <a:spAutoFit/>
          </a:bodyPr>
          <a:lstStyle/>
          <a:p>
            <a:pPr algn="l">
              <a:lnSpc>
                <a:spcPts val="8865"/>
              </a:lnSpc>
            </a:pPr>
            <a:r>
              <a:rPr lang="zh-CN" altLang="en-US" sz="6330" spc="1070">
                <a:solidFill>
                  <a:srgbClr val="373737"/>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课题背景</a:t>
            </a:r>
            <a:endParaRPr lang="zh-CN" altLang="en-US" sz="6330" spc="1070">
              <a:solidFill>
                <a:srgbClr val="373737"/>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9" name="TextBox 9"/>
          <p:cNvSpPr txBox="1"/>
          <p:nvPr>
            <p:custDataLst>
              <p:tags r:id="rId5"/>
            </p:custDataLst>
          </p:nvPr>
        </p:nvSpPr>
        <p:spPr>
          <a:xfrm>
            <a:off x="8564654" y="3294116"/>
            <a:ext cx="1532400" cy="1077188"/>
          </a:xfrm>
          <a:prstGeom prst="rect">
            <a:avLst/>
          </a:prstGeom>
        </p:spPr>
        <p:txBody>
          <a:bodyPr lIns="0" tIns="0" rIns="0" bIns="0" rtlCol="0" anchor="t">
            <a:spAutoFit/>
          </a:bodyPr>
          <a:lstStyle/>
          <a:p>
            <a:pPr algn="ctr">
              <a:lnSpc>
                <a:spcPts val="8865"/>
              </a:lnSpc>
            </a:pPr>
            <a:r>
              <a:rPr lang="en-US" sz="6330" spc="316">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02.</a:t>
            </a:r>
            <a:endParaRPr lang="en-US" sz="6330" spc="316">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10" name="TextBox 10"/>
          <p:cNvSpPr txBox="1"/>
          <p:nvPr>
            <p:custDataLst>
              <p:tags r:id="rId6"/>
            </p:custDataLst>
          </p:nvPr>
        </p:nvSpPr>
        <p:spPr>
          <a:xfrm>
            <a:off x="10249607" y="3294116"/>
            <a:ext cx="3824614" cy="1136650"/>
          </a:xfrm>
          <a:prstGeom prst="rect">
            <a:avLst/>
          </a:prstGeom>
        </p:spPr>
        <p:txBody>
          <a:bodyPr lIns="0" tIns="0" rIns="0" bIns="0" rtlCol="0" anchor="t">
            <a:spAutoFit/>
          </a:bodyPr>
          <a:lstStyle/>
          <a:p>
            <a:pPr algn="l">
              <a:lnSpc>
                <a:spcPts val="8865"/>
              </a:lnSpc>
            </a:pPr>
            <a:r>
              <a:rPr lang="zh-CN" altLang="en-US" sz="6330" spc="1070">
                <a:solidFill>
                  <a:srgbClr val="373737"/>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技术基础</a:t>
            </a:r>
            <a:endParaRPr lang="zh-CN" altLang="en-US" sz="6330" spc="1070">
              <a:solidFill>
                <a:srgbClr val="373737"/>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12" name="TextBox 12"/>
          <p:cNvSpPr txBox="1"/>
          <p:nvPr>
            <p:custDataLst>
              <p:tags r:id="rId7"/>
            </p:custDataLst>
          </p:nvPr>
        </p:nvSpPr>
        <p:spPr>
          <a:xfrm>
            <a:off x="8564654" y="5205412"/>
            <a:ext cx="1532400" cy="1077188"/>
          </a:xfrm>
          <a:prstGeom prst="rect">
            <a:avLst/>
          </a:prstGeom>
        </p:spPr>
        <p:txBody>
          <a:bodyPr lIns="0" tIns="0" rIns="0" bIns="0" rtlCol="0" anchor="t">
            <a:spAutoFit/>
          </a:bodyPr>
          <a:lstStyle/>
          <a:p>
            <a:pPr algn="ctr">
              <a:lnSpc>
                <a:spcPts val="8865"/>
              </a:lnSpc>
            </a:pPr>
            <a:r>
              <a:rPr lang="en-US" sz="6330" spc="316">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03.</a:t>
            </a:r>
            <a:endParaRPr lang="en-US" sz="6330" spc="316">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13" name="TextBox 13"/>
          <p:cNvSpPr txBox="1"/>
          <p:nvPr>
            <p:custDataLst>
              <p:tags r:id="rId8"/>
            </p:custDataLst>
          </p:nvPr>
        </p:nvSpPr>
        <p:spPr>
          <a:xfrm>
            <a:off x="10249607" y="5205412"/>
            <a:ext cx="3824614" cy="1136650"/>
          </a:xfrm>
          <a:prstGeom prst="rect">
            <a:avLst/>
          </a:prstGeom>
        </p:spPr>
        <p:txBody>
          <a:bodyPr lIns="0" tIns="0" rIns="0" bIns="0" rtlCol="0" anchor="t">
            <a:spAutoFit/>
          </a:bodyPr>
          <a:lstStyle/>
          <a:p>
            <a:pPr algn="l">
              <a:lnSpc>
                <a:spcPts val="8865"/>
              </a:lnSpc>
            </a:pPr>
            <a:r>
              <a:rPr lang="zh-CN" altLang="en-US" sz="6330" spc="1070">
                <a:solidFill>
                  <a:srgbClr val="373737"/>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系统设计</a:t>
            </a:r>
            <a:endParaRPr lang="zh-CN" altLang="en-US" sz="6330" spc="1070">
              <a:solidFill>
                <a:srgbClr val="373737"/>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18" name="Freeform 18"/>
          <p:cNvSpPr/>
          <p:nvPr/>
        </p:nvSpPr>
        <p:spPr>
          <a:xfrm rot="-3296053" flipV="1">
            <a:off x="10106356" y="7541666"/>
            <a:ext cx="13085169" cy="5743161"/>
          </a:xfrm>
          <a:custGeom>
            <a:avLst/>
            <a:gdLst/>
            <a:ahLst/>
            <a:cxnLst/>
            <a:rect l="l" t="t" r="r" b="b"/>
            <a:pathLst>
              <a:path w="13085169" h="5743161">
                <a:moveTo>
                  <a:pt x="0" y="5743161"/>
                </a:moveTo>
                <a:lnTo>
                  <a:pt x="13085170" y="5743161"/>
                </a:lnTo>
                <a:lnTo>
                  <a:pt x="13085170" y="0"/>
                </a:lnTo>
                <a:lnTo>
                  <a:pt x="0" y="0"/>
                </a:lnTo>
                <a:lnTo>
                  <a:pt x="0" y="5743161"/>
                </a:lnTo>
                <a:close/>
              </a:path>
            </a:pathLst>
          </a:custGeom>
          <a:blipFill>
            <a:blip r:embed="rId2">
              <a:alphaModFix amt="94000"/>
            </a:blip>
            <a:stretch>
              <a:fillRect l="-2095" r="-2095"/>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l="-13372" t="-8763" r="-16502" b="-45065"/>
            </a:stretch>
          </a:blipFill>
        </p:spPr>
      </p:sp>
      <p:sp>
        <p:nvSpPr>
          <p:cNvPr id="3" name="Freeform 3"/>
          <p:cNvSpPr/>
          <p:nvPr/>
        </p:nvSpPr>
        <p:spPr>
          <a:xfrm rot="1295584" flipV="1">
            <a:off x="9951402" y="-2805887"/>
            <a:ext cx="13085169" cy="5743161"/>
          </a:xfrm>
          <a:custGeom>
            <a:avLst/>
            <a:gdLst/>
            <a:ahLst/>
            <a:cxnLst/>
            <a:rect l="l" t="t" r="r" b="b"/>
            <a:pathLst>
              <a:path w="13085169" h="5743161">
                <a:moveTo>
                  <a:pt x="0" y="5743161"/>
                </a:moveTo>
                <a:lnTo>
                  <a:pt x="13085169" y="5743161"/>
                </a:lnTo>
                <a:lnTo>
                  <a:pt x="13085169" y="0"/>
                </a:lnTo>
                <a:lnTo>
                  <a:pt x="0" y="0"/>
                </a:lnTo>
                <a:lnTo>
                  <a:pt x="0" y="5743161"/>
                </a:lnTo>
                <a:close/>
              </a:path>
            </a:pathLst>
          </a:custGeom>
          <a:blipFill>
            <a:blip r:embed="rId2">
              <a:alphaModFix amt="94000"/>
            </a:blip>
            <a:stretch>
              <a:fillRect l="-2095" r="-2095"/>
            </a:stretch>
          </a:blipFill>
        </p:spPr>
      </p:sp>
      <p:sp>
        <p:nvSpPr>
          <p:cNvPr id="4" name="Freeform 4"/>
          <p:cNvSpPr/>
          <p:nvPr/>
        </p:nvSpPr>
        <p:spPr>
          <a:xfrm rot="1295584" flipV="1">
            <a:off x="-5707593" y="7349726"/>
            <a:ext cx="13085169" cy="5743161"/>
          </a:xfrm>
          <a:custGeom>
            <a:avLst/>
            <a:gdLst/>
            <a:ahLst/>
            <a:cxnLst/>
            <a:rect l="l" t="t" r="r" b="b"/>
            <a:pathLst>
              <a:path w="13085169" h="5743161">
                <a:moveTo>
                  <a:pt x="0" y="5743161"/>
                </a:moveTo>
                <a:lnTo>
                  <a:pt x="13085169" y="5743161"/>
                </a:lnTo>
                <a:lnTo>
                  <a:pt x="13085169" y="0"/>
                </a:lnTo>
                <a:lnTo>
                  <a:pt x="0" y="0"/>
                </a:lnTo>
                <a:lnTo>
                  <a:pt x="0" y="5743161"/>
                </a:lnTo>
                <a:close/>
              </a:path>
            </a:pathLst>
          </a:custGeom>
          <a:blipFill>
            <a:blip r:embed="rId2">
              <a:alphaModFix amt="94000"/>
            </a:blip>
            <a:stretch>
              <a:fillRect l="-2095" r="-2095"/>
            </a:stretch>
          </a:blipFill>
        </p:spPr>
      </p:sp>
      <p:sp>
        <p:nvSpPr>
          <p:cNvPr id="5" name="TextBox 5"/>
          <p:cNvSpPr txBox="1"/>
          <p:nvPr/>
        </p:nvSpPr>
        <p:spPr>
          <a:xfrm>
            <a:off x="3453957" y="3005520"/>
            <a:ext cx="11380086" cy="2402205"/>
          </a:xfrm>
          <a:prstGeom prst="rect">
            <a:avLst/>
          </a:prstGeom>
        </p:spPr>
        <p:txBody>
          <a:bodyPr lIns="0" tIns="0" rIns="0" bIns="0" rtlCol="0" anchor="t">
            <a:spAutoFit/>
          </a:bodyPr>
          <a:lstStyle/>
          <a:p>
            <a:pPr algn="ctr">
              <a:lnSpc>
                <a:spcPts val="18735"/>
              </a:lnSpc>
            </a:pPr>
            <a:r>
              <a:rPr lang="zh-CN" altLang="en-US" sz="13385" spc="66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课题背景</a:t>
            </a:r>
            <a:endParaRPr lang="zh-CN" altLang="en-US" sz="13385" spc="66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grpSp>
        <p:nvGrpSpPr>
          <p:cNvPr id="8" name="Group 8"/>
          <p:cNvGrpSpPr/>
          <p:nvPr/>
        </p:nvGrpSpPr>
        <p:grpSpPr>
          <a:xfrm rot="0">
            <a:off x="7486382" y="7347201"/>
            <a:ext cx="3315236" cy="641186"/>
            <a:chOff x="0" y="0"/>
            <a:chExt cx="1328788" cy="256995"/>
          </a:xfrm>
        </p:grpSpPr>
        <p:sp>
          <p:nvSpPr>
            <p:cNvPr id="9" name="Freeform 9"/>
            <p:cNvSpPr/>
            <p:nvPr/>
          </p:nvSpPr>
          <p:spPr>
            <a:xfrm>
              <a:off x="0" y="0"/>
              <a:ext cx="1328788" cy="256995"/>
            </a:xfrm>
            <a:custGeom>
              <a:avLst/>
              <a:gdLst/>
              <a:ahLst/>
              <a:cxnLst/>
              <a:rect l="l" t="t" r="r" b="b"/>
              <a:pathLst>
                <a:path w="1328788" h="256995">
                  <a:moveTo>
                    <a:pt x="91075" y="0"/>
                  </a:moveTo>
                  <a:lnTo>
                    <a:pt x="1237713" y="0"/>
                  </a:lnTo>
                  <a:cubicBezTo>
                    <a:pt x="1261868" y="0"/>
                    <a:pt x="1285033" y="9595"/>
                    <a:pt x="1302113" y="26675"/>
                  </a:cubicBezTo>
                  <a:cubicBezTo>
                    <a:pt x="1319193" y="43755"/>
                    <a:pt x="1328788" y="66920"/>
                    <a:pt x="1328788" y="91075"/>
                  </a:cubicBezTo>
                  <a:lnTo>
                    <a:pt x="1328788" y="165920"/>
                  </a:lnTo>
                  <a:cubicBezTo>
                    <a:pt x="1328788" y="216219"/>
                    <a:pt x="1288012" y="256995"/>
                    <a:pt x="1237713" y="256995"/>
                  </a:cubicBezTo>
                  <a:lnTo>
                    <a:pt x="91075" y="256995"/>
                  </a:lnTo>
                  <a:cubicBezTo>
                    <a:pt x="40776" y="256995"/>
                    <a:pt x="0" y="216219"/>
                    <a:pt x="0" y="165920"/>
                  </a:cubicBezTo>
                  <a:lnTo>
                    <a:pt x="0" y="91075"/>
                  </a:lnTo>
                  <a:cubicBezTo>
                    <a:pt x="0" y="40776"/>
                    <a:pt x="40776" y="0"/>
                    <a:pt x="91075" y="0"/>
                  </a:cubicBezTo>
                  <a:close/>
                </a:path>
              </a:pathLst>
            </a:custGeom>
            <a:solidFill>
              <a:srgbClr val="3B64C9"/>
            </a:solidFill>
          </p:spPr>
        </p:sp>
        <p:sp>
          <p:nvSpPr>
            <p:cNvPr id="10" name="TextBox 10"/>
            <p:cNvSpPr txBox="1"/>
            <p:nvPr/>
          </p:nvSpPr>
          <p:spPr>
            <a:xfrm>
              <a:off x="0" y="-47625"/>
              <a:ext cx="1328788" cy="304620"/>
            </a:xfrm>
            <a:prstGeom prst="rect">
              <a:avLst/>
            </a:prstGeom>
          </p:spPr>
          <p:txBody>
            <a:bodyPr lIns="33381" tIns="33381" rIns="33381" bIns="33381" rtlCol="0" anchor="ctr"/>
            <a:lstStyle/>
            <a:p>
              <a:pPr algn="ctr">
                <a:lnSpc>
                  <a:spcPts val="3660"/>
                </a:lnSpc>
              </a:pPr>
            </a:p>
          </p:txBody>
        </p:sp>
      </p:grpSp>
      <p:sp>
        <p:nvSpPr>
          <p:cNvPr id="11" name="TextBox 11"/>
          <p:cNvSpPr txBox="1"/>
          <p:nvPr/>
        </p:nvSpPr>
        <p:spPr>
          <a:xfrm>
            <a:off x="7486382" y="7386686"/>
            <a:ext cx="3315236" cy="505064"/>
          </a:xfrm>
          <a:prstGeom prst="rect">
            <a:avLst/>
          </a:prstGeom>
        </p:spPr>
        <p:txBody>
          <a:bodyPr lIns="0" tIns="0" rIns="0" bIns="0" rtlCol="0" anchor="t">
            <a:spAutoFit/>
          </a:bodyPr>
          <a:lstStyle/>
          <a:p>
            <a:pPr marL="0" lvl="0" indent="0" algn="ctr">
              <a:lnSpc>
                <a:spcPts val="4185"/>
              </a:lnSpc>
              <a:spcBef>
                <a:spcPct val="0"/>
              </a:spcBef>
            </a:pPr>
            <a:r>
              <a:rPr lang="en-US" sz="2990" spc="149">
                <a:solidFill>
                  <a:srgbClr val="FFFFFF"/>
                </a:solidFill>
                <a:latin typeface="思源宋体-超粗体" panose="02020900000000000000" charset="-122"/>
                <a:ea typeface="思源宋体-超粗体" panose="02020900000000000000" charset="-122"/>
                <a:cs typeface="思源宋体-超粗体" panose="02020900000000000000" charset="-122"/>
                <a:sym typeface="思源宋体-超粗体" panose="02020900000000000000" charset="-122"/>
              </a:rPr>
              <a:t>PART ONE</a:t>
            </a:r>
            <a:endParaRPr lang="en-US" sz="2990" spc="149">
              <a:solidFill>
                <a:srgbClr val="FFFFFF"/>
              </a:solidFill>
              <a:latin typeface="思源宋体-超粗体" panose="02020900000000000000" charset="-122"/>
              <a:ea typeface="思源宋体-超粗体" panose="02020900000000000000" charset="-122"/>
              <a:cs typeface="思源宋体-超粗体" panose="02020900000000000000" charset="-122"/>
              <a:sym typeface="思源宋体-超粗体" panose="02020900000000000000"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5" name="Freeform 5"/>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6" name="Freeform 6"/>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sp>
        <p:nvSpPr>
          <p:cNvPr id="7" name="TextBox 7"/>
          <p:cNvSpPr txBox="1"/>
          <p:nvPr/>
        </p:nvSpPr>
        <p:spPr>
          <a:xfrm>
            <a:off x="1028700" y="457200"/>
            <a:ext cx="4776601" cy="1076960"/>
          </a:xfrm>
          <a:prstGeom prst="rect">
            <a:avLst/>
          </a:prstGeom>
        </p:spPr>
        <p:txBody>
          <a:bodyPr lIns="0" tIns="0" rIns="0" bIns="0" rtlCol="0" anchor="t">
            <a:spAutoFit/>
          </a:bodyPr>
          <a:lstStyle/>
          <a:p>
            <a:pPr algn="l">
              <a:lnSpc>
                <a:spcPts val="8400"/>
              </a:lnSpc>
            </a:pPr>
            <a:r>
              <a:rPr 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01.</a:t>
            </a:r>
            <a:r>
              <a:rPr lang="zh-CN" alt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课题背景</a:t>
            </a:r>
            <a:endParaRPr lang="zh-CN" alt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8" name="TextBox 8"/>
          <p:cNvSpPr txBox="1"/>
          <p:nvPr/>
        </p:nvSpPr>
        <p:spPr>
          <a:xfrm>
            <a:off x="13753946" y="872490"/>
            <a:ext cx="3505354" cy="613410"/>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ONE</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grpSp>
        <p:nvGrpSpPr>
          <p:cNvPr id="15" name="Group 3"/>
          <p:cNvGrpSpPr/>
          <p:nvPr/>
        </p:nvGrpSpPr>
        <p:grpSpPr>
          <a:xfrm rot="0">
            <a:off x="1350043" y="2213311"/>
            <a:ext cx="15509207" cy="6244889"/>
            <a:chOff x="0" y="0"/>
            <a:chExt cx="4084729" cy="1644744"/>
          </a:xfrm>
          <a:effectLst>
            <a:outerShdw blurRad="50800" dist="38100" dir="18900000" algn="bl" rotWithShape="0">
              <a:prstClr val="black">
                <a:alpha val="40000"/>
              </a:prstClr>
            </a:outerShdw>
          </a:effectLst>
        </p:grpSpPr>
        <p:sp>
          <p:nvSpPr>
            <p:cNvPr id="16" name="Freeform 4"/>
            <p:cNvSpPr/>
            <p:nvPr/>
          </p:nvSpPr>
          <p:spPr>
            <a:xfrm>
              <a:off x="0" y="0"/>
              <a:ext cx="4084729" cy="1644744"/>
            </a:xfrm>
            <a:custGeom>
              <a:avLst/>
              <a:gdLst/>
              <a:ahLst/>
              <a:cxnLst/>
              <a:rect l="l" t="t" r="r" b="b"/>
              <a:pathLst>
                <a:path w="4084729" h="1644744">
                  <a:moveTo>
                    <a:pt x="13478" y="0"/>
                  </a:moveTo>
                  <a:lnTo>
                    <a:pt x="4071251" y="0"/>
                  </a:lnTo>
                  <a:cubicBezTo>
                    <a:pt x="4074826" y="0"/>
                    <a:pt x="4078254" y="1420"/>
                    <a:pt x="4080782" y="3948"/>
                  </a:cubicBezTo>
                  <a:cubicBezTo>
                    <a:pt x="4083309" y="6475"/>
                    <a:pt x="4084729" y="9903"/>
                    <a:pt x="4084729" y="13478"/>
                  </a:cubicBezTo>
                  <a:lnTo>
                    <a:pt x="4084729" y="1631267"/>
                  </a:lnTo>
                  <a:cubicBezTo>
                    <a:pt x="4084729" y="1638710"/>
                    <a:pt x="4078695" y="1644744"/>
                    <a:pt x="4071251" y="1644744"/>
                  </a:cubicBezTo>
                  <a:lnTo>
                    <a:pt x="13478" y="1644744"/>
                  </a:lnTo>
                  <a:cubicBezTo>
                    <a:pt x="6034" y="1644744"/>
                    <a:pt x="0" y="1638710"/>
                    <a:pt x="0" y="1631267"/>
                  </a:cubicBezTo>
                  <a:lnTo>
                    <a:pt x="0" y="13478"/>
                  </a:lnTo>
                  <a:cubicBezTo>
                    <a:pt x="0" y="6034"/>
                    <a:pt x="6034" y="0"/>
                    <a:pt x="13478" y="0"/>
                  </a:cubicBezTo>
                  <a:close/>
                </a:path>
              </a:pathLst>
            </a:custGeom>
            <a:solidFill>
              <a:srgbClr val="FFFFFF"/>
            </a:solidFill>
          </p:spPr>
        </p:sp>
        <p:sp>
          <p:nvSpPr>
            <p:cNvPr id="17" name="TextBox 5"/>
            <p:cNvSpPr txBox="1"/>
            <p:nvPr/>
          </p:nvSpPr>
          <p:spPr>
            <a:xfrm>
              <a:off x="0" y="-28575"/>
              <a:ext cx="4084729" cy="1673319"/>
            </a:xfrm>
            <a:prstGeom prst="rect">
              <a:avLst/>
            </a:prstGeom>
          </p:spPr>
          <p:txBody>
            <a:bodyPr lIns="50800" tIns="50800" rIns="50800" bIns="50800" rtlCol="0" anchor="ctr"/>
            <a:lstStyle/>
            <a:p>
              <a:pPr algn="ctr">
                <a:lnSpc>
                  <a:spcPts val="1740"/>
                </a:lnSpc>
              </a:pPr>
            </a:p>
          </p:txBody>
        </p:sp>
      </p:grpSp>
      <p:grpSp>
        <p:nvGrpSpPr>
          <p:cNvPr id="20" name="Group 8"/>
          <p:cNvGrpSpPr/>
          <p:nvPr/>
        </p:nvGrpSpPr>
        <p:grpSpPr>
          <a:xfrm rot="0">
            <a:off x="4754880" y="7303770"/>
            <a:ext cx="10824210" cy="1794510"/>
            <a:chOff x="0" y="0"/>
            <a:chExt cx="2850821" cy="472628"/>
          </a:xfrm>
        </p:grpSpPr>
        <p:sp>
          <p:nvSpPr>
            <p:cNvPr id="21" name="Freeform 9"/>
            <p:cNvSpPr/>
            <p:nvPr/>
          </p:nvSpPr>
          <p:spPr>
            <a:xfrm>
              <a:off x="0" y="0"/>
              <a:ext cx="2850821" cy="472628"/>
            </a:xfrm>
            <a:custGeom>
              <a:avLst/>
              <a:gdLst/>
              <a:ahLst/>
              <a:cxnLst/>
              <a:rect l="l" t="t" r="r" b="b"/>
              <a:pathLst>
                <a:path w="2850821" h="472628">
                  <a:moveTo>
                    <a:pt x="19312" y="0"/>
                  </a:moveTo>
                  <a:lnTo>
                    <a:pt x="2831509" y="0"/>
                  </a:lnTo>
                  <a:cubicBezTo>
                    <a:pt x="2836631" y="0"/>
                    <a:pt x="2841543" y="2035"/>
                    <a:pt x="2845165" y="5656"/>
                  </a:cubicBezTo>
                  <a:cubicBezTo>
                    <a:pt x="2848786" y="9278"/>
                    <a:pt x="2850821" y="14190"/>
                    <a:pt x="2850821" y="19312"/>
                  </a:cubicBezTo>
                  <a:lnTo>
                    <a:pt x="2850821" y="453317"/>
                  </a:lnTo>
                  <a:cubicBezTo>
                    <a:pt x="2850821" y="463982"/>
                    <a:pt x="2842175" y="472628"/>
                    <a:pt x="2831509" y="472628"/>
                  </a:cubicBezTo>
                  <a:lnTo>
                    <a:pt x="19312" y="472628"/>
                  </a:lnTo>
                  <a:cubicBezTo>
                    <a:pt x="14190" y="472628"/>
                    <a:pt x="9278" y="470594"/>
                    <a:pt x="5656" y="466972"/>
                  </a:cubicBezTo>
                  <a:cubicBezTo>
                    <a:pt x="2035" y="463350"/>
                    <a:pt x="0" y="458438"/>
                    <a:pt x="0" y="453317"/>
                  </a:cubicBezTo>
                  <a:lnTo>
                    <a:pt x="0" y="19312"/>
                  </a:lnTo>
                  <a:cubicBezTo>
                    <a:pt x="0" y="14190"/>
                    <a:pt x="2035" y="9278"/>
                    <a:pt x="5656" y="5656"/>
                  </a:cubicBezTo>
                  <a:cubicBezTo>
                    <a:pt x="9278" y="2035"/>
                    <a:pt x="14190" y="0"/>
                    <a:pt x="19312" y="0"/>
                  </a:cubicBezTo>
                  <a:close/>
                </a:path>
              </a:pathLst>
            </a:custGeom>
            <a:solidFill>
              <a:srgbClr val="F0F0F0"/>
            </a:solidFill>
          </p:spPr>
        </p:sp>
        <p:sp>
          <p:nvSpPr>
            <p:cNvPr id="22" name="TextBox 10"/>
            <p:cNvSpPr txBox="1"/>
            <p:nvPr/>
          </p:nvSpPr>
          <p:spPr>
            <a:xfrm>
              <a:off x="0" y="-28575"/>
              <a:ext cx="2850821" cy="501203"/>
            </a:xfrm>
            <a:prstGeom prst="rect">
              <a:avLst/>
            </a:prstGeom>
          </p:spPr>
          <p:txBody>
            <a:bodyPr lIns="50800" tIns="50800" rIns="50800" bIns="50800" rtlCol="0" anchor="ctr"/>
            <a:lstStyle/>
            <a:p>
              <a:pPr algn="ctr">
                <a:lnSpc>
                  <a:spcPts val="1740"/>
                </a:lnSpc>
              </a:pPr>
            </a:p>
          </p:txBody>
        </p:sp>
      </p:grpSp>
      <p:sp>
        <p:nvSpPr>
          <p:cNvPr id="27" name="TextBox 16"/>
          <p:cNvSpPr txBox="1"/>
          <p:nvPr/>
        </p:nvSpPr>
        <p:spPr>
          <a:xfrm>
            <a:off x="7924800" y="3075305"/>
            <a:ext cx="8615045" cy="1410335"/>
          </a:xfrm>
          <a:prstGeom prst="rect">
            <a:avLst/>
          </a:prstGeom>
        </p:spPr>
        <p:txBody>
          <a:bodyPr lIns="0" tIns="0" rIns="0" bIns="0" rtlCol="0" anchor="t">
            <a:noAutofit/>
          </a:bodyPr>
          <a:lstStyle/>
          <a:p>
            <a:pPr algn="just">
              <a:lnSpc>
                <a:spcPct val="100000"/>
              </a:lnSpc>
            </a:pPr>
            <a:r>
              <a:rPr lang="en-US" altLang="zh-CN" sz="3600" b="1">
                <a:solidFill>
                  <a:srgbClr val="202020"/>
                </a:solidFill>
                <a:latin typeface="微软雅黑" panose="020B0503020204020204" charset="-122"/>
                <a:ea typeface="微软雅黑" panose="020B0503020204020204" charset="-122"/>
                <a:cs typeface="微软雅黑" panose="020B0503020204020204" charset="-122"/>
                <a:sym typeface="阿里巴巴普惠体" panose="00020600040101010101" charset="-122"/>
              </a:rPr>
              <a:t> </a:t>
            </a:r>
            <a:r>
              <a:rPr lang="zh-CN" altLang="en-US" sz="3600" b="1">
                <a:solidFill>
                  <a:srgbClr val="202020"/>
                </a:solidFill>
                <a:latin typeface="微软雅黑" panose="020B0503020204020204" charset="-122"/>
                <a:ea typeface="微软雅黑" panose="020B0503020204020204" charset="-122"/>
                <a:cs typeface="微软雅黑" panose="020B0503020204020204" charset="-122"/>
                <a:sym typeface="阿里巴巴普惠体" panose="00020600040101010101" charset="-122"/>
              </a:rPr>
              <a:t>在海量表单数据爆发的当下，非专业用户面临着极其尴尬的工具断层。</a:t>
            </a:r>
            <a:endParaRPr lang="zh-CN" altLang="en-US" sz="3600" b="1">
              <a:solidFill>
                <a:srgbClr val="202020"/>
              </a:solidFill>
              <a:latin typeface="微软雅黑" panose="020B0503020204020204" charset="-122"/>
              <a:ea typeface="微软雅黑" panose="020B0503020204020204" charset="-122"/>
              <a:cs typeface="微软雅黑" panose="020B0503020204020204" charset="-122"/>
              <a:sym typeface="阿里巴巴普惠体" panose="00020600040101010101" charset="-122"/>
            </a:endParaRPr>
          </a:p>
        </p:txBody>
      </p:sp>
      <p:sp>
        <p:nvSpPr>
          <p:cNvPr id="30" name="TextBox 20"/>
          <p:cNvSpPr txBox="1"/>
          <p:nvPr/>
        </p:nvSpPr>
        <p:spPr>
          <a:xfrm>
            <a:off x="6858000" y="7505832"/>
            <a:ext cx="8229806" cy="1477010"/>
          </a:xfrm>
          <a:prstGeom prst="rect">
            <a:avLst/>
          </a:prstGeom>
        </p:spPr>
        <p:txBody>
          <a:bodyPr lIns="0" tIns="0" rIns="0" bIns="0" rtlCol="0" anchor="t">
            <a:spAutoFit/>
          </a:bodyPr>
          <a:lstStyle/>
          <a:p>
            <a:pPr algn="just">
              <a:lnSpc>
                <a:spcPct val="100000"/>
              </a:lnSpc>
            </a:pPr>
            <a:r>
              <a:rPr lang="zh-CN" altLang="en-US" sz="3200" b="1">
                <a:solidFill>
                  <a:srgbClr val="202020"/>
                </a:solidFill>
                <a:latin typeface="微软雅黑" panose="020B0503020204020204" charset="-122"/>
                <a:ea typeface="微软雅黑" panose="020B0503020204020204" charset="-122"/>
                <a:cs typeface="黑体" panose="02010609060101010101" charset="-122"/>
                <a:sym typeface="阿里巴巴普惠体" panose="00020600040101010101" charset="-122"/>
              </a:rPr>
              <a:t>因此本系统旨在开发一款</a:t>
            </a:r>
            <a:r>
              <a:rPr lang="zh-CN" altLang="en-US" sz="3200" b="1" u="sng">
                <a:solidFill>
                  <a:srgbClr val="202020"/>
                </a:solidFill>
                <a:latin typeface="微软雅黑" panose="020B0503020204020204" charset="-122"/>
                <a:ea typeface="微软雅黑" panose="020B0503020204020204" charset="-122"/>
                <a:cs typeface="黑体" panose="02010609060101010101" charset="-122"/>
                <a:sym typeface="阿里巴巴普惠体" panose="00020600040101010101" charset="-122"/>
              </a:rPr>
              <a:t>低门槛</a:t>
            </a:r>
            <a:r>
              <a:rPr lang="zh-CN" altLang="en-US" sz="3200" b="1">
                <a:solidFill>
                  <a:srgbClr val="202020"/>
                </a:solidFill>
                <a:latin typeface="微软雅黑" panose="020B0503020204020204" charset="-122"/>
                <a:ea typeface="微软雅黑" panose="020B0503020204020204" charset="-122"/>
                <a:cs typeface="黑体" panose="02010609060101010101" charset="-122"/>
                <a:sym typeface="阿里巴巴普惠体" panose="00020600040101010101" charset="-122"/>
              </a:rPr>
              <a:t>，</a:t>
            </a:r>
            <a:r>
              <a:rPr lang="zh-CN" altLang="en-US" sz="3200" b="1" u="sng">
                <a:solidFill>
                  <a:srgbClr val="202020"/>
                </a:solidFill>
                <a:latin typeface="微软雅黑" panose="020B0503020204020204" charset="-122"/>
                <a:ea typeface="微软雅黑" panose="020B0503020204020204" charset="-122"/>
                <a:cs typeface="黑体" panose="02010609060101010101" charset="-122"/>
                <a:sym typeface="阿里巴巴普惠体" panose="00020600040101010101" charset="-122"/>
              </a:rPr>
              <a:t>拥有完整功能</a:t>
            </a:r>
            <a:r>
              <a:rPr lang="zh-CN" altLang="en-US" sz="3200" b="1">
                <a:solidFill>
                  <a:srgbClr val="202020"/>
                </a:solidFill>
                <a:latin typeface="微软雅黑" panose="020B0503020204020204" charset="-122"/>
                <a:ea typeface="微软雅黑" panose="020B0503020204020204" charset="-122"/>
                <a:cs typeface="黑体" panose="02010609060101010101" charset="-122"/>
                <a:sym typeface="阿里巴巴普惠体" panose="00020600040101010101" charset="-122"/>
              </a:rPr>
              <a:t>，能够满足大多数用户的数据分析需求的</a:t>
            </a:r>
            <a:r>
              <a:rPr lang="zh-CN" altLang="en-US" sz="3200" b="1" u="sng">
                <a:solidFill>
                  <a:srgbClr val="202020"/>
                </a:solidFill>
                <a:latin typeface="微软雅黑" panose="020B0503020204020204" charset="-122"/>
                <a:ea typeface="微软雅黑" panose="020B0503020204020204" charset="-122"/>
                <a:cs typeface="黑体" panose="02010609060101010101" charset="-122"/>
                <a:sym typeface="阿里巴巴普惠体" panose="00020600040101010101" charset="-122"/>
              </a:rPr>
              <a:t>数据分析平台</a:t>
            </a:r>
            <a:endParaRPr lang="zh-CN" altLang="en-US" sz="3200" b="1" u="sng">
              <a:solidFill>
                <a:srgbClr val="202020"/>
              </a:solidFill>
              <a:latin typeface="微软雅黑" panose="020B0503020204020204" charset="-122"/>
              <a:ea typeface="微软雅黑" panose="020B0503020204020204" charset="-122"/>
              <a:cs typeface="黑体" panose="02010609060101010101" charset="-122"/>
              <a:sym typeface="阿里巴巴普惠体" panose="00020600040101010101" charset="-122"/>
            </a:endParaRPr>
          </a:p>
        </p:txBody>
      </p:sp>
      <p:sp>
        <p:nvSpPr>
          <p:cNvPr id="33" name="Freeform 5"/>
          <p:cNvSpPr/>
          <p:nvPr/>
        </p:nvSpPr>
        <p:spPr>
          <a:xfrm>
            <a:off x="1752600" y="2400300"/>
            <a:ext cx="5824220" cy="5314950"/>
          </a:xfrm>
          <a:custGeom>
            <a:avLst/>
            <a:gdLst/>
            <a:ahLst/>
            <a:cxnLst/>
            <a:rect l="l" t="t" r="r" b="b"/>
            <a:pathLst>
              <a:path w="7557316" h="6880281">
                <a:moveTo>
                  <a:pt x="0" y="0"/>
                </a:moveTo>
                <a:lnTo>
                  <a:pt x="7557316" y="0"/>
                </a:lnTo>
                <a:lnTo>
                  <a:pt x="7557316" y="6880281"/>
                </a:lnTo>
                <a:lnTo>
                  <a:pt x="0" y="6880281"/>
                </a:lnTo>
                <a:lnTo>
                  <a:pt x="0" y="0"/>
                </a:lnTo>
                <a:close/>
              </a:path>
            </a:pathLst>
          </a:custGeom>
          <a:blipFill>
            <a:blip r:embed="rId4"/>
            <a:stretch>
              <a:fillRect r="-10186"/>
            </a:stretch>
          </a:blipFill>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1200"/>
          </a:p>
        </p:txBody>
      </p:sp>
      <p:grpSp>
        <p:nvGrpSpPr>
          <p:cNvPr id="23" name="Group 11"/>
          <p:cNvGrpSpPr/>
          <p:nvPr/>
        </p:nvGrpSpPr>
        <p:grpSpPr>
          <a:xfrm rot="0">
            <a:off x="4599305" y="7194550"/>
            <a:ext cx="2106930" cy="1996440"/>
            <a:chOff x="0" y="0"/>
            <a:chExt cx="481659" cy="472628"/>
          </a:xfrm>
        </p:grpSpPr>
        <p:sp>
          <p:nvSpPr>
            <p:cNvPr id="24" name="Freeform 12"/>
            <p:cNvSpPr/>
            <p:nvPr/>
          </p:nvSpPr>
          <p:spPr>
            <a:xfrm>
              <a:off x="0" y="0"/>
              <a:ext cx="481659" cy="472628"/>
            </a:xfrm>
            <a:custGeom>
              <a:avLst/>
              <a:gdLst/>
              <a:ahLst/>
              <a:cxnLst/>
              <a:rect l="l" t="t" r="r" b="b"/>
              <a:pathLst>
                <a:path w="481659" h="472628">
                  <a:moveTo>
                    <a:pt x="114300" y="0"/>
                  </a:moveTo>
                  <a:lnTo>
                    <a:pt x="367359" y="0"/>
                  </a:lnTo>
                  <a:cubicBezTo>
                    <a:pt x="397673" y="0"/>
                    <a:pt x="426746" y="12042"/>
                    <a:pt x="448182" y="33478"/>
                  </a:cubicBezTo>
                  <a:cubicBezTo>
                    <a:pt x="469617" y="54913"/>
                    <a:pt x="481659" y="83986"/>
                    <a:pt x="481659" y="114300"/>
                  </a:cubicBezTo>
                  <a:lnTo>
                    <a:pt x="481659" y="358328"/>
                  </a:lnTo>
                  <a:cubicBezTo>
                    <a:pt x="481659" y="421454"/>
                    <a:pt x="430485" y="472628"/>
                    <a:pt x="367359" y="472628"/>
                  </a:cubicBezTo>
                  <a:lnTo>
                    <a:pt x="114300" y="472628"/>
                  </a:lnTo>
                  <a:cubicBezTo>
                    <a:pt x="83986" y="472628"/>
                    <a:pt x="54913" y="460586"/>
                    <a:pt x="33478" y="439150"/>
                  </a:cubicBezTo>
                  <a:cubicBezTo>
                    <a:pt x="12042" y="417715"/>
                    <a:pt x="0" y="388642"/>
                    <a:pt x="0" y="358328"/>
                  </a:cubicBezTo>
                  <a:lnTo>
                    <a:pt x="0" y="114300"/>
                  </a:lnTo>
                  <a:cubicBezTo>
                    <a:pt x="0" y="51174"/>
                    <a:pt x="51174" y="0"/>
                    <a:pt x="114300" y="0"/>
                  </a:cubicBezTo>
                  <a:close/>
                </a:path>
              </a:pathLst>
            </a:custGeom>
            <a:gradFill rotWithShape="1">
              <a:gsLst>
                <a:gs pos="0">
                  <a:srgbClr val="18A3E2">
                    <a:alpha val="100000"/>
                  </a:srgbClr>
                </a:gs>
                <a:gs pos="100000">
                  <a:srgbClr val="1DC7E8">
                    <a:alpha val="100000"/>
                  </a:srgbClr>
                </a:gs>
              </a:gsLst>
              <a:lin ang="0"/>
            </a:gradFill>
          </p:spPr>
        </p:sp>
        <p:sp>
          <p:nvSpPr>
            <p:cNvPr id="25" name="TextBox 13"/>
            <p:cNvSpPr txBox="1"/>
            <p:nvPr/>
          </p:nvSpPr>
          <p:spPr>
            <a:xfrm>
              <a:off x="0" y="-28575"/>
              <a:ext cx="481659" cy="501203"/>
            </a:xfrm>
            <a:prstGeom prst="rect">
              <a:avLst/>
            </a:prstGeom>
          </p:spPr>
          <p:txBody>
            <a:bodyPr lIns="50800" tIns="50800" rIns="50800" bIns="50800" rtlCol="0" anchor="ctr"/>
            <a:lstStyle/>
            <a:p>
              <a:pPr algn="ctr">
                <a:lnSpc>
                  <a:spcPts val="1740"/>
                </a:lnSpc>
              </a:pPr>
            </a:p>
          </p:txBody>
        </p:sp>
      </p:grpSp>
      <p:sp>
        <p:nvSpPr>
          <p:cNvPr id="26" name="Freeform 15"/>
          <p:cNvSpPr/>
          <p:nvPr/>
        </p:nvSpPr>
        <p:spPr>
          <a:xfrm>
            <a:off x="5166360" y="7772400"/>
            <a:ext cx="982980" cy="960120"/>
          </a:xfrm>
          <a:custGeom>
            <a:avLst/>
            <a:gdLst/>
            <a:ahLst/>
            <a:cxnLst/>
            <a:rect l="l" t="t" r="r" b="b"/>
            <a:pathLst>
              <a:path w="982980" h="960120">
                <a:moveTo>
                  <a:pt x="0" y="0"/>
                </a:moveTo>
                <a:lnTo>
                  <a:pt x="982980" y="0"/>
                </a:lnTo>
                <a:lnTo>
                  <a:pt x="982980" y="960120"/>
                </a:lnTo>
                <a:lnTo>
                  <a:pt x="0" y="960120"/>
                </a:lnTo>
                <a:lnTo>
                  <a:pt x="0" y="0"/>
                </a:lnTo>
                <a:close/>
              </a:path>
            </a:pathLst>
          </a:custGeom>
          <a:blipFill>
            <a:blip r:embed="rId5"/>
            <a:stretch>
              <a:fillRect/>
            </a:stretch>
          </a:blipFill>
        </p:spPr>
      </p:sp>
      <p:sp>
        <p:nvSpPr>
          <p:cNvPr id="34" name="TextBox 9"/>
          <p:cNvSpPr txBox="1"/>
          <p:nvPr>
            <p:custDataLst>
              <p:tags r:id="rId6"/>
            </p:custDataLst>
          </p:nvPr>
        </p:nvSpPr>
        <p:spPr>
          <a:xfrm>
            <a:off x="6553315" y="2429616"/>
            <a:ext cx="3717392" cy="645795"/>
          </a:xfrm>
          <a:prstGeom prst="rect">
            <a:avLst/>
          </a:prstGeom>
        </p:spPr>
        <p:txBody>
          <a:bodyPr lIns="0" tIns="0" rIns="0" bIns="0" rtlCol="0" anchor="t">
            <a:spAutoFit/>
          </a:bodyPr>
          <a:lstStyle/>
          <a:p>
            <a:pPr algn="ctr">
              <a:lnSpc>
                <a:spcPts val="5040"/>
              </a:lnSpc>
            </a:pPr>
            <a:r>
              <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课题研发背景</a:t>
            </a:r>
            <a:endPar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3" name="TextBox 16"/>
          <p:cNvSpPr txBox="1"/>
          <p:nvPr/>
        </p:nvSpPr>
        <p:spPr>
          <a:xfrm>
            <a:off x="7848600" y="4305211"/>
            <a:ext cx="7925395" cy="1107440"/>
          </a:xfrm>
          <a:prstGeom prst="rect">
            <a:avLst/>
          </a:prstGeom>
        </p:spPr>
        <p:txBody>
          <a:bodyPr lIns="0" tIns="0" rIns="0" bIns="0" rtlCol="0" anchor="t">
            <a:spAutoFit/>
          </a:bodyPr>
          <a:lstStyle/>
          <a:p>
            <a:pPr algn="just">
              <a:lnSpc>
                <a:spcPct val="100000"/>
              </a:lnSpc>
            </a:pPr>
            <a:r>
              <a:rPr lang="en-US" altLang="zh-CN" sz="3600" b="1">
                <a:solidFill>
                  <a:srgbClr val="202020"/>
                </a:solidFill>
                <a:latin typeface="微软雅黑" panose="020B0503020204020204" charset="-122"/>
                <a:ea typeface="微软雅黑" panose="020B0503020204020204" charset="-122"/>
                <a:cs typeface="微软雅黑" panose="020B0503020204020204" charset="-122"/>
                <a:sym typeface="阿里巴巴普惠体" panose="00020600040101010101" charset="-122"/>
              </a:rPr>
              <a:t>  </a:t>
            </a:r>
            <a:r>
              <a:rPr lang="zh-CN" altLang="en-US" sz="3600" b="1">
                <a:solidFill>
                  <a:srgbClr val="202020"/>
                </a:solidFill>
                <a:latin typeface="微软雅黑" panose="020B0503020204020204" charset="-122"/>
                <a:ea typeface="微软雅黑" panose="020B0503020204020204" charset="-122"/>
                <a:cs typeface="微软雅黑" panose="020B0503020204020204" charset="-122"/>
                <a:sym typeface="阿里巴巴普惠体" panose="00020600040101010101" charset="-122"/>
              </a:rPr>
              <a:t>传统表格软件（如</a:t>
            </a:r>
            <a:r>
              <a:rPr lang="en-US" altLang="zh-CN" sz="3600" b="1">
                <a:solidFill>
                  <a:srgbClr val="202020"/>
                </a:solidFill>
                <a:latin typeface="微软雅黑" panose="020B0503020204020204" charset="-122"/>
                <a:ea typeface="微软雅黑" panose="020B0503020204020204" charset="-122"/>
                <a:cs typeface="微软雅黑" panose="020B0503020204020204" charset="-122"/>
                <a:sym typeface="阿里巴巴普惠体" panose="00020600040101010101" charset="-122"/>
              </a:rPr>
              <a:t> Excel</a:t>
            </a:r>
            <a:r>
              <a:rPr lang="zh-CN" altLang="en-US" sz="3600" b="1">
                <a:solidFill>
                  <a:srgbClr val="202020"/>
                </a:solidFill>
                <a:latin typeface="微软雅黑" panose="020B0503020204020204" charset="-122"/>
                <a:ea typeface="微软雅黑" panose="020B0503020204020204" charset="-122"/>
                <a:cs typeface="微软雅黑" panose="020B0503020204020204" charset="-122"/>
                <a:sym typeface="阿里巴巴普惠体" panose="00020600040101010101" charset="-122"/>
              </a:rPr>
              <a:t>）在处理十万级数据时极易发生内存溢出与假死。</a:t>
            </a:r>
            <a:endParaRPr lang="zh-CN" altLang="en-US" sz="3600" b="1">
              <a:solidFill>
                <a:srgbClr val="202020"/>
              </a:solidFill>
              <a:latin typeface="微软雅黑" panose="020B0503020204020204" charset="-122"/>
              <a:ea typeface="微软雅黑" panose="020B0503020204020204" charset="-122"/>
              <a:cs typeface="微软雅黑" panose="020B0503020204020204" charset="-122"/>
              <a:sym typeface="阿里巴巴普惠体" panose="00020600040101010101" charset="-122"/>
            </a:endParaRPr>
          </a:p>
        </p:txBody>
      </p:sp>
      <p:sp>
        <p:nvSpPr>
          <p:cNvPr id="4" name="TextBox 16"/>
          <p:cNvSpPr txBox="1"/>
          <p:nvPr/>
        </p:nvSpPr>
        <p:spPr>
          <a:xfrm>
            <a:off x="7772400" y="5504815"/>
            <a:ext cx="8691245" cy="1706880"/>
          </a:xfrm>
          <a:prstGeom prst="rect">
            <a:avLst/>
          </a:prstGeom>
        </p:spPr>
        <p:txBody>
          <a:bodyPr wrap="square" lIns="0" tIns="0" rIns="0" bIns="0" rtlCol="0" anchor="t">
            <a:noAutofit/>
          </a:bodyPr>
          <a:lstStyle/>
          <a:p>
            <a:pPr algn="just">
              <a:lnSpc>
                <a:spcPct val="100000"/>
              </a:lnSpc>
            </a:pPr>
            <a:r>
              <a:rPr lang="en-US" altLang="zh-CN" sz="3600" b="1">
                <a:solidFill>
                  <a:srgbClr val="202020"/>
                </a:solidFill>
                <a:latin typeface="微软雅黑" panose="020B0503020204020204" charset="-122"/>
                <a:ea typeface="微软雅黑" panose="020B0503020204020204" charset="-122"/>
                <a:cs typeface="微软雅黑" panose="020B0503020204020204" charset="-122"/>
                <a:sym typeface="阿里巴巴普惠体" panose="00020600040101010101" charset="-122"/>
              </a:rPr>
              <a:t>  </a:t>
            </a:r>
            <a:r>
              <a:rPr lang="zh-CN" altLang="en-US" sz="3600" b="1">
                <a:solidFill>
                  <a:srgbClr val="202020"/>
                </a:solidFill>
                <a:latin typeface="微软雅黑" panose="020B0503020204020204" charset="-122"/>
                <a:ea typeface="微软雅黑" panose="020B0503020204020204" charset="-122"/>
                <a:cs typeface="微软雅黑" panose="020B0503020204020204" charset="-122"/>
                <a:sym typeface="阿里巴巴普惠体" panose="00020600040101010101" charset="-122"/>
              </a:rPr>
              <a:t>专业分析工具（如</a:t>
            </a:r>
            <a:r>
              <a:rPr lang="en-US" altLang="zh-CN" sz="3600" b="1">
                <a:solidFill>
                  <a:srgbClr val="202020"/>
                </a:solidFill>
                <a:latin typeface="微软雅黑" panose="020B0503020204020204" charset="-122"/>
                <a:ea typeface="微软雅黑" panose="020B0503020204020204" charset="-122"/>
                <a:cs typeface="微软雅黑" panose="020B0503020204020204" charset="-122"/>
                <a:sym typeface="阿里巴巴普惠体" panose="00020600040101010101" charset="-122"/>
              </a:rPr>
              <a:t> SPSS</a:t>
            </a:r>
            <a:r>
              <a:rPr lang="zh-CN" altLang="en-US" sz="3600" b="1">
                <a:solidFill>
                  <a:srgbClr val="202020"/>
                </a:solidFill>
                <a:latin typeface="微软雅黑" panose="020B0503020204020204" charset="-122"/>
                <a:ea typeface="微软雅黑" panose="020B0503020204020204" charset="-122"/>
                <a:cs typeface="微软雅黑" panose="020B0503020204020204" charset="-122"/>
                <a:sym typeface="阿里巴巴普惠体" panose="00020600040101010101" charset="-122"/>
              </a:rPr>
              <a:t>、</a:t>
            </a:r>
            <a:r>
              <a:rPr lang="en-US" altLang="zh-CN" sz="3600" b="1">
                <a:solidFill>
                  <a:srgbClr val="202020"/>
                </a:solidFill>
                <a:latin typeface="微软雅黑" panose="020B0503020204020204" charset="-122"/>
                <a:ea typeface="微软雅黑" panose="020B0503020204020204" charset="-122"/>
                <a:cs typeface="微软雅黑" panose="020B0503020204020204" charset="-122"/>
                <a:sym typeface="阿里巴巴普惠体" panose="00020600040101010101" charset="-122"/>
              </a:rPr>
              <a:t>Python </a:t>
            </a:r>
            <a:r>
              <a:rPr lang="zh-CN" altLang="en-US" sz="3600" b="1">
                <a:solidFill>
                  <a:srgbClr val="202020"/>
                </a:solidFill>
                <a:latin typeface="微软雅黑" panose="020B0503020204020204" charset="-122"/>
                <a:ea typeface="微软雅黑" panose="020B0503020204020204" charset="-122"/>
                <a:cs typeface="微软雅黑" panose="020B0503020204020204" charset="-122"/>
                <a:sym typeface="阿里巴巴普惠体" panose="00020600040101010101" charset="-122"/>
              </a:rPr>
              <a:t>脚本）又存在代码门槛与复杂的统计学壁垒，导致普通用户陷入</a:t>
            </a:r>
            <a:r>
              <a:rPr lang="en-US" altLang="zh-CN" sz="3600" b="1">
                <a:solidFill>
                  <a:srgbClr val="202020"/>
                </a:solidFill>
                <a:latin typeface="微软雅黑" panose="020B0503020204020204" charset="-122"/>
                <a:ea typeface="微软雅黑" panose="020B0503020204020204" charset="-122"/>
                <a:cs typeface="微软雅黑" panose="020B0503020204020204" charset="-122"/>
                <a:sym typeface="阿里巴巴普惠体" panose="00020600040101010101" charset="-122"/>
              </a:rPr>
              <a:t>“</a:t>
            </a:r>
            <a:r>
              <a:rPr lang="zh-CN" altLang="en-US" sz="3600" b="1">
                <a:solidFill>
                  <a:srgbClr val="202020"/>
                </a:solidFill>
                <a:latin typeface="微软雅黑" panose="020B0503020204020204" charset="-122"/>
                <a:ea typeface="微软雅黑" panose="020B0503020204020204" charset="-122"/>
                <a:cs typeface="微软雅黑" panose="020B0503020204020204" charset="-122"/>
                <a:sym typeface="阿里巴巴普惠体" panose="00020600040101010101" charset="-122"/>
              </a:rPr>
              <a:t>有数据、无算力</a:t>
            </a:r>
            <a:r>
              <a:rPr lang="en-US" altLang="zh-CN" sz="3600" b="1">
                <a:solidFill>
                  <a:srgbClr val="202020"/>
                </a:solidFill>
                <a:latin typeface="微软雅黑" panose="020B0503020204020204" charset="-122"/>
                <a:ea typeface="微软雅黑" panose="020B0503020204020204" charset="-122"/>
                <a:cs typeface="微软雅黑" panose="020B0503020204020204" charset="-122"/>
                <a:sym typeface="阿里巴巴普惠体" panose="00020600040101010101" charset="-122"/>
              </a:rPr>
              <a:t>”</a:t>
            </a:r>
            <a:r>
              <a:rPr lang="zh-CN" altLang="en-US" sz="3600" b="1">
                <a:solidFill>
                  <a:srgbClr val="202020"/>
                </a:solidFill>
                <a:latin typeface="微软雅黑" panose="020B0503020204020204" charset="-122"/>
                <a:ea typeface="微软雅黑" panose="020B0503020204020204" charset="-122"/>
                <a:cs typeface="微软雅黑" panose="020B0503020204020204" charset="-122"/>
                <a:sym typeface="阿里巴巴普惠体" panose="00020600040101010101" charset="-122"/>
              </a:rPr>
              <a:t>的困境</a:t>
            </a:r>
            <a:endParaRPr lang="zh-CN" altLang="en-US" sz="3600" b="1">
              <a:solidFill>
                <a:srgbClr val="202020"/>
              </a:solidFill>
              <a:latin typeface="微软雅黑" panose="020B0503020204020204" charset="-122"/>
              <a:ea typeface="微软雅黑" panose="020B0503020204020204" charset="-122"/>
              <a:cs typeface="微软雅黑" panose="020B0503020204020204" charset="-122"/>
              <a:sym typeface="阿里巴巴普惠体" panose="0002060004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5" name="Freeform 5"/>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6" name="Freeform 6"/>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sp>
        <p:nvSpPr>
          <p:cNvPr id="7" name="TextBox 7"/>
          <p:cNvSpPr txBox="1"/>
          <p:nvPr/>
        </p:nvSpPr>
        <p:spPr>
          <a:xfrm>
            <a:off x="1028700" y="457200"/>
            <a:ext cx="7807960" cy="1076960"/>
          </a:xfrm>
          <a:prstGeom prst="rect">
            <a:avLst/>
          </a:prstGeom>
        </p:spPr>
        <p:txBody>
          <a:bodyPr wrap="square" lIns="0" tIns="0" rIns="0" bIns="0" rtlCol="0" anchor="t">
            <a:spAutoFit/>
          </a:bodyPr>
          <a:lstStyle/>
          <a:p>
            <a:pPr algn="l">
              <a:lnSpc>
                <a:spcPts val="8400"/>
              </a:lnSpc>
            </a:pPr>
            <a:r>
              <a:rPr 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01.</a:t>
            </a:r>
            <a:r>
              <a:rPr lang="zh-CN" alt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研究现状</a:t>
            </a:r>
            <a:endParaRPr lang="zh-CN" alt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8" name="TextBox 8"/>
          <p:cNvSpPr txBox="1"/>
          <p:nvPr/>
        </p:nvSpPr>
        <p:spPr>
          <a:xfrm>
            <a:off x="13753946" y="872490"/>
            <a:ext cx="3505354" cy="613410"/>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ONE</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grpSp>
        <p:nvGrpSpPr>
          <p:cNvPr id="155" name="Group 3"/>
          <p:cNvGrpSpPr/>
          <p:nvPr/>
        </p:nvGrpSpPr>
        <p:grpSpPr>
          <a:xfrm rot="0">
            <a:off x="914403" y="5524202"/>
            <a:ext cx="11087103" cy="2807633"/>
            <a:chOff x="-37459" y="-28575"/>
            <a:chExt cx="1816783" cy="1570089"/>
          </a:xfrm>
        </p:grpSpPr>
        <p:sp>
          <p:nvSpPr>
            <p:cNvPr id="156" name="Freeform 4"/>
            <p:cNvSpPr/>
            <p:nvPr/>
          </p:nvSpPr>
          <p:spPr>
            <a:xfrm>
              <a:off x="0" y="0"/>
              <a:ext cx="1779324" cy="1541514"/>
            </a:xfrm>
            <a:custGeom>
              <a:avLst/>
              <a:gdLst/>
              <a:ahLst/>
              <a:cxnLst/>
              <a:rect l="l" t="t" r="r" b="b"/>
              <a:pathLst>
                <a:path w="1779324" h="1541514">
                  <a:moveTo>
                    <a:pt x="12715" y="0"/>
                  </a:moveTo>
                  <a:lnTo>
                    <a:pt x="1766609" y="0"/>
                  </a:lnTo>
                  <a:cubicBezTo>
                    <a:pt x="1769981" y="0"/>
                    <a:pt x="1773215" y="1340"/>
                    <a:pt x="1775600" y="3724"/>
                  </a:cubicBezTo>
                  <a:cubicBezTo>
                    <a:pt x="1777984" y="6109"/>
                    <a:pt x="1779324" y="9343"/>
                    <a:pt x="1779324" y="12715"/>
                  </a:cubicBezTo>
                  <a:lnTo>
                    <a:pt x="1779324" y="1528799"/>
                  </a:lnTo>
                  <a:cubicBezTo>
                    <a:pt x="1779324" y="1535821"/>
                    <a:pt x="1773631" y="1541514"/>
                    <a:pt x="1766609" y="1541514"/>
                  </a:cubicBezTo>
                  <a:lnTo>
                    <a:pt x="12715" y="1541514"/>
                  </a:lnTo>
                  <a:cubicBezTo>
                    <a:pt x="9343" y="1541514"/>
                    <a:pt x="6109" y="1540174"/>
                    <a:pt x="3724" y="1537789"/>
                  </a:cubicBezTo>
                  <a:cubicBezTo>
                    <a:pt x="1340" y="1535405"/>
                    <a:pt x="0" y="1532171"/>
                    <a:pt x="0" y="1528799"/>
                  </a:cubicBezTo>
                  <a:lnTo>
                    <a:pt x="0" y="12715"/>
                  </a:lnTo>
                  <a:cubicBezTo>
                    <a:pt x="0" y="9343"/>
                    <a:pt x="1340" y="6109"/>
                    <a:pt x="3724" y="3724"/>
                  </a:cubicBezTo>
                  <a:cubicBezTo>
                    <a:pt x="6109" y="1340"/>
                    <a:pt x="9343" y="0"/>
                    <a:pt x="12715" y="0"/>
                  </a:cubicBezTo>
                  <a:close/>
                </a:path>
              </a:pathLst>
            </a:custGeom>
            <a:gradFill rotWithShape="1">
              <a:gsLst>
                <a:gs pos="0">
                  <a:srgbClr val="15B5FC">
                    <a:alpha val="100000"/>
                  </a:srgbClr>
                </a:gs>
                <a:gs pos="100000">
                  <a:srgbClr val="3D77FF">
                    <a:alpha val="100000"/>
                  </a:srgbClr>
                </a:gs>
              </a:gsLst>
              <a:lin ang="2700000"/>
            </a:gradFill>
            <a:ln cap="sq">
              <a:noFill/>
              <a:prstDash val="solid"/>
              <a:miter/>
            </a:ln>
          </p:spPr>
        </p:sp>
        <p:sp>
          <p:nvSpPr>
            <p:cNvPr id="157" name="TextBox 5"/>
            <p:cNvSpPr txBox="1"/>
            <p:nvPr/>
          </p:nvSpPr>
          <p:spPr>
            <a:xfrm>
              <a:off x="-37459" y="-28575"/>
              <a:ext cx="1779323" cy="1570089"/>
            </a:xfrm>
            <a:prstGeom prst="rect">
              <a:avLst/>
            </a:prstGeom>
          </p:spPr>
          <p:txBody>
            <a:bodyPr lIns="55859" tIns="55859" rIns="55859" bIns="55859" rtlCol="0" anchor="ctr"/>
            <a:lstStyle/>
            <a:p>
              <a:pPr marL="0" lvl="0" indent="0" algn="ctr">
                <a:lnSpc>
                  <a:spcPts val="2660"/>
                </a:lnSpc>
                <a:spcBef>
                  <a:spcPct val="0"/>
                </a:spcBef>
              </a:pPr>
            </a:p>
          </p:txBody>
        </p:sp>
      </p:grpSp>
      <p:grpSp>
        <p:nvGrpSpPr>
          <p:cNvPr id="158" name="Group 7"/>
          <p:cNvGrpSpPr/>
          <p:nvPr/>
        </p:nvGrpSpPr>
        <p:grpSpPr>
          <a:xfrm rot="0">
            <a:off x="1219200" y="2096770"/>
            <a:ext cx="4954270" cy="3147060"/>
            <a:chOff x="0" y="0"/>
            <a:chExt cx="1779323" cy="1541514"/>
          </a:xfrm>
        </p:grpSpPr>
        <p:sp>
          <p:nvSpPr>
            <p:cNvPr id="159" name="Freeform 8"/>
            <p:cNvSpPr/>
            <p:nvPr/>
          </p:nvSpPr>
          <p:spPr>
            <a:xfrm>
              <a:off x="0" y="0"/>
              <a:ext cx="1779324" cy="1541514"/>
            </a:xfrm>
            <a:custGeom>
              <a:avLst/>
              <a:gdLst/>
              <a:ahLst/>
              <a:cxnLst/>
              <a:rect l="l" t="t" r="r" b="b"/>
              <a:pathLst>
                <a:path w="1779324" h="1541514">
                  <a:moveTo>
                    <a:pt x="15027" y="0"/>
                  </a:moveTo>
                  <a:lnTo>
                    <a:pt x="1764297" y="0"/>
                  </a:lnTo>
                  <a:cubicBezTo>
                    <a:pt x="1772596" y="0"/>
                    <a:pt x="1779324" y="6728"/>
                    <a:pt x="1779324" y="15027"/>
                  </a:cubicBezTo>
                  <a:lnTo>
                    <a:pt x="1779324" y="1526487"/>
                  </a:lnTo>
                  <a:cubicBezTo>
                    <a:pt x="1779324" y="1534786"/>
                    <a:pt x="1772596" y="1541514"/>
                    <a:pt x="1764297" y="1541514"/>
                  </a:cubicBezTo>
                  <a:lnTo>
                    <a:pt x="15027" y="1541514"/>
                  </a:lnTo>
                  <a:cubicBezTo>
                    <a:pt x="6728" y="1541514"/>
                    <a:pt x="0" y="1534786"/>
                    <a:pt x="0" y="1526487"/>
                  </a:cubicBezTo>
                  <a:lnTo>
                    <a:pt x="0" y="15027"/>
                  </a:lnTo>
                  <a:cubicBezTo>
                    <a:pt x="0" y="6728"/>
                    <a:pt x="6728" y="0"/>
                    <a:pt x="15027" y="0"/>
                  </a:cubicBezTo>
                  <a:close/>
                </a:path>
              </a:pathLst>
            </a:custGeom>
            <a:gradFill rotWithShape="1">
              <a:gsLst>
                <a:gs pos="0">
                  <a:srgbClr val="F0F3FF">
                    <a:alpha val="100000"/>
                  </a:srgbClr>
                </a:gs>
                <a:gs pos="33333">
                  <a:srgbClr val="F0F3FF">
                    <a:alpha val="100000"/>
                  </a:srgbClr>
                </a:gs>
                <a:gs pos="66667">
                  <a:srgbClr val="F0F3FF">
                    <a:alpha val="100000"/>
                  </a:srgbClr>
                </a:gs>
                <a:gs pos="100000">
                  <a:srgbClr val="C1CCF7">
                    <a:alpha val="100000"/>
                  </a:srgbClr>
                </a:gs>
              </a:gsLst>
              <a:lin ang="2700000"/>
            </a:gradFill>
            <a:ln w="19050" cap="sq">
              <a:solidFill>
                <a:srgbClr val="3D77FF"/>
              </a:solidFill>
              <a:prstDash val="solid"/>
              <a:miter/>
            </a:ln>
          </p:spPr>
        </p:sp>
        <p:sp>
          <p:nvSpPr>
            <p:cNvPr id="160" name="TextBox 9"/>
            <p:cNvSpPr txBox="1"/>
            <p:nvPr/>
          </p:nvSpPr>
          <p:spPr>
            <a:xfrm>
              <a:off x="0" y="-38100"/>
              <a:ext cx="1779323" cy="1579614"/>
            </a:xfrm>
            <a:prstGeom prst="rect">
              <a:avLst/>
            </a:prstGeom>
          </p:spPr>
          <p:txBody>
            <a:bodyPr lIns="55859" tIns="55859" rIns="55859" bIns="55859" rtlCol="0" anchor="ctr"/>
            <a:lstStyle/>
            <a:p>
              <a:pPr marL="0" lvl="0" indent="0" algn="ctr">
                <a:lnSpc>
                  <a:spcPts val="2660"/>
                </a:lnSpc>
                <a:spcBef>
                  <a:spcPct val="0"/>
                </a:spcBef>
              </a:pPr>
            </a:p>
          </p:txBody>
        </p:sp>
      </p:grpSp>
      <p:sp>
        <p:nvSpPr>
          <p:cNvPr id="161" name="AutoShape 10"/>
          <p:cNvSpPr/>
          <p:nvPr/>
        </p:nvSpPr>
        <p:spPr>
          <a:xfrm>
            <a:off x="1518285" y="6515100"/>
            <a:ext cx="3158490" cy="17145"/>
          </a:xfrm>
          <a:prstGeom prst="line">
            <a:avLst/>
          </a:prstGeom>
          <a:ln w="19050" cap="rnd">
            <a:gradFill>
              <a:gsLst>
                <a:gs pos="0">
                  <a:srgbClr val="F0F3FF">
                    <a:alpha val="100000"/>
                  </a:srgbClr>
                </a:gs>
                <a:gs pos="33333">
                  <a:srgbClr val="F0F3FF">
                    <a:alpha val="100000"/>
                  </a:srgbClr>
                </a:gs>
                <a:gs pos="66667">
                  <a:srgbClr val="F0F3FF">
                    <a:alpha val="100000"/>
                  </a:srgbClr>
                </a:gs>
                <a:gs pos="100000">
                  <a:srgbClr val="C1CCF7">
                    <a:alpha val="100000"/>
                  </a:srgbClr>
                </a:gs>
              </a:gsLst>
              <a:lin ang="2700000"/>
            </a:gradFill>
            <a:prstDash val="solid"/>
            <a:headEnd type="none" w="sm" len="sm"/>
            <a:tailEnd type="none" w="sm" len="sm"/>
          </a:ln>
        </p:spPr>
      </p:sp>
      <p:sp>
        <p:nvSpPr>
          <p:cNvPr id="162" name="TextBox 11"/>
          <p:cNvSpPr txBox="1"/>
          <p:nvPr/>
        </p:nvSpPr>
        <p:spPr>
          <a:xfrm>
            <a:off x="1600200" y="5753100"/>
            <a:ext cx="7358380" cy="1297305"/>
          </a:xfrm>
          <a:prstGeom prst="rect">
            <a:avLst/>
          </a:prstGeom>
        </p:spPr>
        <p:txBody>
          <a:bodyPr wrap="square" lIns="0" tIns="0" rIns="0" bIns="0" rtlCol="0" anchor="t">
            <a:spAutoFit/>
          </a:bodyPr>
          <a:lstStyle/>
          <a:p>
            <a:pPr algn="l">
              <a:lnSpc>
                <a:spcPts val="5060"/>
              </a:lnSpc>
            </a:pPr>
            <a:r>
              <a:rPr lang="zh-CN" altLang="en-US" sz="3615">
                <a:solidFill>
                  <a:srgbClr val="FFFFFF"/>
                </a:solidFill>
                <a:latin typeface="微软雅黑" panose="020B0503020204020204" charset="-122"/>
                <a:ea typeface="微软雅黑" panose="020B0503020204020204" charset="-122"/>
                <a:cs typeface="微软雅黑" panose="020B0503020204020204" charset="-122"/>
                <a:sym typeface="可画耀动黑-简" panose="020B0500000000000000" charset="-122"/>
              </a:rPr>
              <a:t>前端领域研究：数据结构与</a:t>
            </a:r>
            <a:r>
              <a:rPr lang="en-US" altLang="zh-CN" sz="3615">
                <a:solidFill>
                  <a:srgbClr val="FFFFFF"/>
                </a:solidFill>
                <a:latin typeface="微软雅黑" panose="020B0503020204020204" charset="-122"/>
                <a:ea typeface="微软雅黑" panose="020B0503020204020204" charset="-122"/>
                <a:cs typeface="微软雅黑" panose="020B0503020204020204" charset="-122"/>
                <a:sym typeface="可画耀动黑-简" panose="020B0500000000000000" charset="-122"/>
              </a:rPr>
              <a:t>UI/UX</a:t>
            </a:r>
            <a:endParaRPr lang="en-US" altLang="zh-CN" sz="3615">
              <a:solidFill>
                <a:srgbClr val="FFFFFF"/>
              </a:solidFill>
              <a:latin typeface="微软雅黑" panose="020B0503020204020204" charset="-122"/>
              <a:ea typeface="微软雅黑" panose="020B0503020204020204" charset="-122"/>
              <a:cs typeface="微软雅黑" panose="020B0503020204020204" charset="-122"/>
              <a:sym typeface="可画耀动黑-简" panose="020B0500000000000000" charset="-122"/>
            </a:endParaRPr>
          </a:p>
          <a:p>
            <a:pPr algn="l">
              <a:lnSpc>
                <a:spcPts val="5060"/>
              </a:lnSpc>
            </a:pPr>
            <a:endParaRPr lang="en-US" altLang="zh-CN" sz="3615">
              <a:solidFill>
                <a:srgbClr val="FFFFFF"/>
              </a:solidFill>
              <a:latin typeface="微软雅黑" panose="020B0503020204020204" charset="-122"/>
              <a:ea typeface="微软雅黑" panose="020B0503020204020204" charset="-122"/>
              <a:cs typeface="微软雅黑" panose="020B0503020204020204" charset="-122"/>
              <a:sym typeface="可画耀动黑-简" panose="020B0500000000000000" charset="-122"/>
            </a:endParaRPr>
          </a:p>
        </p:txBody>
      </p:sp>
      <p:grpSp>
        <p:nvGrpSpPr>
          <p:cNvPr id="167" name="Group 16"/>
          <p:cNvGrpSpPr/>
          <p:nvPr/>
        </p:nvGrpSpPr>
        <p:grpSpPr>
          <a:xfrm rot="0">
            <a:off x="1371434" y="6742850"/>
            <a:ext cx="1639893" cy="431664"/>
            <a:chOff x="0" y="0"/>
            <a:chExt cx="910909" cy="239776"/>
          </a:xfrm>
        </p:grpSpPr>
        <p:sp>
          <p:nvSpPr>
            <p:cNvPr id="168" name="Freeform 17"/>
            <p:cNvSpPr/>
            <p:nvPr/>
          </p:nvSpPr>
          <p:spPr>
            <a:xfrm>
              <a:off x="0" y="0"/>
              <a:ext cx="910909" cy="239776"/>
            </a:xfrm>
            <a:custGeom>
              <a:avLst/>
              <a:gdLst/>
              <a:ahLst/>
              <a:cxnLst/>
              <a:rect l="l" t="t" r="r" b="b"/>
              <a:pathLst>
                <a:path w="910909" h="239776">
                  <a:moveTo>
                    <a:pt x="119888" y="0"/>
                  </a:moveTo>
                  <a:lnTo>
                    <a:pt x="791021" y="0"/>
                  </a:lnTo>
                  <a:cubicBezTo>
                    <a:pt x="857233" y="0"/>
                    <a:pt x="910909" y="53676"/>
                    <a:pt x="910909" y="119888"/>
                  </a:cubicBezTo>
                  <a:lnTo>
                    <a:pt x="910909" y="119888"/>
                  </a:lnTo>
                  <a:cubicBezTo>
                    <a:pt x="910909" y="186100"/>
                    <a:pt x="857233" y="239776"/>
                    <a:pt x="791021" y="239776"/>
                  </a:cubicBezTo>
                  <a:lnTo>
                    <a:pt x="119888" y="239776"/>
                  </a:lnTo>
                  <a:cubicBezTo>
                    <a:pt x="53676" y="239776"/>
                    <a:pt x="0" y="186100"/>
                    <a:pt x="0" y="119888"/>
                  </a:cubicBezTo>
                  <a:lnTo>
                    <a:pt x="0" y="119888"/>
                  </a:lnTo>
                  <a:cubicBezTo>
                    <a:pt x="0" y="53676"/>
                    <a:pt x="53676" y="0"/>
                    <a:pt x="119888" y="0"/>
                  </a:cubicBezTo>
                  <a:close/>
                </a:path>
              </a:pathLst>
            </a:custGeom>
            <a:solidFill>
              <a:srgbClr val="FFFFFF">
                <a:alpha val="13725"/>
              </a:srgbClr>
            </a:solidFill>
          </p:spPr>
        </p:sp>
        <p:sp>
          <p:nvSpPr>
            <p:cNvPr id="169" name="TextBox 18"/>
            <p:cNvSpPr txBox="1"/>
            <p:nvPr/>
          </p:nvSpPr>
          <p:spPr>
            <a:xfrm>
              <a:off x="0" y="-28575"/>
              <a:ext cx="910909" cy="268351"/>
            </a:xfrm>
            <a:prstGeom prst="rect">
              <a:avLst/>
            </a:prstGeom>
          </p:spPr>
          <p:txBody>
            <a:bodyPr lIns="43752" tIns="43752" rIns="43752" bIns="43752" rtlCol="0" anchor="ctr"/>
            <a:lstStyle/>
            <a:p>
              <a:pPr algn="ctr">
                <a:lnSpc>
                  <a:spcPts val="2660"/>
                </a:lnSpc>
              </a:pPr>
            </a:p>
          </p:txBody>
        </p:sp>
      </p:grpSp>
      <p:sp>
        <p:nvSpPr>
          <p:cNvPr id="170" name="TextBox 19"/>
          <p:cNvSpPr txBox="1"/>
          <p:nvPr/>
        </p:nvSpPr>
        <p:spPr>
          <a:xfrm>
            <a:off x="1504081" y="6773733"/>
            <a:ext cx="1374599" cy="324485"/>
          </a:xfrm>
          <a:prstGeom prst="rect">
            <a:avLst/>
          </a:prstGeom>
        </p:spPr>
        <p:txBody>
          <a:bodyPr lIns="0" tIns="0" rIns="0" bIns="0" rtlCol="0" anchor="t">
            <a:spAutoFit/>
          </a:bodyPr>
          <a:lstStyle/>
          <a:p>
            <a:pPr algn="ctr">
              <a:lnSpc>
                <a:spcPts val="2535"/>
              </a:lnSpc>
            </a:pPr>
            <a:r>
              <a:rPr lang="zh-CN" altLang="en-US" sz="2400" b="1">
                <a:solidFill>
                  <a:srgbClr val="FFFF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rPr>
              <a:t>研究热点</a:t>
            </a:r>
            <a:endParaRPr lang="zh-CN" altLang="en-US" sz="2400" b="1">
              <a:solidFill>
                <a:srgbClr val="FFFF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endParaRPr>
          </a:p>
        </p:txBody>
      </p:sp>
      <p:sp>
        <p:nvSpPr>
          <p:cNvPr id="171" name="TextBox 20"/>
          <p:cNvSpPr txBox="1"/>
          <p:nvPr/>
        </p:nvSpPr>
        <p:spPr>
          <a:xfrm>
            <a:off x="3200400" y="6773545"/>
            <a:ext cx="9086850" cy="709930"/>
          </a:xfrm>
          <a:prstGeom prst="rect">
            <a:avLst/>
          </a:prstGeom>
        </p:spPr>
        <p:txBody>
          <a:bodyPr lIns="0" tIns="0" rIns="0" bIns="0" rtlCol="0" anchor="t">
            <a:noAutofit/>
          </a:bodyPr>
          <a:lstStyle/>
          <a:p>
            <a:pPr algn="l">
              <a:lnSpc>
                <a:spcPts val="2520"/>
              </a:lnSpc>
            </a:pPr>
            <a:r>
              <a:rPr lang="zh-CN" altLang="en-US" sz="2400" b="1">
                <a:solidFill>
                  <a:srgbClr val="FFFFFF"/>
                </a:solidFill>
                <a:latin typeface="微软雅黑" panose="020B0503020204020204" charset="-122"/>
                <a:ea typeface="微软雅黑" panose="020B0503020204020204" charset="-122"/>
                <a:cs typeface="微软雅黑" panose="020B0503020204020204" charset="-122"/>
                <a:sym typeface="思源黑体" panose="020B0500000000000000" charset="-122"/>
              </a:rPr>
              <a:t>虚拟滚动（</a:t>
            </a:r>
            <a:r>
              <a:rPr lang="en-US" altLang="zh-CN" sz="2400" b="1">
                <a:solidFill>
                  <a:srgbClr val="FFFFFF"/>
                </a:solidFill>
                <a:latin typeface="微软雅黑" panose="020B0503020204020204" charset="-122"/>
                <a:ea typeface="微软雅黑" panose="020B0503020204020204" charset="-122"/>
                <a:cs typeface="微软雅黑" panose="020B0503020204020204" charset="-122"/>
                <a:sym typeface="思源黑体" panose="020B0500000000000000" charset="-122"/>
              </a:rPr>
              <a:t>Virtual Scrolling</a:t>
            </a:r>
            <a:r>
              <a:rPr lang="zh-CN" altLang="en-US" sz="2400" b="1">
                <a:solidFill>
                  <a:srgbClr val="FFFFFF"/>
                </a:solidFill>
                <a:latin typeface="微软雅黑" panose="020B0503020204020204" charset="-122"/>
                <a:ea typeface="微软雅黑" panose="020B0503020204020204" charset="-122"/>
                <a:cs typeface="微软雅黑" panose="020B0503020204020204" charset="-122"/>
                <a:sym typeface="思源黑体" panose="020B0500000000000000" charset="-122"/>
              </a:rPr>
              <a:t>）技术在大型数据集展现方面的优化</a:t>
            </a:r>
            <a:endParaRPr lang="en-US" sz="2400" b="1">
              <a:solidFill>
                <a:srgbClr val="FFFFFF"/>
              </a:solidFill>
              <a:latin typeface="微软雅黑" panose="020B0503020204020204" charset="-122"/>
              <a:ea typeface="微软雅黑" panose="020B0503020204020204" charset="-122"/>
              <a:cs typeface="微软雅黑" panose="020B0503020204020204" charset="-122"/>
              <a:sym typeface="思源黑体" panose="020B0500000000000000" charset="-122"/>
            </a:endParaRPr>
          </a:p>
        </p:txBody>
      </p:sp>
      <p:sp>
        <p:nvSpPr>
          <p:cNvPr id="172" name="AutoShape 21"/>
          <p:cNvSpPr/>
          <p:nvPr/>
        </p:nvSpPr>
        <p:spPr>
          <a:xfrm>
            <a:off x="1371600" y="7269480"/>
            <a:ext cx="8853805" cy="32385"/>
          </a:xfrm>
          <a:prstGeom prst="line">
            <a:avLst/>
          </a:prstGeom>
          <a:ln w="19050" cap="flat">
            <a:gradFill>
              <a:gsLst>
                <a:gs pos="0">
                  <a:srgbClr val="F0F3FF">
                    <a:alpha val="51000"/>
                  </a:srgbClr>
                </a:gs>
                <a:gs pos="33333">
                  <a:srgbClr val="F0F3FF">
                    <a:alpha val="51000"/>
                  </a:srgbClr>
                </a:gs>
                <a:gs pos="66667">
                  <a:srgbClr val="F0F3FF">
                    <a:alpha val="51000"/>
                  </a:srgbClr>
                </a:gs>
                <a:gs pos="100000">
                  <a:srgbClr val="C1CCF7">
                    <a:alpha val="51000"/>
                  </a:srgbClr>
                </a:gs>
              </a:gsLst>
              <a:lin ang="2700000"/>
            </a:gradFill>
            <a:prstDash val="sysDash"/>
            <a:headEnd type="none" w="sm" len="sm"/>
            <a:tailEnd type="none" w="sm" len="sm"/>
          </a:ln>
        </p:spPr>
      </p:sp>
      <p:grpSp>
        <p:nvGrpSpPr>
          <p:cNvPr id="173" name="Group 22"/>
          <p:cNvGrpSpPr/>
          <p:nvPr/>
        </p:nvGrpSpPr>
        <p:grpSpPr>
          <a:xfrm rot="0">
            <a:off x="1371434" y="7432579"/>
            <a:ext cx="1639893" cy="431664"/>
            <a:chOff x="0" y="0"/>
            <a:chExt cx="910909" cy="239776"/>
          </a:xfrm>
        </p:grpSpPr>
        <p:sp>
          <p:nvSpPr>
            <p:cNvPr id="174" name="Freeform 23"/>
            <p:cNvSpPr/>
            <p:nvPr/>
          </p:nvSpPr>
          <p:spPr>
            <a:xfrm>
              <a:off x="0" y="0"/>
              <a:ext cx="910909" cy="239776"/>
            </a:xfrm>
            <a:custGeom>
              <a:avLst/>
              <a:gdLst/>
              <a:ahLst/>
              <a:cxnLst/>
              <a:rect l="l" t="t" r="r" b="b"/>
              <a:pathLst>
                <a:path w="910909" h="239776">
                  <a:moveTo>
                    <a:pt x="119888" y="0"/>
                  </a:moveTo>
                  <a:lnTo>
                    <a:pt x="791021" y="0"/>
                  </a:lnTo>
                  <a:cubicBezTo>
                    <a:pt x="857233" y="0"/>
                    <a:pt x="910909" y="53676"/>
                    <a:pt x="910909" y="119888"/>
                  </a:cubicBezTo>
                  <a:lnTo>
                    <a:pt x="910909" y="119888"/>
                  </a:lnTo>
                  <a:cubicBezTo>
                    <a:pt x="910909" y="186100"/>
                    <a:pt x="857233" y="239776"/>
                    <a:pt x="791021" y="239776"/>
                  </a:cubicBezTo>
                  <a:lnTo>
                    <a:pt x="119888" y="239776"/>
                  </a:lnTo>
                  <a:cubicBezTo>
                    <a:pt x="53676" y="239776"/>
                    <a:pt x="0" y="186100"/>
                    <a:pt x="0" y="119888"/>
                  </a:cubicBezTo>
                  <a:lnTo>
                    <a:pt x="0" y="119888"/>
                  </a:lnTo>
                  <a:cubicBezTo>
                    <a:pt x="0" y="53676"/>
                    <a:pt x="53676" y="0"/>
                    <a:pt x="119888" y="0"/>
                  </a:cubicBezTo>
                  <a:close/>
                </a:path>
              </a:pathLst>
            </a:custGeom>
            <a:solidFill>
              <a:srgbClr val="FFFFFF">
                <a:alpha val="13725"/>
              </a:srgbClr>
            </a:solidFill>
          </p:spPr>
        </p:sp>
        <p:sp>
          <p:nvSpPr>
            <p:cNvPr id="175" name="TextBox 24"/>
            <p:cNvSpPr txBox="1"/>
            <p:nvPr/>
          </p:nvSpPr>
          <p:spPr>
            <a:xfrm>
              <a:off x="0" y="-28575"/>
              <a:ext cx="910909" cy="268351"/>
            </a:xfrm>
            <a:prstGeom prst="rect">
              <a:avLst/>
            </a:prstGeom>
          </p:spPr>
          <p:txBody>
            <a:bodyPr lIns="43752" tIns="43752" rIns="43752" bIns="43752" rtlCol="0" anchor="ctr"/>
            <a:lstStyle/>
            <a:p>
              <a:pPr algn="ctr">
                <a:lnSpc>
                  <a:spcPts val="2660"/>
                </a:lnSpc>
              </a:pPr>
            </a:p>
          </p:txBody>
        </p:sp>
      </p:grpSp>
      <p:sp>
        <p:nvSpPr>
          <p:cNvPr id="176" name="TextBox 25"/>
          <p:cNvSpPr txBox="1"/>
          <p:nvPr/>
        </p:nvSpPr>
        <p:spPr>
          <a:xfrm>
            <a:off x="1351915" y="7475855"/>
            <a:ext cx="1659255" cy="324485"/>
          </a:xfrm>
          <a:prstGeom prst="rect">
            <a:avLst/>
          </a:prstGeom>
        </p:spPr>
        <p:txBody>
          <a:bodyPr wrap="square" lIns="0" tIns="0" rIns="0" bIns="0" rtlCol="0" anchor="t">
            <a:spAutoFit/>
          </a:bodyPr>
          <a:lstStyle/>
          <a:p>
            <a:pPr algn="ctr">
              <a:lnSpc>
                <a:spcPts val="2535"/>
              </a:lnSpc>
            </a:pPr>
            <a:r>
              <a:rPr lang="zh-CN" altLang="en-US" sz="2400" b="1">
                <a:solidFill>
                  <a:srgbClr val="FFFF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rPr>
              <a:t>待解决问题</a:t>
            </a:r>
            <a:endParaRPr lang="zh-CN" altLang="en-US" sz="2400" b="1">
              <a:solidFill>
                <a:srgbClr val="FFFF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endParaRPr>
          </a:p>
        </p:txBody>
      </p:sp>
      <p:sp>
        <p:nvSpPr>
          <p:cNvPr id="178" name="AutoShape 27"/>
          <p:cNvSpPr/>
          <p:nvPr/>
        </p:nvSpPr>
        <p:spPr>
          <a:xfrm flipV="1">
            <a:off x="1371600" y="7962900"/>
            <a:ext cx="4256405" cy="30480"/>
          </a:xfrm>
          <a:prstGeom prst="line">
            <a:avLst/>
          </a:prstGeom>
          <a:ln w="19050" cap="flat">
            <a:gradFill>
              <a:gsLst>
                <a:gs pos="0">
                  <a:srgbClr val="F0F3FF">
                    <a:alpha val="51000"/>
                  </a:srgbClr>
                </a:gs>
                <a:gs pos="33333">
                  <a:srgbClr val="F0F3FF">
                    <a:alpha val="51000"/>
                  </a:srgbClr>
                </a:gs>
                <a:gs pos="66667">
                  <a:srgbClr val="F0F3FF">
                    <a:alpha val="51000"/>
                  </a:srgbClr>
                </a:gs>
                <a:gs pos="100000">
                  <a:srgbClr val="C1CCF7">
                    <a:alpha val="51000"/>
                  </a:srgbClr>
                </a:gs>
              </a:gsLst>
              <a:lin ang="2700000"/>
            </a:gradFill>
            <a:prstDash val="sysDash"/>
            <a:headEnd type="none" w="sm" len="sm"/>
            <a:tailEnd type="none" w="sm" len="sm"/>
          </a:ln>
        </p:spPr>
      </p:sp>
      <p:grpSp>
        <p:nvGrpSpPr>
          <p:cNvPr id="32" name="Group 7"/>
          <p:cNvGrpSpPr/>
          <p:nvPr/>
        </p:nvGrpSpPr>
        <p:grpSpPr>
          <a:xfrm rot="0">
            <a:off x="7010400" y="2098040"/>
            <a:ext cx="4954270" cy="3147060"/>
            <a:chOff x="0" y="0"/>
            <a:chExt cx="1779323" cy="1541514"/>
          </a:xfrm>
        </p:grpSpPr>
        <p:sp>
          <p:nvSpPr>
            <p:cNvPr id="33" name="Freeform 8"/>
            <p:cNvSpPr/>
            <p:nvPr/>
          </p:nvSpPr>
          <p:spPr>
            <a:xfrm>
              <a:off x="0" y="0"/>
              <a:ext cx="1779324" cy="1541514"/>
            </a:xfrm>
            <a:custGeom>
              <a:avLst/>
              <a:gdLst/>
              <a:ahLst/>
              <a:cxnLst/>
              <a:rect l="l" t="t" r="r" b="b"/>
              <a:pathLst>
                <a:path w="1779324" h="1541514">
                  <a:moveTo>
                    <a:pt x="15027" y="0"/>
                  </a:moveTo>
                  <a:lnTo>
                    <a:pt x="1764297" y="0"/>
                  </a:lnTo>
                  <a:cubicBezTo>
                    <a:pt x="1772596" y="0"/>
                    <a:pt x="1779324" y="6728"/>
                    <a:pt x="1779324" y="15027"/>
                  </a:cubicBezTo>
                  <a:lnTo>
                    <a:pt x="1779324" y="1526487"/>
                  </a:lnTo>
                  <a:cubicBezTo>
                    <a:pt x="1779324" y="1534786"/>
                    <a:pt x="1772596" y="1541514"/>
                    <a:pt x="1764297" y="1541514"/>
                  </a:cubicBezTo>
                  <a:lnTo>
                    <a:pt x="15027" y="1541514"/>
                  </a:lnTo>
                  <a:cubicBezTo>
                    <a:pt x="6728" y="1541514"/>
                    <a:pt x="0" y="1534786"/>
                    <a:pt x="0" y="1526487"/>
                  </a:cubicBezTo>
                  <a:lnTo>
                    <a:pt x="0" y="15027"/>
                  </a:lnTo>
                  <a:cubicBezTo>
                    <a:pt x="0" y="6728"/>
                    <a:pt x="6728" y="0"/>
                    <a:pt x="15027" y="0"/>
                  </a:cubicBezTo>
                  <a:close/>
                </a:path>
              </a:pathLst>
            </a:custGeom>
            <a:gradFill rotWithShape="1">
              <a:gsLst>
                <a:gs pos="0">
                  <a:srgbClr val="F0F3FF">
                    <a:alpha val="100000"/>
                  </a:srgbClr>
                </a:gs>
                <a:gs pos="33333">
                  <a:srgbClr val="F0F3FF">
                    <a:alpha val="100000"/>
                  </a:srgbClr>
                </a:gs>
                <a:gs pos="66667">
                  <a:srgbClr val="F0F3FF">
                    <a:alpha val="100000"/>
                  </a:srgbClr>
                </a:gs>
                <a:gs pos="100000">
                  <a:srgbClr val="C1CCF7">
                    <a:alpha val="100000"/>
                  </a:srgbClr>
                </a:gs>
              </a:gsLst>
              <a:lin ang="2700000"/>
            </a:gradFill>
            <a:ln w="19050" cap="sq">
              <a:solidFill>
                <a:srgbClr val="3D77FF"/>
              </a:solidFill>
              <a:prstDash val="solid"/>
              <a:miter/>
            </a:ln>
          </p:spPr>
        </p:sp>
        <p:sp>
          <p:nvSpPr>
            <p:cNvPr id="34" name="TextBox 9"/>
            <p:cNvSpPr txBox="1"/>
            <p:nvPr/>
          </p:nvSpPr>
          <p:spPr>
            <a:xfrm>
              <a:off x="0" y="-38100"/>
              <a:ext cx="1779323" cy="1579614"/>
            </a:xfrm>
            <a:prstGeom prst="rect">
              <a:avLst/>
            </a:prstGeom>
          </p:spPr>
          <p:txBody>
            <a:bodyPr lIns="55859" tIns="55859" rIns="55859" bIns="55859" rtlCol="0" anchor="ctr"/>
            <a:lstStyle/>
            <a:p>
              <a:pPr marL="0" lvl="0" indent="0" algn="ctr">
                <a:lnSpc>
                  <a:spcPts val="2660"/>
                </a:lnSpc>
                <a:spcBef>
                  <a:spcPct val="0"/>
                </a:spcBef>
              </a:pPr>
            </a:p>
          </p:txBody>
        </p:sp>
      </p:grpSp>
      <p:sp>
        <p:nvSpPr>
          <p:cNvPr id="35" name="TextBox 14"/>
          <p:cNvSpPr txBox="1"/>
          <p:nvPr/>
        </p:nvSpPr>
        <p:spPr>
          <a:xfrm>
            <a:off x="1346200" y="2171700"/>
            <a:ext cx="5720715" cy="1297305"/>
          </a:xfrm>
          <a:prstGeom prst="rect">
            <a:avLst/>
          </a:prstGeom>
        </p:spPr>
        <p:txBody>
          <a:bodyPr wrap="square" lIns="0" tIns="0" rIns="0" bIns="0" rtlCol="0" anchor="t">
            <a:spAutoFit/>
          </a:bodyPr>
          <a:lstStyle/>
          <a:p>
            <a:pPr algn="l">
              <a:lnSpc>
                <a:spcPts val="5060"/>
              </a:lnSpc>
            </a:pPr>
            <a:r>
              <a:rPr lang="zh-CN" altLang="en-US" sz="2000" b="1">
                <a:solidFill>
                  <a:srgbClr val="3D77FF"/>
                </a:solidFill>
                <a:latin typeface="微软雅黑" panose="020B0503020204020204" charset="-122"/>
                <a:ea typeface="微软雅黑" panose="020B0503020204020204" charset="-122"/>
                <a:cs typeface="微软雅黑" panose="020B0503020204020204" charset="-122"/>
                <a:sym typeface="可画耀动黑-简" panose="020B0500000000000000" charset="-122"/>
              </a:rPr>
              <a:t>国外厂商：</a:t>
            </a:r>
            <a:r>
              <a:rPr lang="en-US" altLang="zh-CN" sz="2000" b="1">
                <a:solidFill>
                  <a:srgbClr val="3D77FF"/>
                </a:solidFill>
                <a:latin typeface="微软雅黑" panose="020B0503020204020204" charset="-122"/>
                <a:ea typeface="微软雅黑" panose="020B0503020204020204" charset="-122"/>
                <a:cs typeface="微软雅黑" panose="020B0503020204020204" charset="-122"/>
                <a:sym typeface="可画耀动黑-简" panose="020B0500000000000000" charset="-122"/>
              </a:rPr>
              <a:t>Google Looker/Tableau</a:t>
            </a:r>
            <a:endParaRPr lang="en-US" altLang="zh-CN" sz="2000" b="1">
              <a:solidFill>
                <a:srgbClr val="3D77FF"/>
              </a:solidFill>
              <a:latin typeface="微软雅黑" panose="020B0503020204020204" charset="-122"/>
              <a:ea typeface="微软雅黑" panose="020B0503020204020204" charset="-122"/>
              <a:cs typeface="微软雅黑" panose="020B0503020204020204" charset="-122"/>
              <a:sym typeface="可画耀动黑-简" panose="020B0500000000000000" charset="-122"/>
            </a:endParaRPr>
          </a:p>
          <a:p>
            <a:pPr algn="l">
              <a:lnSpc>
                <a:spcPts val="5060"/>
              </a:lnSpc>
            </a:pPr>
            <a:endParaRPr lang="zh-CN" altLang="en-US" sz="2000" b="1">
              <a:solidFill>
                <a:srgbClr val="3D77FF"/>
              </a:solidFill>
              <a:latin typeface="微软雅黑" panose="020B0503020204020204" charset="-122"/>
              <a:ea typeface="微软雅黑" panose="020B0503020204020204" charset="-122"/>
              <a:cs typeface="微软雅黑" panose="020B0503020204020204" charset="-122"/>
              <a:sym typeface="可画耀动黑-简" panose="020B0500000000000000" charset="-122"/>
            </a:endParaRPr>
          </a:p>
        </p:txBody>
      </p:sp>
      <p:sp>
        <p:nvSpPr>
          <p:cNvPr id="36" name="AutoShape 13"/>
          <p:cNvSpPr/>
          <p:nvPr/>
        </p:nvSpPr>
        <p:spPr>
          <a:xfrm flipV="1">
            <a:off x="1295400" y="2857500"/>
            <a:ext cx="3947795" cy="23495"/>
          </a:xfrm>
          <a:prstGeom prst="line">
            <a:avLst/>
          </a:prstGeom>
          <a:ln w="19050" cap="rnd">
            <a:gradFill>
              <a:gsLst>
                <a:gs pos="0">
                  <a:srgbClr val="15B5FC">
                    <a:alpha val="100000"/>
                  </a:srgbClr>
                </a:gs>
                <a:gs pos="100000">
                  <a:srgbClr val="3D77FF">
                    <a:alpha val="100000"/>
                  </a:srgbClr>
                </a:gs>
              </a:gsLst>
              <a:lin ang="0"/>
            </a:gradFill>
            <a:prstDash val="solid"/>
            <a:headEnd type="none" w="sm" len="sm"/>
            <a:tailEnd type="none" w="sm" len="sm"/>
          </a:ln>
        </p:spPr>
      </p:sp>
      <p:grpSp>
        <p:nvGrpSpPr>
          <p:cNvPr id="55" name="Group 46"/>
          <p:cNvGrpSpPr/>
          <p:nvPr/>
        </p:nvGrpSpPr>
        <p:grpSpPr>
          <a:xfrm rot="0">
            <a:off x="1391080" y="3207385"/>
            <a:ext cx="1639893" cy="431664"/>
            <a:chOff x="0" y="0"/>
            <a:chExt cx="910909" cy="239776"/>
          </a:xfrm>
        </p:grpSpPr>
        <p:sp>
          <p:nvSpPr>
            <p:cNvPr id="56" name="Freeform 47"/>
            <p:cNvSpPr/>
            <p:nvPr/>
          </p:nvSpPr>
          <p:spPr>
            <a:xfrm>
              <a:off x="0" y="0"/>
              <a:ext cx="910909" cy="239776"/>
            </a:xfrm>
            <a:custGeom>
              <a:avLst/>
              <a:gdLst/>
              <a:ahLst/>
              <a:cxnLst/>
              <a:rect l="l" t="t" r="r" b="b"/>
              <a:pathLst>
                <a:path w="910909" h="239776">
                  <a:moveTo>
                    <a:pt x="119888" y="0"/>
                  </a:moveTo>
                  <a:lnTo>
                    <a:pt x="791021" y="0"/>
                  </a:lnTo>
                  <a:cubicBezTo>
                    <a:pt x="857233" y="0"/>
                    <a:pt x="910909" y="53676"/>
                    <a:pt x="910909" y="119888"/>
                  </a:cubicBezTo>
                  <a:lnTo>
                    <a:pt x="910909" y="119888"/>
                  </a:lnTo>
                  <a:cubicBezTo>
                    <a:pt x="910909" y="186100"/>
                    <a:pt x="857233" y="239776"/>
                    <a:pt x="791021" y="239776"/>
                  </a:cubicBezTo>
                  <a:lnTo>
                    <a:pt x="119888" y="239776"/>
                  </a:lnTo>
                  <a:cubicBezTo>
                    <a:pt x="53676" y="239776"/>
                    <a:pt x="0" y="186100"/>
                    <a:pt x="0" y="119888"/>
                  </a:cubicBezTo>
                  <a:lnTo>
                    <a:pt x="0" y="119888"/>
                  </a:lnTo>
                  <a:cubicBezTo>
                    <a:pt x="0" y="53676"/>
                    <a:pt x="53676" y="0"/>
                    <a:pt x="119888" y="0"/>
                  </a:cubicBezTo>
                  <a:close/>
                </a:path>
              </a:pathLst>
            </a:custGeom>
            <a:gradFill rotWithShape="1">
              <a:gsLst>
                <a:gs pos="0">
                  <a:srgbClr val="15B5FC">
                    <a:alpha val="100000"/>
                  </a:srgbClr>
                </a:gs>
                <a:gs pos="100000">
                  <a:srgbClr val="3D77FF">
                    <a:alpha val="100000"/>
                  </a:srgbClr>
                </a:gs>
              </a:gsLst>
              <a:lin ang="2700000"/>
            </a:gradFill>
          </p:spPr>
        </p:sp>
        <p:sp>
          <p:nvSpPr>
            <p:cNvPr id="57" name="TextBox 48"/>
            <p:cNvSpPr txBox="1"/>
            <p:nvPr/>
          </p:nvSpPr>
          <p:spPr>
            <a:xfrm>
              <a:off x="0" y="-28575"/>
              <a:ext cx="910909" cy="268351"/>
            </a:xfrm>
            <a:prstGeom prst="rect">
              <a:avLst/>
            </a:prstGeom>
          </p:spPr>
          <p:txBody>
            <a:bodyPr lIns="43752" tIns="43752" rIns="43752" bIns="43752" rtlCol="0" anchor="ctr"/>
            <a:lstStyle/>
            <a:p>
              <a:pPr algn="ctr">
                <a:lnSpc>
                  <a:spcPts val="2660"/>
                </a:lnSpc>
              </a:pPr>
            </a:p>
          </p:txBody>
        </p:sp>
      </p:grpSp>
      <p:sp>
        <p:nvSpPr>
          <p:cNvPr id="58" name="TextBox 49"/>
          <p:cNvSpPr txBox="1"/>
          <p:nvPr/>
        </p:nvSpPr>
        <p:spPr>
          <a:xfrm>
            <a:off x="1523727" y="3238268"/>
            <a:ext cx="1374599" cy="324485"/>
          </a:xfrm>
          <a:prstGeom prst="rect">
            <a:avLst/>
          </a:prstGeom>
        </p:spPr>
        <p:txBody>
          <a:bodyPr lIns="0" tIns="0" rIns="0" bIns="0" rtlCol="0" anchor="t">
            <a:spAutoFit/>
          </a:bodyPr>
          <a:lstStyle/>
          <a:p>
            <a:pPr algn="ctr">
              <a:lnSpc>
                <a:spcPts val="2535"/>
              </a:lnSpc>
            </a:pPr>
            <a:r>
              <a:rPr lang="zh-CN" altLang="en-US" sz="2400" b="1">
                <a:solidFill>
                  <a:srgbClr val="FFFF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rPr>
              <a:t>优势</a:t>
            </a:r>
            <a:endParaRPr lang="zh-CN" altLang="en-US" sz="2400" b="1">
              <a:solidFill>
                <a:srgbClr val="FFFF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endParaRPr>
          </a:p>
        </p:txBody>
      </p:sp>
      <p:sp>
        <p:nvSpPr>
          <p:cNvPr id="59" name="TextBox 50"/>
          <p:cNvSpPr txBox="1"/>
          <p:nvPr/>
        </p:nvSpPr>
        <p:spPr>
          <a:xfrm>
            <a:off x="3215005" y="3009900"/>
            <a:ext cx="2958465" cy="825500"/>
          </a:xfrm>
          <a:prstGeom prst="rect">
            <a:avLst/>
          </a:prstGeom>
        </p:spPr>
        <p:txBody>
          <a:bodyPr lIns="0" tIns="0" rIns="0" bIns="0" rtlCol="0" anchor="t">
            <a:noAutofit/>
          </a:bodyPr>
          <a:lstStyle/>
          <a:p>
            <a:pPr algn="l">
              <a:lnSpc>
                <a:spcPts val="2520"/>
              </a:lnSpc>
            </a:pPr>
            <a:r>
              <a:rPr lang="zh-CN" altLang="en-US" sz="1800" b="1">
                <a:solidFill>
                  <a:srgbClr val="000000"/>
                </a:solidFill>
                <a:latin typeface="微软雅黑" panose="020B0503020204020204" charset="-122"/>
                <a:ea typeface="微软雅黑" panose="020B0503020204020204" charset="-122"/>
                <a:cs typeface="思源黑体" panose="020B0500000000000000" charset="-122"/>
                <a:sym typeface="思源黑体" panose="020B0500000000000000" charset="-122"/>
              </a:rPr>
              <a:t>强大的云端数据分析能力，丰富的可视化图表库，广泛的市场认可度。</a:t>
            </a:r>
            <a:endParaRPr lang="zh-CN" altLang="en-US" sz="1800" b="1">
              <a:solidFill>
                <a:srgbClr val="000000"/>
              </a:solidFill>
              <a:latin typeface="微软雅黑" panose="020B0503020204020204" charset="-122"/>
              <a:ea typeface="微软雅黑" panose="020B0503020204020204" charset="-122"/>
              <a:cs typeface="思源黑体" panose="020B0500000000000000" charset="-122"/>
              <a:sym typeface="思源黑体" panose="020B0500000000000000" charset="-122"/>
            </a:endParaRPr>
          </a:p>
          <a:p>
            <a:pPr algn="l">
              <a:lnSpc>
                <a:spcPts val="2520"/>
              </a:lnSpc>
            </a:pPr>
            <a:endParaRPr lang="zh-CN" altLang="en-US" sz="1800" b="1">
              <a:solidFill>
                <a:srgbClr val="000000"/>
              </a:solidFill>
              <a:latin typeface="微软雅黑" panose="020B0503020204020204" charset="-122"/>
              <a:ea typeface="微软雅黑" panose="020B0503020204020204" charset="-122"/>
              <a:cs typeface="思源黑体" panose="020B0500000000000000" charset="-122"/>
              <a:sym typeface="思源黑体" panose="020B0500000000000000" charset="-122"/>
            </a:endParaRPr>
          </a:p>
        </p:txBody>
      </p:sp>
      <p:sp>
        <p:nvSpPr>
          <p:cNvPr id="60" name="AutoShape 51"/>
          <p:cNvSpPr/>
          <p:nvPr/>
        </p:nvSpPr>
        <p:spPr>
          <a:xfrm flipV="1">
            <a:off x="1581150" y="4076700"/>
            <a:ext cx="4281170" cy="38100"/>
          </a:xfrm>
          <a:prstGeom prst="line">
            <a:avLst/>
          </a:prstGeom>
          <a:ln w="19050" cap="flat">
            <a:gradFill>
              <a:gsLst>
                <a:gs pos="0">
                  <a:srgbClr val="15B5FC">
                    <a:alpha val="51000"/>
                  </a:srgbClr>
                </a:gs>
                <a:gs pos="100000">
                  <a:srgbClr val="3D77FF">
                    <a:alpha val="51000"/>
                  </a:srgbClr>
                </a:gs>
              </a:gsLst>
              <a:lin ang="2700000"/>
            </a:gradFill>
            <a:prstDash val="sysDash"/>
            <a:headEnd type="none" w="sm" len="sm"/>
            <a:tailEnd type="none" w="sm" len="sm"/>
          </a:ln>
        </p:spPr>
      </p:sp>
      <p:grpSp>
        <p:nvGrpSpPr>
          <p:cNvPr id="61" name="Group 46"/>
          <p:cNvGrpSpPr/>
          <p:nvPr/>
        </p:nvGrpSpPr>
        <p:grpSpPr>
          <a:xfrm rot="0">
            <a:off x="1385365" y="4227830"/>
            <a:ext cx="1639893" cy="431664"/>
            <a:chOff x="0" y="0"/>
            <a:chExt cx="910909" cy="239776"/>
          </a:xfrm>
        </p:grpSpPr>
        <p:sp>
          <p:nvSpPr>
            <p:cNvPr id="62" name="Freeform 47"/>
            <p:cNvSpPr/>
            <p:nvPr/>
          </p:nvSpPr>
          <p:spPr>
            <a:xfrm>
              <a:off x="0" y="0"/>
              <a:ext cx="910909" cy="239776"/>
            </a:xfrm>
            <a:custGeom>
              <a:avLst/>
              <a:gdLst/>
              <a:ahLst/>
              <a:cxnLst/>
              <a:rect l="l" t="t" r="r" b="b"/>
              <a:pathLst>
                <a:path w="910909" h="239776">
                  <a:moveTo>
                    <a:pt x="119888" y="0"/>
                  </a:moveTo>
                  <a:lnTo>
                    <a:pt x="791021" y="0"/>
                  </a:lnTo>
                  <a:cubicBezTo>
                    <a:pt x="857233" y="0"/>
                    <a:pt x="910909" y="53676"/>
                    <a:pt x="910909" y="119888"/>
                  </a:cubicBezTo>
                  <a:lnTo>
                    <a:pt x="910909" y="119888"/>
                  </a:lnTo>
                  <a:cubicBezTo>
                    <a:pt x="910909" y="186100"/>
                    <a:pt x="857233" y="239776"/>
                    <a:pt x="791021" y="239776"/>
                  </a:cubicBezTo>
                  <a:lnTo>
                    <a:pt x="119888" y="239776"/>
                  </a:lnTo>
                  <a:cubicBezTo>
                    <a:pt x="53676" y="239776"/>
                    <a:pt x="0" y="186100"/>
                    <a:pt x="0" y="119888"/>
                  </a:cubicBezTo>
                  <a:lnTo>
                    <a:pt x="0" y="119888"/>
                  </a:lnTo>
                  <a:cubicBezTo>
                    <a:pt x="0" y="53676"/>
                    <a:pt x="53676" y="0"/>
                    <a:pt x="119888" y="0"/>
                  </a:cubicBezTo>
                  <a:close/>
                </a:path>
              </a:pathLst>
            </a:custGeom>
            <a:gradFill rotWithShape="1">
              <a:gsLst>
                <a:gs pos="0">
                  <a:srgbClr val="15B5FC">
                    <a:alpha val="100000"/>
                  </a:srgbClr>
                </a:gs>
                <a:gs pos="100000">
                  <a:srgbClr val="3D77FF">
                    <a:alpha val="100000"/>
                  </a:srgbClr>
                </a:gs>
              </a:gsLst>
              <a:lin ang="2700000"/>
            </a:gradFill>
          </p:spPr>
        </p:sp>
        <p:sp>
          <p:nvSpPr>
            <p:cNvPr id="87" name="TextBox 48"/>
            <p:cNvSpPr txBox="1"/>
            <p:nvPr/>
          </p:nvSpPr>
          <p:spPr>
            <a:xfrm>
              <a:off x="0" y="-28575"/>
              <a:ext cx="910909" cy="268351"/>
            </a:xfrm>
            <a:prstGeom prst="rect">
              <a:avLst/>
            </a:prstGeom>
          </p:spPr>
          <p:txBody>
            <a:bodyPr lIns="43752" tIns="43752" rIns="43752" bIns="43752" rtlCol="0" anchor="ctr"/>
            <a:lstStyle/>
            <a:p>
              <a:pPr algn="ctr">
                <a:lnSpc>
                  <a:spcPts val="2660"/>
                </a:lnSpc>
              </a:pPr>
            </a:p>
          </p:txBody>
        </p:sp>
      </p:grpSp>
      <p:sp>
        <p:nvSpPr>
          <p:cNvPr id="88" name="TextBox 49"/>
          <p:cNvSpPr txBox="1"/>
          <p:nvPr/>
        </p:nvSpPr>
        <p:spPr>
          <a:xfrm>
            <a:off x="1518012" y="4258713"/>
            <a:ext cx="1374599" cy="324485"/>
          </a:xfrm>
          <a:prstGeom prst="rect">
            <a:avLst/>
          </a:prstGeom>
        </p:spPr>
        <p:txBody>
          <a:bodyPr lIns="0" tIns="0" rIns="0" bIns="0" rtlCol="0" anchor="t">
            <a:spAutoFit/>
          </a:bodyPr>
          <a:lstStyle/>
          <a:p>
            <a:pPr algn="ctr">
              <a:lnSpc>
                <a:spcPts val="2535"/>
              </a:lnSpc>
            </a:pPr>
            <a:r>
              <a:rPr lang="zh-CN" altLang="en-US" sz="2400" b="1">
                <a:solidFill>
                  <a:srgbClr val="FFFF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rPr>
              <a:t>局限</a:t>
            </a:r>
            <a:endParaRPr lang="zh-CN" altLang="en-US" sz="2400" b="1">
              <a:solidFill>
                <a:srgbClr val="FFFF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endParaRPr>
          </a:p>
        </p:txBody>
      </p:sp>
      <p:sp>
        <p:nvSpPr>
          <p:cNvPr id="89" name="TextBox 50"/>
          <p:cNvSpPr txBox="1"/>
          <p:nvPr/>
        </p:nvSpPr>
        <p:spPr>
          <a:xfrm>
            <a:off x="3215005" y="4152900"/>
            <a:ext cx="2775585" cy="975360"/>
          </a:xfrm>
          <a:prstGeom prst="rect">
            <a:avLst/>
          </a:prstGeom>
        </p:spPr>
        <p:txBody>
          <a:bodyPr lIns="0" tIns="0" rIns="0" bIns="0" rtlCol="0" anchor="t">
            <a:noAutofit/>
          </a:bodyPr>
          <a:lstStyle/>
          <a:p>
            <a:pPr algn="l">
              <a:lnSpc>
                <a:spcPts val="2520"/>
              </a:lnSpc>
            </a:pPr>
            <a:r>
              <a:rPr lang="zh-CN" altLang="en-US" sz="1800" b="1">
                <a:solidFill>
                  <a:srgbClr val="000000"/>
                </a:solidFill>
                <a:latin typeface="微软雅黑" panose="020B0503020204020204" charset="-122"/>
                <a:ea typeface="微软雅黑" panose="020B0503020204020204" charset="-122"/>
                <a:cs typeface="思源黑体" panose="020B0500000000000000" charset="-122"/>
                <a:sym typeface="思源黑体" panose="020B0500000000000000" charset="-122"/>
              </a:rPr>
              <a:t>对本地流处理的支持较弱，高昂的许可费用和复杂的部署配置。</a:t>
            </a:r>
            <a:endParaRPr lang="zh-CN" altLang="en-US" sz="1800" b="1">
              <a:solidFill>
                <a:srgbClr val="000000"/>
              </a:solidFill>
              <a:latin typeface="微软雅黑" panose="020B0503020204020204" charset="-122"/>
              <a:ea typeface="微软雅黑" panose="020B0503020204020204" charset="-122"/>
              <a:cs typeface="思源黑体" panose="020B0500000000000000" charset="-122"/>
              <a:sym typeface="思源黑体" panose="020B0500000000000000" charset="-122"/>
            </a:endParaRPr>
          </a:p>
          <a:p>
            <a:pPr algn="l">
              <a:lnSpc>
                <a:spcPts val="2520"/>
              </a:lnSpc>
            </a:pPr>
            <a:endParaRPr lang="zh-CN" altLang="en-US" sz="1800" b="1">
              <a:solidFill>
                <a:srgbClr val="000000"/>
              </a:solidFill>
              <a:latin typeface="微软雅黑" panose="020B0503020204020204" charset="-122"/>
              <a:ea typeface="微软雅黑" panose="020B0503020204020204" charset="-122"/>
              <a:cs typeface="思源黑体" panose="020B0500000000000000" charset="-122"/>
              <a:sym typeface="思源黑体" panose="020B0500000000000000" charset="-122"/>
            </a:endParaRPr>
          </a:p>
        </p:txBody>
      </p:sp>
      <p:sp>
        <p:nvSpPr>
          <p:cNvPr id="90" name="AutoShape 51"/>
          <p:cNvSpPr/>
          <p:nvPr/>
        </p:nvSpPr>
        <p:spPr>
          <a:xfrm flipV="1">
            <a:off x="1447800" y="5128260"/>
            <a:ext cx="4281170" cy="38100"/>
          </a:xfrm>
          <a:prstGeom prst="line">
            <a:avLst/>
          </a:prstGeom>
          <a:ln w="19050" cap="flat">
            <a:gradFill>
              <a:gsLst>
                <a:gs pos="0">
                  <a:srgbClr val="15B5FC">
                    <a:alpha val="51000"/>
                  </a:srgbClr>
                </a:gs>
                <a:gs pos="100000">
                  <a:srgbClr val="3D77FF">
                    <a:alpha val="51000"/>
                  </a:srgbClr>
                </a:gs>
              </a:gsLst>
              <a:lin ang="2700000"/>
            </a:gradFill>
            <a:prstDash val="sysDash"/>
            <a:headEnd type="none" w="sm" len="sm"/>
            <a:tailEnd type="none" w="sm" len="sm"/>
          </a:ln>
        </p:spPr>
      </p:sp>
      <p:sp>
        <p:nvSpPr>
          <p:cNvPr id="91" name="TextBox 14"/>
          <p:cNvSpPr txBox="1"/>
          <p:nvPr/>
        </p:nvSpPr>
        <p:spPr>
          <a:xfrm>
            <a:off x="7103745" y="2171700"/>
            <a:ext cx="4952365" cy="673100"/>
          </a:xfrm>
          <a:prstGeom prst="rect">
            <a:avLst/>
          </a:prstGeom>
        </p:spPr>
        <p:txBody>
          <a:bodyPr wrap="square" lIns="0" tIns="0" rIns="0" bIns="0" rtlCol="0" anchor="t">
            <a:noAutofit/>
          </a:bodyPr>
          <a:lstStyle/>
          <a:p>
            <a:pPr algn="l">
              <a:lnSpc>
                <a:spcPts val="5060"/>
              </a:lnSpc>
            </a:pPr>
            <a:r>
              <a:rPr lang="zh-CN" altLang="en-US" sz="2000" b="1">
                <a:solidFill>
                  <a:srgbClr val="3D77FF"/>
                </a:solidFill>
                <a:latin typeface="微软雅黑" panose="020B0503020204020204" charset="-122"/>
                <a:ea typeface="微软雅黑" panose="020B0503020204020204" charset="-122"/>
                <a:cs typeface="微软雅黑" panose="020B0503020204020204" charset="-122"/>
                <a:sym typeface="可画耀动黑-简" panose="020B0500000000000000" charset="-122"/>
              </a:rPr>
              <a:t>国内开源项目：</a:t>
            </a:r>
            <a:r>
              <a:rPr lang="en-US" altLang="zh-CN" sz="2000" b="1">
                <a:solidFill>
                  <a:srgbClr val="3D77FF"/>
                </a:solidFill>
                <a:latin typeface="微软雅黑" panose="020B0503020204020204" charset="-122"/>
                <a:ea typeface="微软雅黑" panose="020B0503020204020204" charset="-122"/>
                <a:cs typeface="微软雅黑" panose="020B0503020204020204" charset="-122"/>
                <a:sym typeface="可画耀动黑-简" panose="020B0500000000000000" charset="-122"/>
              </a:rPr>
              <a:t>ECharts / AntV</a:t>
            </a:r>
            <a:endParaRPr lang="en-US" altLang="zh-CN" sz="2000" b="1">
              <a:solidFill>
                <a:srgbClr val="3D77FF"/>
              </a:solidFill>
              <a:latin typeface="微软雅黑" panose="020B0503020204020204" charset="-122"/>
              <a:ea typeface="微软雅黑" panose="020B0503020204020204" charset="-122"/>
              <a:cs typeface="微软雅黑" panose="020B0503020204020204" charset="-122"/>
              <a:sym typeface="可画耀动黑-简" panose="020B0500000000000000" charset="-122"/>
            </a:endParaRPr>
          </a:p>
          <a:p>
            <a:pPr algn="l">
              <a:lnSpc>
                <a:spcPts val="5060"/>
              </a:lnSpc>
            </a:pPr>
            <a:endParaRPr lang="en-US" altLang="zh-CN" sz="2400">
              <a:solidFill>
                <a:srgbClr val="3D77FF"/>
              </a:solidFill>
              <a:latin typeface="微软雅黑" panose="020B0503020204020204" charset="-122"/>
              <a:ea typeface="微软雅黑" panose="020B0503020204020204" charset="-122"/>
              <a:cs typeface="微软雅黑" panose="020B0503020204020204" charset="-122"/>
              <a:sym typeface="可画耀动黑-简" panose="020B0500000000000000" charset="-122"/>
            </a:endParaRPr>
          </a:p>
          <a:p>
            <a:pPr algn="l">
              <a:lnSpc>
                <a:spcPts val="5060"/>
              </a:lnSpc>
            </a:pPr>
            <a:endParaRPr lang="zh-CN" altLang="en-US" sz="2400">
              <a:solidFill>
                <a:srgbClr val="3D77FF"/>
              </a:solidFill>
              <a:latin typeface="微软雅黑" panose="020B0503020204020204" charset="-122"/>
              <a:ea typeface="微软雅黑" panose="020B0503020204020204" charset="-122"/>
              <a:cs typeface="微软雅黑" panose="020B0503020204020204" charset="-122"/>
              <a:sym typeface="可画耀动黑-简" panose="020B0500000000000000" charset="-122"/>
            </a:endParaRPr>
          </a:p>
        </p:txBody>
      </p:sp>
      <p:sp>
        <p:nvSpPr>
          <p:cNvPr id="92" name="AutoShape 13"/>
          <p:cNvSpPr/>
          <p:nvPr/>
        </p:nvSpPr>
        <p:spPr>
          <a:xfrm flipV="1">
            <a:off x="7066915" y="2857500"/>
            <a:ext cx="3947795" cy="23495"/>
          </a:xfrm>
          <a:prstGeom prst="line">
            <a:avLst/>
          </a:prstGeom>
          <a:ln w="19050" cap="rnd">
            <a:gradFill>
              <a:gsLst>
                <a:gs pos="0">
                  <a:srgbClr val="15B5FC">
                    <a:alpha val="100000"/>
                  </a:srgbClr>
                </a:gs>
                <a:gs pos="100000">
                  <a:srgbClr val="3D77FF">
                    <a:alpha val="100000"/>
                  </a:srgbClr>
                </a:gs>
              </a:gsLst>
              <a:lin ang="0"/>
            </a:gradFill>
            <a:prstDash val="solid"/>
            <a:headEnd type="none" w="sm" len="sm"/>
            <a:tailEnd type="none" w="sm" len="sm"/>
          </a:ln>
        </p:spPr>
      </p:sp>
      <p:grpSp>
        <p:nvGrpSpPr>
          <p:cNvPr id="93" name="Group 46"/>
          <p:cNvGrpSpPr/>
          <p:nvPr/>
        </p:nvGrpSpPr>
        <p:grpSpPr>
          <a:xfrm rot="0">
            <a:off x="7162595" y="3207385"/>
            <a:ext cx="1639893" cy="431664"/>
            <a:chOff x="0" y="0"/>
            <a:chExt cx="910909" cy="239776"/>
          </a:xfrm>
        </p:grpSpPr>
        <p:sp>
          <p:nvSpPr>
            <p:cNvPr id="94" name="Freeform 47"/>
            <p:cNvSpPr/>
            <p:nvPr/>
          </p:nvSpPr>
          <p:spPr>
            <a:xfrm>
              <a:off x="0" y="0"/>
              <a:ext cx="910909" cy="239776"/>
            </a:xfrm>
            <a:custGeom>
              <a:avLst/>
              <a:gdLst/>
              <a:ahLst/>
              <a:cxnLst/>
              <a:rect l="l" t="t" r="r" b="b"/>
              <a:pathLst>
                <a:path w="910909" h="239776">
                  <a:moveTo>
                    <a:pt x="119888" y="0"/>
                  </a:moveTo>
                  <a:lnTo>
                    <a:pt x="791021" y="0"/>
                  </a:lnTo>
                  <a:cubicBezTo>
                    <a:pt x="857233" y="0"/>
                    <a:pt x="910909" y="53676"/>
                    <a:pt x="910909" y="119888"/>
                  </a:cubicBezTo>
                  <a:lnTo>
                    <a:pt x="910909" y="119888"/>
                  </a:lnTo>
                  <a:cubicBezTo>
                    <a:pt x="910909" y="186100"/>
                    <a:pt x="857233" y="239776"/>
                    <a:pt x="791021" y="239776"/>
                  </a:cubicBezTo>
                  <a:lnTo>
                    <a:pt x="119888" y="239776"/>
                  </a:lnTo>
                  <a:cubicBezTo>
                    <a:pt x="53676" y="239776"/>
                    <a:pt x="0" y="186100"/>
                    <a:pt x="0" y="119888"/>
                  </a:cubicBezTo>
                  <a:lnTo>
                    <a:pt x="0" y="119888"/>
                  </a:lnTo>
                  <a:cubicBezTo>
                    <a:pt x="0" y="53676"/>
                    <a:pt x="53676" y="0"/>
                    <a:pt x="119888" y="0"/>
                  </a:cubicBezTo>
                  <a:close/>
                </a:path>
              </a:pathLst>
            </a:custGeom>
            <a:gradFill rotWithShape="1">
              <a:gsLst>
                <a:gs pos="0">
                  <a:srgbClr val="15B5FC">
                    <a:alpha val="100000"/>
                  </a:srgbClr>
                </a:gs>
                <a:gs pos="100000">
                  <a:srgbClr val="3D77FF">
                    <a:alpha val="100000"/>
                  </a:srgbClr>
                </a:gs>
              </a:gsLst>
              <a:lin ang="2700000"/>
            </a:gradFill>
          </p:spPr>
        </p:sp>
        <p:sp>
          <p:nvSpPr>
            <p:cNvPr id="95" name="TextBox 48"/>
            <p:cNvSpPr txBox="1"/>
            <p:nvPr/>
          </p:nvSpPr>
          <p:spPr>
            <a:xfrm>
              <a:off x="0" y="-28575"/>
              <a:ext cx="910909" cy="268351"/>
            </a:xfrm>
            <a:prstGeom prst="rect">
              <a:avLst/>
            </a:prstGeom>
          </p:spPr>
          <p:txBody>
            <a:bodyPr lIns="43752" tIns="43752" rIns="43752" bIns="43752" rtlCol="0" anchor="ctr"/>
            <a:lstStyle/>
            <a:p>
              <a:pPr algn="ctr">
                <a:lnSpc>
                  <a:spcPts val="2660"/>
                </a:lnSpc>
              </a:pPr>
            </a:p>
          </p:txBody>
        </p:sp>
      </p:grpSp>
      <p:sp>
        <p:nvSpPr>
          <p:cNvPr id="96" name="TextBox 49"/>
          <p:cNvSpPr txBox="1"/>
          <p:nvPr/>
        </p:nvSpPr>
        <p:spPr>
          <a:xfrm>
            <a:off x="7295242" y="3238268"/>
            <a:ext cx="1374599" cy="324485"/>
          </a:xfrm>
          <a:prstGeom prst="rect">
            <a:avLst/>
          </a:prstGeom>
        </p:spPr>
        <p:txBody>
          <a:bodyPr lIns="0" tIns="0" rIns="0" bIns="0" rtlCol="0" anchor="t">
            <a:spAutoFit/>
          </a:bodyPr>
          <a:lstStyle/>
          <a:p>
            <a:pPr algn="ctr">
              <a:lnSpc>
                <a:spcPts val="2535"/>
              </a:lnSpc>
            </a:pPr>
            <a:r>
              <a:rPr lang="zh-CN" altLang="en-US" sz="2400" b="1">
                <a:solidFill>
                  <a:srgbClr val="FFFF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rPr>
              <a:t>优势</a:t>
            </a:r>
            <a:endParaRPr lang="zh-CN" altLang="en-US" sz="2400" b="1">
              <a:solidFill>
                <a:srgbClr val="FFFF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endParaRPr>
          </a:p>
        </p:txBody>
      </p:sp>
      <p:sp>
        <p:nvSpPr>
          <p:cNvPr id="97" name="TextBox 50"/>
          <p:cNvSpPr txBox="1"/>
          <p:nvPr/>
        </p:nvSpPr>
        <p:spPr>
          <a:xfrm>
            <a:off x="8958580" y="3009900"/>
            <a:ext cx="2914015" cy="1041400"/>
          </a:xfrm>
          <a:prstGeom prst="rect">
            <a:avLst/>
          </a:prstGeom>
        </p:spPr>
        <p:txBody>
          <a:bodyPr lIns="0" tIns="0" rIns="0" bIns="0" rtlCol="0" anchor="t">
            <a:noAutofit/>
          </a:bodyPr>
          <a:lstStyle/>
          <a:p>
            <a:pPr algn="l">
              <a:lnSpc>
                <a:spcPts val="2520"/>
              </a:lnSpc>
            </a:pPr>
            <a:r>
              <a:rPr lang="zh-CN" altLang="en-US" sz="1800" b="1">
                <a:solidFill>
                  <a:srgbClr val="000000"/>
                </a:solidFill>
                <a:latin typeface="微软雅黑" panose="020B0503020204020204" charset="-122"/>
                <a:ea typeface="微软雅黑" panose="020B0503020204020204" charset="-122"/>
                <a:cs typeface="思源黑体" panose="020B0500000000000000" charset="-122"/>
                <a:sym typeface="思源黑体" panose="020B0500000000000000" charset="-122"/>
              </a:rPr>
              <a:t>在可视化领域表现突出，提供丰富灵活的图表组件，社区活跃，免费使用。</a:t>
            </a:r>
            <a:endParaRPr lang="zh-CN" altLang="en-US" sz="1800" b="1">
              <a:solidFill>
                <a:srgbClr val="000000"/>
              </a:solidFill>
              <a:latin typeface="微软雅黑" panose="020B0503020204020204" charset="-122"/>
              <a:ea typeface="微软雅黑" panose="020B0503020204020204" charset="-122"/>
              <a:cs typeface="思源黑体" panose="020B0500000000000000" charset="-122"/>
              <a:sym typeface="思源黑体" panose="020B0500000000000000" charset="-122"/>
            </a:endParaRPr>
          </a:p>
          <a:p>
            <a:pPr algn="l">
              <a:lnSpc>
                <a:spcPts val="2520"/>
              </a:lnSpc>
            </a:pPr>
            <a:endParaRPr lang="zh-CN" altLang="en-US" sz="1800" b="1">
              <a:solidFill>
                <a:srgbClr val="000000"/>
              </a:solidFill>
              <a:latin typeface="微软雅黑" panose="020B0503020204020204" charset="-122"/>
              <a:ea typeface="微软雅黑" panose="020B0503020204020204" charset="-122"/>
              <a:cs typeface="思源黑体" panose="020B0500000000000000" charset="-122"/>
              <a:sym typeface="思源黑体" panose="020B0500000000000000" charset="-122"/>
            </a:endParaRPr>
          </a:p>
        </p:txBody>
      </p:sp>
      <p:sp>
        <p:nvSpPr>
          <p:cNvPr id="98" name="AutoShape 51"/>
          <p:cNvSpPr/>
          <p:nvPr/>
        </p:nvSpPr>
        <p:spPr>
          <a:xfrm flipV="1">
            <a:off x="7162800" y="4076700"/>
            <a:ext cx="4281170" cy="38100"/>
          </a:xfrm>
          <a:prstGeom prst="line">
            <a:avLst/>
          </a:prstGeom>
          <a:ln w="19050" cap="flat">
            <a:gradFill>
              <a:gsLst>
                <a:gs pos="0">
                  <a:srgbClr val="15B5FC">
                    <a:alpha val="51000"/>
                  </a:srgbClr>
                </a:gs>
                <a:gs pos="100000">
                  <a:srgbClr val="3D77FF">
                    <a:alpha val="51000"/>
                  </a:srgbClr>
                </a:gs>
              </a:gsLst>
              <a:lin ang="2700000"/>
            </a:gradFill>
            <a:prstDash val="sysDash"/>
            <a:headEnd type="none" w="sm" len="sm"/>
            <a:tailEnd type="none" w="sm" len="sm"/>
          </a:ln>
        </p:spPr>
      </p:sp>
      <p:grpSp>
        <p:nvGrpSpPr>
          <p:cNvPr id="99" name="Group 46"/>
          <p:cNvGrpSpPr/>
          <p:nvPr/>
        </p:nvGrpSpPr>
        <p:grpSpPr>
          <a:xfrm rot="0">
            <a:off x="7156880" y="4227830"/>
            <a:ext cx="1639893" cy="431664"/>
            <a:chOff x="0" y="0"/>
            <a:chExt cx="910909" cy="239776"/>
          </a:xfrm>
        </p:grpSpPr>
        <p:sp>
          <p:nvSpPr>
            <p:cNvPr id="100" name="Freeform 47"/>
            <p:cNvSpPr/>
            <p:nvPr/>
          </p:nvSpPr>
          <p:spPr>
            <a:xfrm>
              <a:off x="0" y="0"/>
              <a:ext cx="910909" cy="239776"/>
            </a:xfrm>
            <a:custGeom>
              <a:avLst/>
              <a:gdLst/>
              <a:ahLst/>
              <a:cxnLst/>
              <a:rect l="l" t="t" r="r" b="b"/>
              <a:pathLst>
                <a:path w="910909" h="239776">
                  <a:moveTo>
                    <a:pt x="119888" y="0"/>
                  </a:moveTo>
                  <a:lnTo>
                    <a:pt x="791021" y="0"/>
                  </a:lnTo>
                  <a:cubicBezTo>
                    <a:pt x="857233" y="0"/>
                    <a:pt x="910909" y="53676"/>
                    <a:pt x="910909" y="119888"/>
                  </a:cubicBezTo>
                  <a:lnTo>
                    <a:pt x="910909" y="119888"/>
                  </a:lnTo>
                  <a:cubicBezTo>
                    <a:pt x="910909" y="186100"/>
                    <a:pt x="857233" y="239776"/>
                    <a:pt x="791021" y="239776"/>
                  </a:cubicBezTo>
                  <a:lnTo>
                    <a:pt x="119888" y="239776"/>
                  </a:lnTo>
                  <a:cubicBezTo>
                    <a:pt x="53676" y="239776"/>
                    <a:pt x="0" y="186100"/>
                    <a:pt x="0" y="119888"/>
                  </a:cubicBezTo>
                  <a:lnTo>
                    <a:pt x="0" y="119888"/>
                  </a:lnTo>
                  <a:cubicBezTo>
                    <a:pt x="0" y="53676"/>
                    <a:pt x="53676" y="0"/>
                    <a:pt x="119888" y="0"/>
                  </a:cubicBezTo>
                  <a:close/>
                </a:path>
              </a:pathLst>
            </a:custGeom>
            <a:gradFill rotWithShape="1">
              <a:gsLst>
                <a:gs pos="0">
                  <a:srgbClr val="15B5FC">
                    <a:alpha val="100000"/>
                  </a:srgbClr>
                </a:gs>
                <a:gs pos="100000">
                  <a:srgbClr val="3D77FF">
                    <a:alpha val="100000"/>
                  </a:srgbClr>
                </a:gs>
              </a:gsLst>
              <a:lin ang="2700000"/>
            </a:gradFill>
          </p:spPr>
        </p:sp>
        <p:sp>
          <p:nvSpPr>
            <p:cNvPr id="101" name="TextBox 48"/>
            <p:cNvSpPr txBox="1"/>
            <p:nvPr/>
          </p:nvSpPr>
          <p:spPr>
            <a:xfrm>
              <a:off x="0" y="-28575"/>
              <a:ext cx="910909" cy="268351"/>
            </a:xfrm>
            <a:prstGeom prst="rect">
              <a:avLst/>
            </a:prstGeom>
          </p:spPr>
          <p:txBody>
            <a:bodyPr lIns="43752" tIns="43752" rIns="43752" bIns="43752" rtlCol="0" anchor="ctr"/>
            <a:lstStyle/>
            <a:p>
              <a:pPr algn="ctr">
                <a:lnSpc>
                  <a:spcPts val="2660"/>
                </a:lnSpc>
              </a:pPr>
            </a:p>
          </p:txBody>
        </p:sp>
      </p:grpSp>
      <p:sp>
        <p:nvSpPr>
          <p:cNvPr id="102" name="TextBox 49"/>
          <p:cNvSpPr txBox="1"/>
          <p:nvPr/>
        </p:nvSpPr>
        <p:spPr>
          <a:xfrm>
            <a:off x="7289527" y="4258713"/>
            <a:ext cx="1374599" cy="324485"/>
          </a:xfrm>
          <a:prstGeom prst="rect">
            <a:avLst/>
          </a:prstGeom>
        </p:spPr>
        <p:txBody>
          <a:bodyPr lIns="0" tIns="0" rIns="0" bIns="0" rtlCol="0" anchor="t">
            <a:spAutoFit/>
          </a:bodyPr>
          <a:lstStyle/>
          <a:p>
            <a:pPr algn="ctr">
              <a:lnSpc>
                <a:spcPts val="2535"/>
              </a:lnSpc>
            </a:pPr>
            <a:r>
              <a:rPr lang="zh-CN" altLang="en-US" sz="2400" b="1">
                <a:solidFill>
                  <a:srgbClr val="FFFF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rPr>
              <a:t>局限</a:t>
            </a:r>
            <a:endParaRPr lang="zh-CN" altLang="en-US" sz="2400" b="1">
              <a:solidFill>
                <a:srgbClr val="FFFF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endParaRPr>
          </a:p>
        </p:txBody>
      </p:sp>
      <p:sp>
        <p:nvSpPr>
          <p:cNvPr id="103" name="TextBox 50"/>
          <p:cNvSpPr txBox="1"/>
          <p:nvPr/>
        </p:nvSpPr>
        <p:spPr>
          <a:xfrm>
            <a:off x="8906510" y="4176395"/>
            <a:ext cx="3094990" cy="822325"/>
          </a:xfrm>
          <a:prstGeom prst="rect">
            <a:avLst/>
          </a:prstGeom>
        </p:spPr>
        <p:txBody>
          <a:bodyPr lIns="0" tIns="0" rIns="0" bIns="0" rtlCol="0" anchor="t">
            <a:noAutofit/>
          </a:bodyPr>
          <a:lstStyle/>
          <a:p>
            <a:pPr algn="l">
              <a:lnSpc>
                <a:spcPts val="2520"/>
              </a:lnSpc>
            </a:pPr>
            <a:r>
              <a:rPr lang="zh-CN" altLang="en-US" sz="1800" b="1">
                <a:solidFill>
                  <a:srgbClr val="000000"/>
                </a:solidFill>
                <a:latin typeface="微软雅黑" panose="020B0503020204020204" charset="-122"/>
                <a:ea typeface="微软雅黑" panose="020B0503020204020204" charset="-122"/>
                <a:cs typeface="思源黑体" panose="020B0500000000000000" charset="-122"/>
                <a:sym typeface="思源黑体" panose="020B0500000000000000" charset="-122"/>
              </a:rPr>
              <a:t>通常专注于特定可视化功能，缺乏从数据采集到最终诊断的完整生命周期管理。</a:t>
            </a:r>
            <a:endParaRPr lang="zh-CN" altLang="en-US" sz="1800" b="1">
              <a:solidFill>
                <a:srgbClr val="000000"/>
              </a:solidFill>
              <a:latin typeface="微软雅黑" panose="020B0503020204020204" charset="-122"/>
              <a:ea typeface="微软雅黑" panose="020B0503020204020204" charset="-122"/>
              <a:cs typeface="思源黑体" panose="020B0500000000000000" charset="-122"/>
              <a:sym typeface="思源黑体" panose="020B0500000000000000" charset="-122"/>
            </a:endParaRPr>
          </a:p>
          <a:p>
            <a:pPr algn="l">
              <a:lnSpc>
                <a:spcPts val="2520"/>
              </a:lnSpc>
            </a:pPr>
            <a:endParaRPr lang="zh-CN" altLang="en-US" sz="1800" b="1">
              <a:solidFill>
                <a:srgbClr val="000000"/>
              </a:solidFill>
              <a:latin typeface="微软雅黑" panose="020B0503020204020204" charset="-122"/>
              <a:ea typeface="微软雅黑" panose="020B0503020204020204" charset="-122"/>
              <a:cs typeface="思源黑体" panose="020B0500000000000000" charset="-122"/>
              <a:sym typeface="思源黑体" panose="020B0500000000000000" charset="-122"/>
            </a:endParaRPr>
          </a:p>
        </p:txBody>
      </p:sp>
      <p:sp>
        <p:nvSpPr>
          <p:cNvPr id="104" name="AutoShape 51"/>
          <p:cNvSpPr/>
          <p:nvPr/>
        </p:nvSpPr>
        <p:spPr>
          <a:xfrm flipV="1">
            <a:off x="7289800" y="5143500"/>
            <a:ext cx="4281170" cy="38100"/>
          </a:xfrm>
          <a:prstGeom prst="line">
            <a:avLst/>
          </a:prstGeom>
          <a:ln w="19050" cap="flat">
            <a:gradFill>
              <a:gsLst>
                <a:gs pos="0">
                  <a:srgbClr val="15B5FC">
                    <a:alpha val="51000"/>
                  </a:srgbClr>
                </a:gs>
                <a:gs pos="100000">
                  <a:srgbClr val="3D77FF">
                    <a:alpha val="51000"/>
                  </a:srgbClr>
                </a:gs>
              </a:gsLst>
              <a:lin ang="2700000"/>
            </a:gradFill>
            <a:prstDash val="sysDash"/>
            <a:headEnd type="none" w="sm" len="sm"/>
            <a:tailEnd type="none" w="sm" len="sm"/>
          </a:ln>
        </p:spPr>
      </p:sp>
      <p:sp>
        <p:nvSpPr>
          <p:cNvPr id="105" name="TextBox 20"/>
          <p:cNvSpPr txBox="1"/>
          <p:nvPr/>
        </p:nvSpPr>
        <p:spPr>
          <a:xfrm>
            <a:off x="3276600" y="7475855"/>
            <a:ext cx="5276215" cy="387985"/>
          </a:xfrm>
          <a:prstGeom prst="rect">
            <a:avLst/>
          </a:prstGeom>
        </p:spPr>
        <p:txBody>
          <a:bodyPr lIns="0" tIns="0" rIns="0" bIns="0" rtlCol="0" anchor="t">
            <a:noAutofit/>
          </a:bodyPr>
          <a:lstStyle/>
          <a:p>
            <a:pPr algn="l">
              <a:lnSpc>
                <a:spcPts val="2520"/>
              </a:lnSpc>
            </a:pPr>
            <a:r>
              <a:rPr lang="zh-CN" altLang="en-US" sz="2400" b="1">
                <a:solidFill>
                  <a:srgbClr val="FFFFFF"/>
                </a:solidFill>
                <a:latin typeface="微软雅黑" panose="020B0503020204020204" charset="-122"/>
                <a:ea typeface="微软雅黑" panose="020B0503020204020204" charset="-122"/>
                <a:cs typeface="思源黑体" panose="020B0500000000000000" charset="-122"/>
                <a:sym typeface="思源黑体" panose="020B0500000000000000" charset="-122"/>
              </a:rPr>
              <a:t>复杂表单的双向绑定与数据验证</a:t>
            </a:r>
            <a:endParaRPr lang="zh-CN" altLang="en-US" sz="2400" b="1">
              <a:solidFill>
                <a:srgbClr val="FFFFFF"/>
              </a:solidFill>
              <a:latin typeface="微软雅黑" panose="020B0503020204020204" charset="-122"/>
              <a:ea typeface="微软雅黑" panose="020B0503020204020204" charset="-122"/>
              <a:cs typeface="思源黑体" panose="020B0500000000000000" charset="-122"/>
              <a:sym typeface="思源黑体" panose="020B0500000000000000" charset="-122"/>
            </a:endParaRPr>
          </a:p>
        </p:txBody>
      </p:sp>
      <p:pic>
        <p:nvPicPr>
          <p:cNvPr id="145" name="Image 0" descr="preencoded.png"/>
          <p:cNvPicPr>
            <a:picLocks noChangeAspect="1"/>
          </p:cNvPicPr>
          <p:nvPr/>
        </p:nvPicPr>
        <p:blipFill>
          <a:blip r:embed="rId4"/>
          <a:stretch>
            <a:fillRect/>
          </a:stretch>
        </p:blipFill>
        <p:spPr>
          <a:xfrm>
            <a:off x="12268200" y="1866900"/>
            <a:ext cx="457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3810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pic>
        <p:nvPicPr>
          <p:cNvPr id="74" name="图片 73"/>
          <p:cNvPicPr>
            <a:picLocks noChangeAspect="1"/>
          </p:cNvPicPr>
          <p:nvPr/>
        </p:nvPicPr>
        <p:blipFill>
          <a:blip r:embed="rId2"/>
          <a:stretch>
            <a:fillRect/>
          </a:stretch>
        </p:blipFill>
        <p:spPr>
          <a:xfrm>
            <a:off x="10744200" y="4101465"/>
            <a:ext cx="6515100" cy="5723255"/>
          </a:xfrm>
          <a:prstGeom prst="rect">
            <a:avLst/>
          </a:prstGeom>
        </p:spPr>
      </p:pic>
      <p:sp>
        <p:nvSpPr>
          <p:cNvPr id="5" name="Freeform 5"/>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3">
              <a:alphaModFix amt="94000"/>
            </a:blip>
            <a:stretch>
              <a:fillRect l="-2401" r="-16997"/>
            </a:stretch>
          </a:blipFill>
        </p:spPr>
      </p:sp>
      <p:sp>
        <p:nvSpPr>
          <p:cNvPr id="6" name="Freeform 6"/>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4">
              <a:alphaModFix amt="13000"/>
            </a:blip>
            <a:stretch>
              <a:fillRect/>
            </a:stretch>
          </a:blipFill>
          <a:ln cap="sq">
            <a:noFill/>
            <a:prstDash val="solid"/>
            <a:miter/>
          </a:ln>
        </p:spPr>
      </p:sp>
      <p:sp>
        <p:nvSpPr>
          <p:cNvPr id="7" name="TextBox 7"/>
          <p:cNvSpPr txBox="1"/>
          <p:nvPr/>
        </p:nvSpPr>
        <p:spPr>
          <a:xfrm>
            <a:off x="1028700" y="457200"/>
            <a:ext cx="7807960" cy="1076960"/>
          </a:xfrm>
          <a:prstGeom prst="rect">
            <a:avLst/>
          </a:prstGeom>
        </p:spPr>
        <p:txBody>
          <a:bodyPr wrap="square" lIns="0" tIns="0" rIns="0" bIns="0" rtlCol="0" anchor="t">
            <a:spAutoFit/>
          </a:bodyPr>
          <a:lstStyle/>
          <a:p>
            <a:pPr algn="l">
              <a:lnSpc>
                <a:spcPts val="8400"/>
              </a:lnSpc>
            </a:pPr>
            <a:r>
              <a:rPr lang="en-US" sz="6000" spc="300">
                <a:solidFill>
                  <a:srgbClr val="3B64C9"/>
                </a:solidFill>
                <a:latin typeface="思源宋体-超粗体" panose="02020900000000000000" charset="-122"/>
                <a:ea typeface="思源宋体-超粗体" panose="02020900000000000000" charset="-122"/>
                <a:cs typeface="思源宋体-超粗体" panose="02020900000000000000" charset="-122"/>
                <a:sym typeface="思源宋体-超粗体" panose="02020900000000000000" charset="-122"/>
              </a:rPr>
              <a:t>01.</a:t>
            </a:r>
            <a:r>
              <a:rPr lang="zh-CN" altLang="en-US" sz="6000" spc="300">
                <a:solidFill>
                  <a:srgbClr val="3B64C9"/>
                </a:solidFill>
                <a:latin typeface="思源宋体-超粗体" panose="02020900000000000000" charset="-122"/>
                <a:ea typeface="思源宋体-超粗体" panose="02020900000000000000" charset="-122"/>
                <a:cs typeface="思源宋体-超粗体" panose="02020900000000000000" charset="-122"/>
                <a:sym typeface="思源宋体-超粗体" panose="02020900000000000000" charset="-122"/>
              </a:rPr>
              <a:t>研究意义与创新点</a:t>
            </a:r>
            <a:endParaRPr lang="zh-CN" altLang="en-US" sz="6000" spc="300">
              <a:solidFill>
                <a:srgbClr val="3B64C9"/>
              </a:solidFill>
              <a:latin typeface="思源宋体-超粗体" panose="02020900000000000000" charset="-122"/>
              <a:ea typeface="思源宋体-超粗体" panose="02020900000000000000" charset="-122"/>
              <a:cs typeface="思源宋体-超粗体" panose="02020900000000000000" charset="-122"/>
              <a:sym typeface="思源宋体-超粗体" panose="02020900000000000000" charset="-122"/>
            </a:endParaRPr>
          </a:p>
        </p:txBody>
      </p:sp>
      <p:sp>
        <p:nvSpPr>
          <p:cNvPr id="8" name="TextBox 8"/>
          <p:cNvSpPr txBox="1"/>
          <p:nvPr/>
        </p:nvSpPr>
        <p:spPr>
          <a:xfrm>
            <a:off x="13753946" y="872490"/>
            <a:ext cx="3505354" cy="613410"/>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ONE</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pic>
        <p:nvPicPr>
          <p:cNvPr id="12" name="Image 2" descr="preencoded.png"/>
          <p:cNvPicPr>
            <a:picLocks noChangeAspect="1"/>
          </p:cNvPicPr>
          <p:nvPr/>
        </p:nvPicPr>
        <p:blipFill>
          <a:blip r:embed="rId5"/>
          <a:stretch>
            <a:fillRect/>
          </a:stretch>
        </p:blipFill>
        <p:spPr>
          <a:xfrm>
            <a:off x="5079980" y="2197060"/>
            <a:ext cx="338733" cy="338733"/>
          </a:xfrm>
          <a:prstGeom prst="rect">
            <a:avLst/>
          </a:prstGeom>
        </p:spPr>
      </p:pic>
      <p:sp>
        <p:nvSpPr>
          <p:cNvPr id="37" name="Text 19"/>
          <p:cNvSpPr/>
          <p:nvPr/>
        </p:nvSpPr>
        <p:spPr>
          <a:xfrm>
            <a:off x="10896441" y="1485622"/>
            <a:ext cx="3064550" cy="282297"/>
          </a:xfrm>
          <a:prstGeom prst="rect">
            <a:avLst/>
          </a:prstGeom>
          <a:noFill/>
        </p:spPr>
        <p:txBody>
          <a:bodyPr wrap="none" lIns="0" tIns="0" rIns="0" bIns="0" rtlCol="0" anchor="t"/>
          <a:lstStyle/>
          <a:p>
            <a:pPr marL="0" indent="0" algn="l">
              <a:lnSpc>
                <a:spcPts val="2200"/>
              </a:lnSpc>
              <a:buNone/>
            </a:pPr>
            <a:r>
              <a:rPr lang="en-US" sz="2400" dirty="0">
                <a:solidFill>
                  <a:srgbClr val="3257B8"/>
                </a:solidFill>
                <a:latin typeface="微软雅黑" panose="020B0503020204020204" charset="-122"/>
                <a:ea typeface="微软雅黑" panose="020B0503020204020204" charset="-122"/>
                <a:cs typeface="微软雅黑" panose="020B0503020204020204" charset="-122"/>
              </a:rPr>
              <a:t>对比分析：本系统 vs 现有方案</a:t>
            </a:r>
            <a:endParaRPr lang="en-US" sz="2400" dirty="0">
              <a:solidFill>
                <a:srgbClr val="3257B8"/>
              </a:solidFill>
              <a:latin typeface="微软雅黑" panose="020B0503020204020204" charset="-122"/>
              <a:ea typeface="微软雅黑" panose="020B0503020204020204" charset="-122"/>
              <a:cs typeface="微软雅黑" panose="020B0503020204020204" charset="-122"/>
            </a:endParaRPr>
          </a:p>
        </p:txBody>
      </p:sp>
      <p:pic>
        <p:nvPicPr>
          <p:cNvPr id="72" name="图片 71"/>
          <p:cNvPicPr>
            <a:picLocks noChangeAspect="1"/>
          </p:cNvPicPr>
          <p:nvPr/>
        </p:nvPicPr>
        <p:blipFill>
          <a:blip r:embed="rId6"/>
          <a:stretch>
            <a:fillRect/>
          </a:stretch>
        </p:blipFill>
        <p:spPr>
          <a:xfrm>
            <a:off x="1600200" y="2247900"/>
            <a:ext cx="8136255" cy="6883400"/>
          </a:xfrm>
          <a:prstGeom prst="rect">
            <a:avLst/>
          </a:prstGeom>
        </p:spPr>
      </p:pic>
      <p:pic>
        <p:nvPicPr>
          <p:cNvPr id="73" name="图片 72"/>
          <p:cNvPicPr>
            <a:picLocks noChangeAspect="1"/>
          </p:cNvPicPr>
          <p:nvPr/>
        </p:nvPicPr>
        <p:blipFill>
          <a:blip r:embed="rId7"/>
          <a:stretch>
            <a:fillRect/>
          </a:stretch>
        </p:blipFill>
        <p:spPr>
          <a:xfrm>
            <a:off x="10668000" y="1847850"/>
            <a:ext cx="6686550" cy="217360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76200" y="-3810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5" name="Freeform 5"/>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6" name="Freeform 6"/>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sp>
        <p:nvSpPr>
          <p:cNvPr id="7" name="TextBox 7"/>
          <p:cNvSpPr txBox="1"/>
          <p:nvPr/>
        </p:nvSpPr>
        <p:spPr>
          <a:xfrm>
            <a:off x="1028700" y="457200"/>
            <a:ext cx="4776601" cy="1076960"/>
          </a:xfrm>
          <a:prstGeom prst="rect">
            <a:avLst/>
          </a:prstGeom>
        </p:spPr>
        <p:txBody>
          <a:bodyPr lIns="0" tIns="0" rIns="0" bIns="0" rtlCol="0" anchor="t">
            <a:spAutoFit/>
          </a:bodyPr>
          <a:lstStyle/>
          <a:p>
            <a:pPr algn="l">
              <a:lnSpc>
                <a:spcPts val="8400"/>
              </a:lnSpc>
            </a:pPr>
            <a:r>
              <a:rPr 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01.</a:t>
            </a:r>
            <a:r>
              <a:rPr lang="zh-CN" alt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课题目的</a:t>
            </a:r>
            <a:endParaRPr lang="zh-CN" alt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8" name="TextBox 8"/>
          <p:cNvSpPr txBox="1"/>
          <p:nvPr/>
        </p:nvSpPr>
        <p:spPr>
          <a:xfrm>
            <a:off x="13753946" y="872490"/>
            <a:ext cx="3505354" cy="613410"/>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ONE</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grpSp>
        <p:nvGrpSpPr>
          <p:cNvPr id="189" name="Group 5"/>
          <p:cNvGrpSpPr/>
          <p:nvPr/>
        </p:nvGrpSpPr>
        <p:grpSpPr>
          <a:xfrm rot="0">
            <a:off x="1130722" y="4691077"/>
            <a:ext cx="14555896" cy="5058953"/>
            <a:chOff x="0" y="0"/>
            <a:chExt cx="3833652" cy="1332399"/>
          </a:xfrm>
        </p:grpSpPr>
        <p:sp>
          <p:nvSpPr>
            <p:cNvPr id="190" name="Freeform 6"/>
            <p:cNvSpPr/>
            <p:nvPr/>
          </p:nvSpPr>
          <p:spPr>
            <a:xfrm>
              <a:off x="0" y="0"/>
              <a:ext cx="3833652" cy="1332399"/>
            </a:xfrm>
            <a:custGeom>
              <a:avLst/>
              <a:gdLst/>
              <a:ahLst/>
              <a:cxnLst/>
              <a:rect l="l" t="t" r="r" b="b"/>
              <a:pathLst>
                <a:path w="3833652" h="1332399">
                  <a:moveTo>
                    <a:pt x="5851" y="0"/>
                  </a:moveTo>
                  <a:lnTo>
                    <a:pt x="3827801" y="0"/>
                  </a:lnTo>
                  <a:cubicBezTo>
                    <a:pt x="3829353" y="0"/>
                    <a:pt x="3830841" y="616"/>
                    <a:pt x="3831938" y="1714"/>
                  </a:cubicBezTo>
                  <a:cubicBezTo>
                    <a:pt x="3833035" y="2811"/>
                    <a:pt x="3833652" y="4299"/>
                    <a:pt x="3833652" y="5851"/>
                  </a:cubicBezTo>
                  <a:lnTo>
                    <a:pt x="3833652" y="1326548"/>
                  </a:lnTo>
                  <a:cubicBezTo>
                    <a:pt x="3833652" y="1328100"/>
                    <a:pt x="3833035" y="1329588"/>
                    <a:pt x="3831938" y="1330685"/>
                  </a:cubicBezTo>
                  <a:cubicBezTo>
                    <a:pt x="3830841" y="1331783"/>
                    <a:pt x="3829353" y="1332399"/>
                    <a:pt x="3827801" y="1332399"/>
                  </a:cubicBezTo>
                  <a:lnTo>
                    <a:pt x="5851" y="1332399"/>
                  </a:lnTo>
                  <a:cubicBezTo>
                    <a:pt x="4299" y="1332399"/>
                    <a:pt x="2811" y="1331783"/>
                    <a:pt x="1714" y="1330685"/>
                  </a:cubicBezTo>
                  <a:cubicBezTo>
                    <a:pt x="616" y="1329588"/>
                    <a:pt x="0" y="1328100"/>
                    <a:pt x="0" y="1326548"/>
                  </a:cubicBezTo>
                  <a:lnTo>
                    <a:pt x="0" y="5851"/>
                  </a:lnTo>
                  <a:cubicBezTo>
                    <a:pt x="0" y="4299"/>
                    <a:pt x="616" y="2811"/>
                    <a:pt x="1714" y="1714"/>
                  </a:cubicBezTo>
                  <a:cubicBezTo>
                    <a:pt x="2811" y="616"/>
                    <a:pt x="4299" y="0"/>
                    <a:pt x="5851" y="0"/>
                  </a:cubicBezTo>
                  <a:close/>
                </a:path>
              </a:pathLst>
            </a:custGeom>
            <a:gradFill rotWithShape="1">
              <a:gsLst>
                <a:gs pos="0">
                  <a:srgbClr val="15B5FC">
                    <a:alpha val="8000"/>
                  </a:srgbClr>
                </a:gs>
                <a:gs pos="100000">
                  <a:srgbClr val="3D77FF">
                    <a:alpha val="8000"/>
                  </a:srgbClr>
                </a:gs>
              </a:gsLst>
              <a:lin ang="2700000"/>
            </a:gradFill>
            <a:ln cap="sq">
              <a:noFill/>
              <a:prstDash val="solid"/>
              <a:miter/>
            </a:ln>
          </p:spPr>
        </p:sp>
        <p:sp>
          <p:nvSpPr>
            <p:cNvPr id="191" name="TextBox 7"/>
            <p:cNvSpPr txBox="1"/>
            <p:nvPr/>
          </p:nvSpPr>
          <p:spPr>
            <a:xfrm>
              <a:off x="0" y="-38100"/>
              <a:ext cx="3833652" cy="1370499"/>
            </a:xfrm>
            <a:prstGeom prst="rect">
              <a:avLst/>
            </a:prstGeom>
          </p:spPr>
          <p:txBody>
            <a:bodyPr lIns="50800" tIns="50800" rIns="50800" bIns="50800" rtlCol="0" anchor="ctr"/>
            <a:lstStyle/>
            <a:p>
              <a:pPr marL="0" lvl="0" indent="0" algn="ctr">
                <a:lnSpc>
                  <a:spcPts val="2660"/>
                </a:lnSpc>
                <a:spcBef>
                  <a:spcPct val="0"/>
                </a:spcBef>
              </a:pPr>
            </a:p>
          </p:txBody>
        </p:sp>
      </p:grpSp>
      <p:grpSp>
        <p:nvGrpSpPr>
          <p:cNvPr id="192" name="Group 8"/>
          <p:cNvGrpSpPr/>
          <p:nvPr/>
        </p:nvGrpSpPr>
        <p:grpSpPr>
          <a:xfrm rot="0">
            <a:off x="6400556" y="4946374"/>
            <a:ext cx="4548357" cy="4548357"/>
            <a:chOff x="0" y="0"/>
            <a:chExt cx="812800" cy="812800"/>
          </a:xfrm>
        </p:grpSpPr>
        <p:sp>
          <p:nvSpPr>
            <p:cNvPr id="193"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b="-33333"/>
              </a:stretch>
            </a:blipFill>
          </p:spPr>
        </p:sp>
      </p:grpSp>
      <p:sp>
        <p:nvSpPr>
          <p:cNvPr id="194" name="AutoShape 10"/>
          <p:cNvSpPr/>
          <p:nvPr/>
        </p:nvSpPr>
        <p:spPr>
          <a:xfrm>
            <a:off x="1727111" y="6433733"/>
            <a:ext cx="4417975" cy="0"/>
          </a:xfrm>
          <a:prstGeom prst="line">
            <a:avLst/>
          </a:prstGeom>
          <a:ln w="19050" cap="rnd">
            <a:gradFill>
              <a:gsLst>
                <a:gs pos="0">
                  <a:srgbClr val="15B5FC">
                    <a:alpha val="100000"/>
                  </a:srgbClr>
                </a:gs>
                <a:gs pos="100000">
                  <a:srgbClr val="3D77FF">
                    <a:alpha val="100000"/>
                  </a:srgbClr>
                </a:gs>
              </a:gsLst>
              <a:lin ang="0"/>
            </a:gradFill>
            <a:prstDash val="solid"/>
            <a:headEnd type="none" w="sm" len="sm"/>
            <a:tailEnd type="none" w="sm" len="sm"/>
          </a:ln>
        </p:spPr>
      </p:sp>
      <p:grpSp>
        <p:nvGrpSpPr>
          <p:cNvPr id="202" name="Group 18"/>
          <p:cNvGrpSpPr/>
          <p:nvPr/>
        </p:nvGrpSpPr>
        <p:grpSpPr>
          <a:xfrm rot="0">
            <a:off x="2776220" y="2127885"/>
            <a:ext cx="2087245" cy="2137410"/>
            <a:chOff x="0" y="0"/>
            <a:chExt cx="812800" cy="812800"/>
          </a:xfrm>
        </p:grpSpPr>
        <p:sp>
          <p:nvSpPr>
            <p:cNvPr id="203"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1">
              <a:gsLst>
                <a:gs pos="0">
                  <a:srgbClr val="15B5FC">
                    <a:alpha val="100000"/>
                  </a:srgbClr>
                </a:gs>
                <a:gs pos="100000">
                  <a:srgbClr val="3D77FF">
                    <a:alpha val="100000"/>
                  </a:srgbClr>
                </a:gs>
              </a:gsLst>
              <a:lin ang="2700000"/>
            </a:gradFill>
            <a:ln cap="sq">
              <a:noFill/>
              <a:prstDash val="solid"/>
              <a:miter/>
            </a:ln>
          </p:spPr>
        </p:sp>
        <p:sp>
          <p:nvSpPr>
            <p:cNvPr id="204" name="TextBox 20"/>
            <p:cNvSpPr txBox="1"/>
            <p:nvPr/>
          </p:nvSpPr>
          <p:spPr>
            <a:xfrm>
              <a:off x="76200" y="38100"/>
              <a:ext cx="660400" cy="698500"/>
            </a:xfrm>
            <a:prstGeom prst="rect">
              <a:avLst/>
            </a:prstGeom>
          </p:spPr>
          <p:txBody>
            <a:bodyPr lIns="32256" tIns="32256" rIns="32256" bIns="32256" rtlCol="0" anchor="ctr"/>
            <a:lstStyle/>
            <a:p>
              <a:pPr marL="0" lvl="0" indent="0" algn="ctr">
                <a:lnSpc>
                  <a:spcPts val="2660"/>
                </a:lnSpc>
                <a:spcBef>
                  <a:spcPct val="0"/>
                </a:spcBef>
              </a:pPr>
            </a:p>
          </p:txBody>
        </p:sp>
      </p:grpSp>
      <p:sp>
        <p:nvSpPr>
          <p:cNvPr id="214" name="AutoShape 30"/>
          <p:cNvSpPr/>
          <p:nvPr/>
        </p:nvSpPr>
        <p:spPr>
          <a:xfrm>
            <a:off x="11049244" y="7582043"/>
            <a:ext cx="4417975" cy="0"/>
          </a:xfrm>
          <a:prstGeom prst="line">
            <a:avLst/>
          </a:prstGeom>
          <a:ln w="19050" cap="rnd">
            <a:gradFill>
              <a:gsLst>
                <a:gs pos="0">
                  <a:srgbClr val="15B5FC">
                    <a:alpha val="100000"/>
                  </a:srgbClr>
                </a:gs>
                <a:gs pos="100000">
                  <a:srgbClr val="3D77FF">
                    <a:alpha val="100000"/>
                  </a:srgbClr>
                </a:gs>
              </a:gsLst>
              <a:lin ang="0"/>
            </a:gradFill>
            <a:prstDash val="solid"/>
            <a:headEnd type="none" w="sm" len="sm"/>
            <a:tailEnd type="none" w="sm" len="sm"/>
          </a:ln>
        </p:spPr>
      </p:sp>
      <p:grpSp>
        <p:nvGrpSpPr>
          <p:cNvPr id="215" name="Group 31"/>
          <p:cNvGrpSpPr/>
          <p:nvPr/>
        </p:nvGrpSpPr>
        <p:grpSpPr>
          <a:xfrm rot="0">
            <a:off x="11049244" y="7869413"/>
            <a:ext cx="2059641" cy="431664"/>
            <a:chOff x="0" y="0"/>
            <a:chExt cx="1144066" cy="239776"/>
          </a:xfrm>
        </p:grpSpPr>
        <p:sp>
          <p:nvSpPr>
            <p:cNvPr id="216" name="Freeform 32"/>
            <p:cNvSpPr/>
            <p:nvPr/>
          </p:nvSpPr>
          <p:spPr>
            <a:xfrm>
              <a:off x="0" y="0"/>
              <a:ext cx="1144066" cy="239776"/>
            </a:xfrm>
            <a:custGeom>
              <a:avLst/>
              <a:gdLst/>
              <a:ahLst/>
              <a:cxnLst/>
              <a:rect l="l" t="t" r="r" b="b"/>
              <a:pathLst>
                <a:path w="1144066" h="239776">
                  <a:moveTo>
                    <a:pt x="119888" y="0"/>
                  </a:moveTo>
                  <a:lnTo>
                    <a:pt x="1024178" y="0"/>
                  </a:lnTo>
                  <a:cubicBezTo>
                    <a:pt x="1090390" y="0"/>
                    <a:pt x="1144066" y="53676"/>
                    <a:pt x="1144066" y="119888"/>
                  </a:cubicBezTo>
                  <a:lnTo>
                    <a:pt x="1144066" y="119888"/>
                  </a:lnTo>
                  <a:cubicBezTo>
                    <a:pt x="1144066" y="186100"/>
                    <a:pt x="1090390" y="239776"/>
                    <a:pt x="1024178" y="239776"/>
                  </a:cubicBezTo>
                  <a:lnTo>
                    <a:pt x="119888" y="239776"/>
                  </a:lnTo>
                  <a:cubicBezTo>
                    <a:pt x="53676" y="239776"/>
                    <a:pt x="0" y="186100"/>
                    <a:pt x="0" y="119888"/>
                  </a:cubicBezTo>
                  <a:lnTo>
                    <a:pt x="0" y="119888"/>
                  </a:lnTo>
                  <a:cubicBezTo>
                    <a:pt x="0" y="53676"/>
                    <a:pt x="53676" y="0"/>
                    <a:pt x="119888" y="0"/>
                  </a:cubicBezTo>
                  <a:close/>
                </a:path>
              </a:pathLst>
            </a:custGeom>
            <a:gradFill rotWithShape="1">
              <a:gsLst>
                <a:gs pos="0">
                  <a:srgbClr val="15B5FC">
                    <a:alpha val="14000"/>
                  </a:srgbClr>
                </a:gs>
                <a:gs pos="100000">
                  <a:srgbClr val="3D77FF">
                    <a:alpha val="14000"/>
                  </a:srgbClr>
                </a:gs>
              </a:gsLst>
              <a:lin ang="2700000"/>
            </a:gradFill>
          </p:spPr>
        </p:sp>
        <p:sp>
          <p:nvSpPr>
            <p:cNvPr id="217" name="TextBox 33"/>
            <p:cNvSpPr txBox="1"/>
            <p:nvPr/>
          </p:nvSpPr>
          <p:spPr>
            <a:xfrm>
              <a:off x="0" y="-28575"/>
              <a:ext cx="1144066" cy="268351"/>
            </a:xfrm>
            <a:prstGeom prst="rect">
              <a:avLst/>
            </a:prstGeom>
          </p:spPr>
          <p:txBody>
            <a:bodyPr lIns="43752" tIns="43752" rIns="43752" bIns="43752" rtlCol="0" anchor="ctr"/>
            <a:lstStyle/>
            <a:p>
              <a:pPr algn="ctr">
                <a:lnSpc>
                  <a:spcPts val="2660"/>
                </a:lnSpc>
              </a:pPr>
            </a:p>
          </p:txBody>
        </p:sp>
      </p:grpSp>
      <p:sp>
        <p:nvSpPr>
          <p:cNvPr id="218" name="TextBox 34"/>
          <p:cNvSpPr txBox="1"/>
          <p:nvPr/>
        </p:nvSpPr>
        <p:spPr>
          <a:xfrm>
            <a:off x="11215843" y="7900296"/>
            <a:ext cx="1726442" cy="324485"/>
          </a:xfrm>
          <a:prstGeom prst="rect">
            <a:avLst/>
          </a:prstGeom>
        </p:spPr>
        <p:txBody>
          <a:bodyPr lIns="0" tIns="0" rIns="0" bIns="0" rtlCol="0" anchor="t">
            <a:spAutoFit/>
          </a:bodyPr>
          <a:lstStyle/>
          <a:p>
            <a:pPr algn="ctr">
              <a:lnSpc>
                <a:spcPts val="2535"/>
              </a:lnSpc>
            </a:pPr>
            <a:r>
              <a:rPr lang="zh-CN" altLang="en-US" sz="1810">
                <a:solidFill>
                  <a:srgbClr val="3D77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rPr>
              <a:t>数据分析</a:t>
            </a:r>
            <a:endParaRPr lang="zh-CN" altLang="en-US" sz="1810">
              <a:solidFill>
                <a:srgbClr val="3D77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endParaRPr>
          </a:p>
        </p:txBody>
      </p:sp>
      <p:grpSp>
        <p:nvGrpSpPr>
          <p:cNvPr id="219" name="Group 35"/>
          <p:cNvGrpSpPr/>
          <p:nvPr/>
        </p:nvGrpSpPr>
        <p:grpSpPr>
          <a:xfrm rot="0">
            <a:off x="13407577" y="7869413"/>
            <a:ext cx="2059641" cy="431664"/>
            <a:chOff x="0" y="0"/>
            <a:chExt cx="1144066" cy="239776"/>
          </a:xfrm>
        </p:grpSpPr>
        <p:sp>
          <p:nvSpPr>
            <p:cNvPr id="220" name="Freeform 36"/>
            <p:cNvSpPr/>
            <p:nvPr/>
          </p:nvSpPr>
          <p:spPr>
            <a:xfrm>
              <a:off x="0" y="0"/>
              <a:ext cx="1144066" cy="239776"/>
            </a:xfrm>
            <a:custGeom>
              <a:avLst/>
              <a:gdLst/>
              <a:ahLst/>
              <a:cxnLst/>
              <a:rect l="l" t="t" r="r" b="b"/>
              <a:pathLst>
                <a:path w="1144066" h="239776">
                  <a:moveTo>
                    <a:pt x="119888" y="0"/>
                  </a:moveTo>
                  <a:lnTo>
                    <a:pt x="1024178" y="0"/>
                  </a:lnTo>
                  <a:cubicBezTo>
                    <a:pt x="1090390" y="0"/>
                    <a:pt x="1144066" y="53676"/>
                    <a:pt x="1144066" y="119888"/>
                  </a:cubicBezTo>
                  <a:lnTo>
                    <a:pt x="1144066" y="119888"/>
                  </a:lnTo>
                  <a:cubicBezTo>
                    <a:pt x="1144066" y="186100"/>
                    <a:pt x="1090390" y="239776"/>
                    <a:pt x="1024178" y="239776"/>
                  </a:cubicBezTo>
                  <a:lnTo>
                    <a:pt x="119888" y="239776"/>
                  </a:lnTo>
                  <a:cubicBezTo>
                    <a:pt x="53676" y="239776"/>
                    <a:pt x="0" y="186100"/>
                    <a:pt x="0" y="119888"/>
                  </a:cubicBezTo>
                  <a:lnTo>
                    <a:pt x="0" y="119888"/>
                  </a:lnTo>
                  <a:cubicBezTo>
                    <a:pt x="0" y="53676"/>
                    <a:pt x="53676" y="0"/>
                    <a:pt x="119888" y="0"/>
                  </a:cubicBezTo>
                  <a:close/>
                </a:path>
              </a:pathLst>
            </a:custGeom>
            <a:gradFill rotWithShape="1">
              <a:gsLst>
                <a:gs pos="0">
                  <a:srgbClr val="15B5FC">
                    <a:alpha val="14000"/>
                  </a:srgbClr>
                </a:gs>
                <a:gs pos="100000">
                  <a:srgbClr val="3D77FF">
                    <a:alpha val="14000"/>
                  </a:srgbClr>
                </a:gs>
              </a:gsLst>
              <a:lin ang="2700000"/>
            </a:gradFill>
          </p:spPr>
        </p:sp>
        <p:sp>
          <p:nvSpPr>
            <p:cNvPr id="221" name="TextBox 37"/>
            <p:cNvSpPr txBox="1"/>
            <p:nvPr/>
          </p:nvSpPr>
          <p:spPr>
            <a:xfrm>
              <a:off x="0" y="-28575"/>
              <a:ext cx="1144066" cy="268351"/>
            </a:xfrm>
            <a:prstGeom prst="rect">
              <a:avLst/>
            </a:prstGeom>
          </p:spPr>
          <p:txBody>
            <a:bodyPr lIns="43752" tIns="43752" rIns="43752" bIns="43752" rtlCol="0" anchor="ctr"/>
            <a:lstStyle/>
            <a:p>
              <a:pPr algn="ctr">
                <a:lnSpc>
                  <a:spcPts val="2660"/>
                </a:lnSpc>
              </a:pPr>
            </a:p>
          </p:txBody>
        </p:sp>
      </p:grpSp>
      <p:sp>
        <p:nvSpPr>
          <p:cNvPr id="222" name="TextBox 38"/>
          <p:cNvSpPr txBox="1"/>
          <p:nvPr/>
        </p:nvSpPr>
        <p:spPr>
          <a:xfrm>
            <a:off x="13574177" y="7900296"/>
            <a:ext cx="1726442" cy="324485"/>
          </a:xfrm>
          <a:prstGeom prst="rect">
            <a:avLst/>
          </a:prstGeom>
        </p:spPr>
        <p:txBody>
          <a:bodyPr lIns="0" tIns="0" rIns="0" bIns="0" rtlCol="0" anchor="t">
            <a:spAutoFit/>
          </a:bodyPr>
          <a:lstStyle/>
          <a:p>
            <a:pPr algn="ctr">
              <a:lnSpc>
                <a:spcPts val="2535"/>
              </a:lnSpc>
            </a:pPr>
            <a:r>
              <a:rPr lang="zh-CN" altLang="en-US" sz="1810">
                <a:solidFill>
                  <a:srgbClr val="3D77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rPr>
              <a:t>数据编辑</a:t>
            </a:r>
            <a:endParaRPr lang="zh-CN" altLang="en-US" sz="1810">
              <a:solidFill>
                <a:srgbClr val="3D77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endParaRPr>
          </a:p>
        </p:txBody>
      </p:sp>
      <p:grpSp>
        <p:nvGrpSpPr>
          <p:cNvPr id="223" name="Group 39"/>
          <p:cNvGrpSpPr/>
          <p:nvPr/>
        </p:nvGrpSpPr>
        <p:grpSpPr>
          <a:xfrm rot="0">
            <a:off x="11049244" y="8578923"/>
            <a:ext cx="1345523" cy="431664"/>
            <a:chOff x="0" y="0"/>
            <a:chExt cx="747396" cy="239776"/>
          </a:xfrm>
        </p:grpSpPr>
        <p:sp>
          <p:nvSpPr>
            <p:cNvPr id="224" name="Freeform 40"/>
            <p:cNvSpPr/>
            <p:nvPr/>
          </p:nvSpPr>
          <p:spPr>
            <a:xfrm>
              <a:off x="0" y="0"/>
              <a:ext cx="747396" cy="239776"/>
            </a:xfrm>
            <a:custGeom>
              <a:avLst/>
              <a:gdLst/>
              <a:ahLst/>
              <a:cxnLst/>
              <a:rect l="l" t="t" r="r" b="b"/>
              <a:pathLst>
                <a:path w="747396" h="239776">
                  <a:moveTo>
                    <a:pt x="119888" y="0"/>
                  </a:moveTo>
                  <a:lnTo>
                    <a:pt x="627508" y="0"/>
                  </a:lnTo>
                  <a:cubicBezTo>
                    <a:pt x="693720" y="0"/>
                    <a:pt x="747396" y="53676"/>
                    <a:pt x="747396" y="119888"/>
                  </a:cubicBezTo>
                  <a:lnTo>
                    <a:pt x="747396" y="119888"/>
                  </a:lnTo>
                  <a:cubicBezTo>
                    <a:pt x="747396" y="186100"/>
                    <a:pt x="693720" y="239776"/>
                    <a:pt x="627508" y="239776"/>
                  </a:cubicBezTo>
                  <a:lnTo>
                    <a:pt x="119888" y="239776"/>
                  </a:lnTo>
                  <a:cubicBezTo>
                    <a:pt x="53676" y="239776"/>
                    <a:pt x="0" y="186100"/>
                    <a:pt x="0" y="119888"/>
                  </a:cubicBezTo>
                  <a:lnTo>
                    <a:pt x="0" y="119888"/>
                  </a:lnTo>
                  <a:cubicBezTo>
                    <a:pt x="0" y="53676"/>
                    <a:pt x="53676" y="0"/>
                    <a:pt x="119888" y="0"/>
                  </a:cubicBezTo>
                  <a:close/>
                </a:path>
              </a:pathLst>
            </a:custGeom>
            <a:gradFill rotWithShape="1">
              <a:gsLst>
                <a:gs pos="0">
                  <a:srgbClr val="15B5FC">
                    <a:alpha val="14000"/>
                  </a:srgbClr>
                </a:gs>
                <a:gs pos="100000">
                  <a:srgbClr val="3D77FF">
                    <a:alpha val="14000"/>
                  </a:srgbClr>
                </a:gs>
              </a:gsLst>
              <a:lin ang="2700000"/>
            </a:gradFill>
          </p:spPr>
        </p:sp>
        <p:sp>
          <p:nvSpPr>
            <p:cNvPr id="225" name="TextBox 41"/>
            <p:cNvSpPr txBox="1"/>
            <p:nvPr/>
          </p:nvSpPr>
          <p:spPr>
            <a:xfrm>
              <a:off x="0" y="-28575"/>
              <a:ext cx="747396" cy="268351"/>
            </a:xfrm>
            <a:prstGeom prst="rect">
              <a:avLst/>
            </a:prstGeom>
          </p:spPr>
          <p:txBody>
            <a:bodyPr lIns="43752" tIns="43752" rIns="43752" bIns="43752" rtlCol="0" anchor="ctr"/>
            <a:lstStyle/>
            <a:p>
              <a:pPr algn="ctr">
                <a:lnSpc>
                  <a:spcPts val="2660"/>
                </a:lnSpc>
              </a:pPr>
            </a:p>
          </p:txBody>
        </p:sp>
      </p:grpSp>
      <p:sp>
        <p:nvSpPr>
          <p:cNvPr id="226" name="TextBox 42"/>
          <p:cNvSpPr txBox="1"/>
          <p:nvPr/>
        </p:nvSpPr>
        <p:spPr>
          <a:xfrm>
            <a:off x="11158080" y="8609806"/>
            <a:ext cx="1127851" cy="324485"/>
          </a:xfrm>
          <a:prstGeom prst="rect">
            <a:avLst/>
          </a:prstGeom>
        </p:spPr>
        <p:txBody>
          <a:bodyPr lIns="0" tIns="0" rIns="0" bIns="0" rtlCol="0" anchor="t">
            <a:spAutoFit/>
          </a:bodyPr>
          <a:lstStyle/>
          <a:p>
            <a:pPr algn="ctr">
              <a:lnSpc>
                <a:spcPts val="2535"/>
              </a:lnSpc>
            </a:pPr>
            <a:r>
              <a:rPr lang="zh-CN" altLang="en-US" sz="1810">
                <a:solidFill>
                  <a:srgbClr val="3D77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rPr>
              <a:t>低门槛</a:t>
            </a:r>
            <a:endParaRPr lang="zh-CN" altLang="en-US" sz="1810">
              <a:solidFill>
                <a:srgbClr val="3D77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endParaRPr>
          </a:p>
        </p:txBody>
      </p:sp>
      <p:grpSp>
        <p:nvGrpSpPr>
          <p:cNvPr id="227" name="Group 43"/>
          <p:cNvGrpSpPr/>
          <p:nvPr/>
        </p:nvGrpSpPr>
        <p:grpSpPr>
          <a:xfrm rot="0">
            <a:off x="12585469" y="8578923"/>
            <a:ext cx="1345523" cy="431664"/>
            <a:chOff x="0" y="0"/>
            <a:chExt cx="747396" cy="239776"/>
          </a:xfrm>
        </p:grpSpPr>
        <p:sp>
          <p:nvSpPr>
            <p:cNvPr id="228" name="Freeform 44"/>
            <p:cNvSpPr/>
            <p:nvPr/>
          </p:nvSpPr>
          <p:spPr>
            <a:xfrm>
              <a:off x="0" y="0"/>
              <a:ext cx="747396" cy="239776"/>
            </a:xfrm>
            <a:custGeom>
              <a:avLst/>
              <a:gdLst/>
              <a:ahLst/>
              <a:cxnLst/>
              <a:rect l="l" t="t" r="r" b="b"/>
              <a:pathLst>
                <a:path w="747396" h="239776">
                  <a:moveTo>
                    <a:pt x="119888" y="0"/>
                  </a:moveTo>
                  <a:lnTo>
                    <a:pt x="627508" y="0"/>
                  </a:lnTo>
                  <a:cubicBezTo>
                    <a:pt x="693720" y="0"/>
                    <a:pt x="747396" y="53676"/>
                    <a:pt x="747396" y="119888"/>
                  </a:cubicBezTo>
                  <a:lnTo>
                    <a:pt x="747396" y="119888"/>
                  </a:lnTo>
                  <a:cubicBezTo>
                    <a:pt x="747396" y="186100"/>
                    <a:pt x="693720" y="239776"/>
                    <a:pt x="627508" y="239776"/>
                  </a:cubicBezTo>
                  <a:lnTo>
                    <a:pt x="119888" y="239776"/>
                  </a:lnTo>
                  <a:cubicBezTo>
                    <a:pt x="53676" y="239776"/>
                    <a:pt x="0" y="186100"/>
                    <a:pt x="0" y="119888"/>
                  </a:cubicBezTo>
                  <a:lnTo>
                    <a:pt x="0" y="119888"/>
                  </a:lnTo>
                  <a:cubicBezTo>
                    <a:pt x="0" y="53676"/>
                    <a:pt x="53676" y="0"/>
                    <a:pt x="119888" y="0"/>
                  </a:cubicBezTo>
                  <a:close/>
                </a:path>
              </a:pathLst>
            </a:custGeom>
            <a:gradFill rotWithShape="1">
              <a:gsLst>
                <a:gs pos="0">
                  <a:srgbClr val="15B5FC">
                    <a:alpha val="14000"/>
                  </a:srgbClr>
                </a:gs>
                <a:gs pos="100000">
                  <a:srgbClr val="3D77FF">
                    <a:alpha val="14000"/>
                  </a:srgbClr>
                </a:gs>
              </a:gsLst>
              <a:lin ang="2700000"/>
            </a:gradFill>
          </p:spPr>
        </p:sp>
        <p:sp>
          <p:nvSpPr>
            <p:cNvPr id="229" name="TextBox 45"/>
            <p:cNvSpPr txBox="1"/>
            <p:nvPr/>
          </p:nvSpPr>
          <p:spPr>
            <a:xfrm>
              <a:off x="0" y="-28575"/>
              <a:ext cx="747396" cy="268351"/>
            </a:xfrm>
            <a:prstGeom prst="rect">
              <a:avLst/>
            </a:prstGeom>
          </p:spPr>
          <p:txBody>
            <a:bodyPr lIns="43752" tIns="43752" rIns="43752" bIns="43752" rtlCol="0" anchor="ctr"/>
            <a:lstStyle/>
            <a:p>
              <a:pPr algn="ctr">
                <a:lnSpc>
                  <a:spcPts val="2660"/>
                </a:lnSpc>
              </a:pPr>
            </a:p>
          </p:txBody>
        </p:sp>
      </p:grpSp>
      <p:sp>
        <p:nvSpPr>
          <p:cNvPr id="230" name="TextBox 46"/>
          <p:cNvSpPr txBox="1"/>
          <p:nvPr/>
        </p:nvSpPr>
        <p:spPr>
          <a:xfrm>
            <a:off x="12694305" y="8609806"/>
            <a:ext cx="1127851" cy="324485"/>
          </a:xfrm>
          <a:prstGeom prst="rect">
            <a:avLst/>
          </a:prstGeom>
        </p:spPr>
        <p:txBody>
          <a:bodyPr lIns="0" tIns="0" rIns="0" bIns="0" rtlCol="0" anchor="t">
            <a:spAutoFit/>
          </a:bodyPr>
          <a:lstStyle/>
          <a:p>
            <a:pPr algn="ctr">
              <a:lnSpc>
                <a:spcPts val="2535"/>
              </a:lnSpc>
            </a:pPr>
            <a:r>
              <a:rPr lang="zh-CN" altLang="en-US" sz="1810">
                <a:solidFill>
                  <a:srgbClr val="3D77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rPr>
              <a:t>功能完整</a:t>
            </a:r>
            <a:endParaRPr lang="zh-CN" altLang="en-US" sz="1810">
              <a:solidFill>
                <a:srgbClr val="3D77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endParaRPr>
          </a:p>
        </p:txBody>
      </p:sp>
      <p:grpSp>
        <p:nvGrpSpPr>
          <p:cNvPr id="231" name="Group 47"/>
          <p:cNvGrpSpPr/>
          <p:nvPr/>
        </p:nvGrpSpPr>
        <p:grpSpPr>
          <a:xfrm rot="0">
            <a:off x="14121695" y="8578923"/>
            <a:ext cx="1345523" cy="431664"/>
            <a:chOff x="0" y="0"/>
            <a:chExt cx="747396" cy="239776"/>
          </a:xfrm>
        </p:grpSpPr>
        <p:sp>
          <p:nvSpPr>
            <p:cNvPr id="232" name="Freeform 48"/>
            <p:cNvSpPr/>
            <p:nvPr/>
          </p:nvSpPr>
          <p:spPr>
            <a:xfrm>
              <a:off x="0" y="0"/>
              <a:ext cx="747396" cy="239776"/>
            </a:xfrm>
            <a:custGeom>
              <a:avLst/>
              <a:gdLst/>
              <a:ahLst/>
              <a:cxnLst/>
              <a:rect l="l" t="t" r="r" b="b"/>
              <a:pathLst>
                <a:path w="747396" h="239776">
                  <a:moveTo>
                    <a:pt x="119888" y="0"/>
                  </a:moveTo>
                  <a:lnTo>
                    <a:pt x="627508" y="0"/>
                  </a:lnTo>
                  <a:cubicBezTo>
                    <a:pt x="693720" y="0"/>
                    <a:pt x="747396" y="53676"/>
                    <a:pt x="747396" y="119888"/>
                  </a:cubicBezTo>
                  <a:lnTo>
                    <a:pt x="747396" y="119888"/>
                  </a:lnTo>
                  <a:cubicBezTo>
                    <a:pt x="747396" y="186100"/>
                    <a:pt x="693720" y="239776"/>
                    <a:pt x="627508" y="239776"/>
                  </a:cubicBezTo>
                  <a:lnTo>
                    <a:pt x="119888" y="239776"/>
                  </a:lnTo>
                  <a:cubicBezTo>
                    <a:pt x="53676" y="239776"/>
                    <a:pt x="0" y="186100"/>
                    <a:pt x="0" y="119888"/>
                  </a:cubicBezTo>
                  <a:lnTo>
                    <a:pt x="0" y="119888"/>
                  </a:lnTo>
                  <a:cubicBezTo>
                    <a:pt x="0" y="53676"/>
                    <a:pt x="53676" y="0"/>
                    <a:pt x="119888" y="0"/>
                  </a:cubicBezTo>
                  <a:close/>
                </a:path>
              </a:pathLst>
            </a:custGeom>
            <a:gradFill rotWithShape="1">
              <a:gsLst>
                <a:gs pos="0">
                  <a:srgbClr val="15B5FC">
                    <a:alpha val="14000"/>
                  </a:srgbClr>
                </a:gs>
                <a:gs pos="100000">
                  <a:srgbClr val="3D77FF">
                    <a:alpha val="14000"/>
                  </a:srgbClr>
                </a:gs>
              </a:gsLst>
              <a:lin ang="2700000"/>
            </a:gradFill>
          </p:spPr>
        </p:sp>
        <p:sp>
          <p:nvSpPr>
            <p:cNvPr id="233" name="TextBox 49"/>
            <p:cNvSpPr txBox="1"/>
            <p:nvPr/>
          </p:nvSpPr>
          <p:spPr>
            <a:xfrm>
              <a:off x="0" y="-28575"/>
              <a:ext cx="747396" cy="268351"/>
            </a:xfrm>
            <a:prstGeom prst="rect">
              <a:avLst/>
            </a:prstGeom>
          </p:spPr>
          <p:txBody>
            <a:bodyPr lIns="43752" tIns="43752" rIns="43752" bIns="43752" rtlCol="0" anchor="ctr"/>
            <a:lstStyle/>
            <a:p>
              <a:pPr algn="ctr">
                <a:lnSpc>
                  <a:spcPts val="2660"/>
                </a:lnSpc>
              </a:pPr>
            </a:p>
          </p:txBody>
        </p:sp>
      </p:grpSp>
      <p:sp>
        <p:nvSpPr>
          <p:cNvPr id="234" name="TextBox 50"/>
          <p:cNvSpPr txBox="1"/>
          <p:nvPr/>
        </p:nvSpPr>
        <p:spPr>
          <a:xfrm>
            <a:off x="14230531" y="8609806"/>
            <a:ext cx="1127851" cy="324485"/>
          </a:xfrm>
          <a:prstGeom prst="rect">
            <a:avLst/>
          </a:prstGeom>
        </p:spPr>
        <p:txBody>
          <a:bodyPr lIns="0" tIns="0" rIns="0" bIns="0" rtlCol="0" anchor="t">
            <a:spAutoFit/>
          </a:bodyPr>
          <a:lstStyle/>
          <a:p>
            <a:pPr algn="ctr">
              <a:lnSpc>
                <a:spcPts val="2535"/>
              </a:lnSpc>
            </a:pPr>
            <a:r>
              <a:rPr lang="zh-CN" altLang="en-US" sz="1810">
                <a:solidFill>
                  <a:srgbClr val="3D77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rPr>
              <a:t>高性能</a:t>
            </a:r>
            <a:endParaRPr lang="zh-CN" altLang="en-US" sz="1810">
              <a:solidFill>
                <a:srgbClr val="3D77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endParaRPr>
          </a:p>
        </p:txBody>
      </p:sp>
      <p:sp>
        <p:nvSpPr>
          <p:cNvPr id="236" name="TextBox 52"/>
          <p:cNvSpPr txBox="1"/>
          <p:nvPr/>
        </p:nvSpPr>
        <p:spPr>
          <a:xfrm>
            <a:off x="1727111" y="4868216"/>
            <a:ext cx="4417975" cy="645795"/>
          </a:xfrm>
          <a:prstGeom prst="rect">
            <a:avLst/>
          </a:prstGeom>
        </p:spPr>
        <p:txBody>
          <a:bodyPr lIns="0" tIns="0" rIns="0" bIns="0" rtlCol="0" anchor="t">
            <a:spAutoFit/>
          </a:bodyPr>
          <a:lstStyle/>
          <a:p>
            <a:pPr algn="l">
              <a:lnSpc>
                <a:spcPts val="5040"/>
              </a:lnSpc>
            </a:pPr>
            <a:r>
              <a:rPr lang="zh-CN" altLang="en-US" sz="3600">
                <a:solidFill>
                  <a:srgbClr val="3D77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rPr>
              <a:t>系统设计特点</a:t>
            </a:r>
            <a:endParaRPr lang="zh-CN" altLang="en-US" sz="3600">
              <a:solidFill>
                <a:srgbClr val="3D77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endParaRPr>
          </a:p>
        </p:txBody>
      </p:sp>
      <p:sp>
        <p:nvSpPr>
          <p:cNvPr id="237" name="TextBox 53"/>
          <p:cNvSpPr txBox="1"/>
          <p:nvPr/>
        </p:nvSpPr>
        <p:spPr>
          <a:xfrm>
            <a:off x="1727111" y="5584999"/>
            <a:ext cx="4417975" cy="645795"/>
          </a:xfrm>
          <a:prstGeom prst="rect">
            <a:avLst/>
          </a:prstGeom>
        </p:spPr>
        <p:txBody>
          <a:bodyPr lIns="0" tIns="0" rIns="0" bIns="0" rtlCol="0" anchor="t">
            <a:spAutoFit/>
          </a:bodyPr>
          <a:lstStyle/>
          <a:p>
            <a:pPr algn="l">
              <a:lnSpc>
                <a:spcPts val="2520"/>
              </a:lnSpc>
            </a:pPr>
            <a:r>
              <a:rPr lang="zh-CN" altLang="en-US" sz="1800">
                <a:solidFill>
                  <a:srgbClr val="737373"/>
                </a:solidFill>
                <a:latin typeface="微软雅黑" panose="020B0503020204020204" charset="-122"/>
                <a:ea typeface="微软雅黑" panose="020B0503020204020204" charset="-122"/>
                <a:cs typeface="思源黑体" panose="020B0500000000000000" charset="-122"/>
                <a:sym typeface="思源黑体" panose="020B0500000000000000" charset="-122"/>
              </a:rPr>
              <a:t>综上所述，本系统将旨在与实现一个低门槛，功能全，高性能的数据分析平台</a:t>
            </a:r>
            <a:endParaRPr lang="zh-CN" altLang="en-US" sz="1800">
              <a:solidFill>
                <a:srgbClr val="737373"/>
              </a:solidFill>
              <a:latin typeface="微软雅黑" panose="020B0503020204020204" charset="-122"/>
              <a:ea typeface="微软雅黑" panose="020B0503020204020204" charset="-122"/>
              <a:cs typeface="思源黑体" panose="020B0500000000000000" charset="-122"/>
              <a:sym typeface="思源黑体" panose="020B0500000000000000" charset="-122"/>
            </a:endParaRPr>
          </a:p>
        </p:txBody>
      </p:sp>
      <p:sp>
        <p:nvSpPr>
          <p:cNvPr id="238" name="TextBox 54"/>
          <p:cNvSpPr txBox="1"/>
          <p:nvPr/>
        </p:nvSpPr>
        <p:spPr>
          <a:xfrm>
            <a:off x="1752511" y="6410241"/>
            <a:ext cx="4417975" cy="969010"/>
          </a:xfrm>
          <a:prstGeom prst="rect">
            <a:avLst/>
          </a:prstGeom>
        </p:spPr>
        <p:txBody>
          <a:bodyPr lIns="0" tIns="0" rIns="0" bIns="0" rtlCol="0" anchor="t">
            <a:spAutoFit/>
          </a:bodyPr>
          <a:lstStyle/>
          <a:p>
            <a:pPr marL="388620" lvl="1" indent="-194310" algn="l">
              <a:lnSpc>
                <a:spcPts val="2520"/>
              </a:lnSpc>
              <a:buFont typeface="Arial" panose="020B0604020202020204"/>
              <a:buChar char="•"/>
            </a:pPr>
            <a:r>
              <a:rPr lang="zh-CN" altLang="en-US" sz="1800">
                <a:solidFill>
                  <a:srgbClr val="737373"/>
                </a:solidFill>
                <a:latin typeface="微软雅黑" panose="020B0503020204020204" charset="-122"/>
                <a:ea typeface="微软雅黑" panose="020B0503020204020204" charset="-122"/>
                <a:cs typeface="微软雅黑" panose="020B0503020204020204" charset="-122"/>
                <a:sym typeface="思源黑体" panose="020B0500000000000000" charset="-122"/>
              </a:rPr>
              <a:t>针对传统工具学习成本高的问题，系统采用</a:t>
            </a:r>
            <a:r>
              <a:rPr lang="en-US" altLang="zh-CN" sz="1800">
                <a:solidFill>
                  <a:srgbClr val="737373"/>
                </a:solidFill>
                <a:latin typeface="微软雅黑" panose="020B0503020204020204" charset="-122"/>
                <a:ea typeface="微软雅黑" panose="020B0503020204020204" charset="-122"/>
                <a:cs typeface="微软雅黑" panose="020B0503020204020204" charset="-122"/>
                <a:sym typeface="思源黑体" panose="020B0500000000000000" charset="-122"/>
              </a:rPr>
              <a:t>“</a:t>
            </a:r>
            <a:r>
              <a:rPr lang="zh-CN" altLang="en-US" sz="1800">
                <a:solidFill>
                  <a:srgbClr val="737373"/>
                </a:solidFill>
                <a:latin typeface="微软雅黑" panose="020B0503020204020204" charset="-122"/>
                <a:ea typeface="微软雅黑" panose="020B0503020204020204" charset="-122"/>
                <a:cs typeface="微软雅黑" panose="020B0503020204020204" charset="-122"/>
                <a:sym typeface="思源黑体" panose="020B0500000000000000" charset="-122"/>
              </a:rPr>
              <a:t>零代码</a:t>
            </a:r>
            <a:r>
              <a:rPr lang="en-US" altLang="zh-CN" sz="1800">
                <a:solidFill>
                  <a:srgbClr val="737373"/>
                </a:solidFill>
                <a:latin typeface="微软雅黑" panose="020B0503020204020204" charset="-122"/>
                <a:ea typeface="微软雅黑" panose="020B0503020204020204" charset="-122"/>
                <a:cs typeface="微软雅黑" panose="020B0503020204020204" charset="-122"/>
                <a:sym typeface="思源黑体" panose="020B0500000000000000" charset="-122"/>
              </a:rPr>
              <a:t>”</a:t>
            </a:r>
            <a:r>
              <a:rPr lang="zh-CN" altLang="en-US" sz="1800">
                <a:solidFill>
                  <a:srgbClr val="737373"/>
                </a:solidFill>
                <a:latin typeface="微软雅黑" panose="020B0503020204020204" charset="-122"/>
                <a:ea typeface="微软雅黑" panose="020B0503020204020204" charset="-122"/>
                <a:cs typeface="微软雅黑" panose="020B0503020204020204" charset="-122"/>
                <a:sym typeface="思源黑体" panose="020B0500000000000000" charset="-122"/>
              </a:rPr>
              <a:t>的纯图形化交互，让统计推断实现开箱即用。</a:t>
            </a:r>
            <a:endParaRPr lang="zh-CN" altLang="en-US" sz="1800">
              <a:solidFill>
                <a:srgbClr val="737373"/>
              </a:solidFill>
              <a:latin typeface="微软雅黑" panose="020B0503020204020204" charset="-122"/>
              <a:ea typeface="微软雅黑" panose="020B0503020204020204" charset="-122"/>
              <a:cs typeface="微软雅黑" panose="020B0503020204020204" charset="-122"/>
              <a:sym typeface="思源黑体" panose="020B0500000000000000" charset="-122"/>
            </a:endParaRPr>
          </a:p>
        </p:txBody>
      </p:sp>
      <p:sp>
        <p:nvSpPr>
          <p:cNvPr id="240" name="TextBox 56"/>
          <p:cNvSpPr txBox="1"/>
          <p:nvPr/>
        </p:nvSpPr>
        <p:spPr>
          <a:xfrm>
            <a:off x="1727111" y="7462174"/>
            <a:ext cx="4417975" cy="969010"/>
          </a:xfrm>
          <a:prstGeom prst="rect">
            <a:avLst/>
          </a:prstGeom>
        </p:spPr>
        <p:txBody>
          <a:bodyPr lIns="0" tIns="0" rIns="0" bIns="0" rtlCol="0" anchor="t">
            <a:spAutoFit/>
          </a:bodyPr>
          <a:lstStyle/>
          <a:p>
            <a:pPr marL="388620" lvl="1" indent="-194310" algn="l">
              <a:lnSpc>
                <a:spcPts val="2520"/>
              </a:lnSpc>
              <a:buFont typeface="Arial" panose="020B0604020202020204"/>
              <a:buChar char="•"/>
            </a:pPr>
            <a:r>
              <a:rPr lang="zh-CN" altLang="en-US" sz="1800">
                <a:solidFill>
                  <a:srgbClr val="737373"/>
                </a:solidFill>
                <a:latin typeface="微软雅黑" panose="020B0503020204020204" charset="-122"/>
                <a:ea typeface="微软雅黑" panose="020B0503020204020204" charset="-122"/>
                <a:cs typeface="思源黑体" panose="020B0500000000000000" charset="-122"/>
                <a:sym typeface="思源黑体" panose="020B0500000000000000" charset="-122"/>
              </a:rPr>
              <a:t>系统打通了从脏数据导入、自适应清洗、假设检验到机器学习预测的全链路，提供了一站式的数据闭环解决方案。</a:t>
            </a:r>
            <a:endParaRPr lang="zh-CN" altLang="en-US" sz="1800">
              <a:solidFill>
                <a:srgbClr val="737373"/>
              </a:solidFill>
              <a:latin typeface="微软雅黑" panose="020B0503020204020204" charset="-122"/>
              <a:ea typeface="微软雅黑" panose="020B0503020204020204" charset="-122"/>
              <a:cs typeface="思源黑体" panose="020B0500000000000000" charset="-122"/>
              <a:sym typeface="思源黑体" panose="020B0500000000000000" charset="-122"/>
            </a:endParaRPr>
          </a:p>
        </p:txBody>
      </p:sp>
      <p:sp>
        <p:nvSpPr>
          <p:cNvPr id="241" name="TextBox 57"/>
          <p:cNvSpPr txBox="1"/>
          <p:nvPr/>
        </p:nvSpPr>
        <p:spPr>
          <a:xfrm>
            <a:off x="1676400" y="8525510"/>
            <a:ext cx="4551045" cy="969010"/>
          </a:xfrm>
          <a:prstGeom prst="rect">
            <a:avLst/>
          </a:prstGeom>
        </p:spPr>
        <p:txBody>
          <a:bodyPr wrap="square" lIns="0" tIns="0" rIns="0" bIns="0" rtlCol="0" anchor="t">
            <a:spAutoFit/>
          </a:bodyPr>
          <a:lstStyle/>
          <a:p>
            <a:pPr marL="388620" lvl="1" indent="-194310" algn="l">
              <a:lnSpc>
                <a:spcPts val="2520"/>
              </a:lnSpc>
              <a:buFont typeface="Arial" panose="020B0604020202020204"/>
              <a:buChar char="•"/>
            </a:pPr>
            <a:r>
              <a:rPr lang="zh-CN" altLang="en-US" sz="1800">
                <a:solidFill>
                  <a:srgbClr val="737373"/>
                </a:solidFill>
                <a:latin typeface="微软雅黑" panose="020B0503020204020204" charset="-122"/>
                <a:ea typeface="微软雅黑" panose="020B0503020204020204" charset="-122"/>
                <a:cs typeface="思源黑体" panose="020B0500000000000000" charset="-122"/>
                <a:sym typeface="思源黑体" panose="020B0500000000000000" charset="-122"/>
              </a:rPr>
              <a:t>面对海量表单数据的承载挑战，系统重构了底层渲染管线与算力调度，成功实现了业务流程的高性能保障。</a:t>
            </a:r>
            <a:endParaRPr lang="zh-CN" altLang="en-US" sz="1800">
              <a:solidFill>
                <a:srgbClr val="737373"/>
              </a:solidFill>
              <a:latin typeface="微软雅黑" panose="020B0503020204020204" charset="-122"/>
              <a:ea typeface="微软雅黑" panose="020B0503020204020204" charset="-122"/>
              <a:cs typeface="思源黑体" panose="020B0500000000000000" charset="-122"/>
              <a:sym typeface="思源黑体" panose="020B0500000000000000" charset="-122"/>
            </a:endParaRPr>
          </a:p>
        </p:txBody>
      </p:sp>
      <p:sp>
        <p:nvSpPr>
          <p:cNvPr id="242" name="TextBox 58"/>
          <p:cNvSpPr txBox="1"/>
          <p:nvPr/>
        </p:nvSpPr>
        <p:spPr>
          <a:xfrm>
            <a:off x="11201644" y="4762752"/>
            <a:ext cx="4417975" cy="645795"/>
          </a:xfrm>
          <a:prstGeom prst="rect">
            <a:avLst/>
          </a:prstGeom>
        </p:spPr>
        <p:txBody>
          <a:bodyPr lIns="0" tIns="0" rIns="0" bIns="0" rtlCol="0" anchor="t">
            <a:spAutoFit/>
          </a:bodyPr>
          <a:lstStyle/>
          <a:p>
            <a:pPr algn="l">
              <a:lnSpc>
                <a:spcPts val="5040"/>
              </a:lnSpc>
            </a:pPr>
            <a:r>
              <a:rPr lang="zh-CN" altLang="en-US" sz="3600">
                <a:solidFill>
                  <a:srgbClr val="3D77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rPr>
              <a:t>系统设计架构</a:t>
            </a:r>
            <a:endParaRPr lang="zh-CN" altLang="en-US" sz="3600">
              <a:solidFill>
                <a:srgbClr val="3D77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endParaRPr>
          </a:p>
        </p:txBody>
      </p:sp>
      <p:sp>
        <p:nvSpPr>
          <p:cNvPr id="243" name="TextBox 59"/>
          <p:cNvSpPr txBox="1"/>
          <p:nvPr/>
        </p:nvSpPr>
        <p:spPr>
          <a:xfrm>
            <a:off x="11216249" y="5372221"/>
            <a:ext cx="4417975" cy="1615440"/>
          </a:xfrm>
          <a:prstGeom prst="rect">
            <a:avLst/>
          </a:prstGeom>
        </p:spPr>
        <p:txBody>
          <a:bodyPr lIns="0" tIns="0" rIns="0" bIns="0" rtlCol="0" anchor="t">
            <a:spAutoFit/>
          </a:bodyPr>
          <a:lstStyle/>
          <a:p>
            <a:pPr algn="l">
              <a:lnSpc>
                <a:spcPts val="2520"/>
              </a:lnSpc>
            </a:pPr>
            <a:r>
              <a:rPr lang="zh-CN" altLang="en-US" sz="1800">
                <a:solidFill>
                  <a:srgbClr val="737373"/>
                </a:solidFill>
                <a:latin typeface="微软雅黑" panose="020B0503020204020204" charset="-122"/>
                <a:ea typeface="微软雅黑" panose="020B0503020204020204" charset="-122"/>
                <a:cs typeface="微软雅黑" panose="020B0503020204020204" charset="-122"/>
                <a:sym typeface="思源黑体" panose="020B0500000000000000" charset="-122"/>
              </a:rPr>
              <a:t>为确保系统的高并发承载力与算力扩展性，本课题严格遵循前后端分离（</a:t>
            </a:r>
            <a:r>
              <a:rPr lang="en-US" altLang="zh-CN" sz="1800">
                <a:solidFill>
                  <a:srgbClr val="737373"/>
                </a:solidFill>
                <a:latin typeface="微软雅黑" panose="020B0503020204020204" charset="-122"/>
                <a:ea typeface="微软雅黑" panose="020B0503020204020204" charset="-122"/>
                <a:cs typeface="微软雅黑" panose="020B0503020204020204" charset="-122"/>
                <a:sym typeface="思源黑体" panose="020B0500000000000000" charset="-122"/>
              </a:rPr>
              <a:t>B/S</a:t>
            </a:r>
            <a:r>
              <a:rPr lang="zh-CN" altLang="en-US" sz="1800">
                <a:solidFill>
                  <a:srgbClr val="737373"/>
                </a:solidFill>
                <a:latin typeface="微软雅黑" panose="020B0503020204020204" charset="-122"/>
                <a:ea typeface="微软雅黑" panose="020B0503020204020204" charset="-122"/>
                <a:cs typeface="微软雅黑" panose="020B0503020204020204" charset="-122"/>
                <a:sym typeface="思源黑体" panose="020B0500000000000000" charset="-122"/>
              </a:rPr>
              <a:t>）架构规范，并深度融合现代化的统计推断原理与机器学习算法，构建一个兼具数据分析功能与数据操作功能双系统的高可用数据中台。</a:t>
            </a:r>
            <a:endParaRPr lang="en-US" sz="1800">
              <a:solidFill>
                <a:srgbClr val="737373"/>
              </a:solidFill>
              <a:latin typeface="微软雅黑" panose="020B0503020204020204" charset="-122"/>
              <a:ea typeface="微软雅黑" panose="020B0503020204020204" charset="-122"/>
              <a:cs typeface="微软雅黑" panose="020B0503020204020204" charset="-122"/>
              <a:sym typeface="思源黑体" panose="020B0500000000000000" charset="-122"/>
            </a:endParaRPr>
          </a:p>
        </p:txBody>
      </p:sp>
      <p:sp>
        <p:nvSpPr>
          <p:cNvPr id="9" name="TextBox 9"/>
          <p:cNvSpPr txBox="1"/>
          <p:nvPr>
            <p:custDataLst>
              <p:tags r:id="rId5"/>
            </p:custDataLst>
          </p:nvPr>
        </p:nvSpPr>
        <p:spPr>
          <a:xfrm>
            <a:off x="1981315" y="2857606"/>
            <a:ext cx="3717392" cy="645795"/>
          </a:xfrm>
          <a:prstGeom prst="rect">
            <a:avLst/>
          </a:prstGeom>
        </p:spPr>
        <p:txBody>
          <a:bodyPr lIns="0" tIns="0" rIns="0" bIns="0" rtlCol="0" anchor="t">
            <a:spAutoFit/>
          </a:bodyPr>
          <a:lstStyle/>
          <a:p>
            <a:pPr algn="ctr">
              <a:lnSpc>
                <a:spcPts val="5040"/>
              </a:lnSpc>
            </a:pPr>
            <a:r>
              <a:rPr lang="zh-CN" altLang="en-US" sz="3600" spc="179">
                <a:solidFill>
                  <a:schemeClr val="bg1"/>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低门槛</a:t>
            </a:r>
            <a:endParaRPr lang="zh-CN" altLang="en-US" sz="3600" spc="179">
              <a:solidFill>
                <a:schemeClr val="bg1"/>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grpSp>
        <p:nvGrpSpPr>
          <p:cNvPr id="15" name="Group 18"/>
          <p:cNvGrpSpPr/>
          <p:nvPr/>
        </p:nvGrpSpPr>
        <p:grpSpPr>
          <a:xfrm rot="0">
            <a:off x="7653020" y="1061085"/>
            <a:ext cx="2087245" cy="2137410"/>
            <a:chOff x="0" y="0"/>
            <a:chExt cx="812800" cy="812800"/>
          </a:xfrm>
        </p:grpSpPr>
        <p:sp>
          <p:nvSpPr>
            <p:cNvPr id="16"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1">
              <a:gsLst>
                <a:gs pos="0">
                  <a:srgbClr val="15B5FC">
                    <a:alpha val="100000"/>
                  </a:srgbClr>
                </a:gs>
                <a:gs pos="100000">
                  <a:srgbClr val="3D77FF">
                    <a:alpha val="100000"/>
                  </a:srgbClr>
                </a:gs>
              </a:gsLst>
              <a:lin ang="2700000"/>
            </a:gradFill>
            <a:ln cap="sq">
              <a:noFill/>
              <a:prstDash val="solid"/>
              <a:miter/>
            </a:ln>
          </p:spPr>
        </p:sp>
        <p:sp>
          <p:nvSpPr>
            <p:cNvPr id="17" name="TextBox 20"/>
            <p:cNvSpPr txBox="1"/>
            <p:nvPr/>
          </p:nvSpPr>
          <p:spPr>
            <a:xfrm>
              <a:off x="76200" y="38100"/>
              <a:ext cx="660400" cy="698500"/>
            </a:xfrm>
            <a:prstGeom prst="rect">
              <a:avLst/>
            </a:prstGeom>
          </p:spPr>
          <p:txBody>
            <a:bodyPr lIns="32256" tIns="32256" rIns="32256" bIns="32256" rtlCol="0" anchor="ctr"/>
            <a:lstStyle/>
            <a:p>
              <a:pPr marL="0" lvl="0" indent="0" algn="ctr">
                <a:lnSpc>
                  <a:spcPts val="2660"/>
                </a:lnSpc>
                <a:spcBef>
                  <a:spcPct val="0"/>
                </a:spcBef>
              </a:pPr>
            </a:p>
          </p:txBody>
        </p:sp>
      </p:grpSp>
      <p:sp>
        <p:nvSpPr>
          <p:cNvPr id="18" name="TextBox 9"/>
          <p:cNvSpPr txBox="1"/>
          <p:nvPr>
            <p:custDataLst>
              <p:tags r:id="rId6"/>
            </p:custDataLst>
          </p:nvPr>
        </p:nvSpPr>
        <p:spPr>
          <a:xfrm>
            <a:off x="6858115" y="1790806"/>
            <a:ext cx="3717392" cy="645795"/>
          </a:xfrm>
          <a:prstGeom prst="rect">
            <a:avLst/>
          </a:prstGeom>
        </p:spPr>
        <p:txBody>
          <a:bodyPr lIns="0" tIns="0" rIns="0" bIns="0" rtlCol="0" anchor="t">
            <a:spAutoFit/>
          </a:bodyPr>
          <a:lstStyle/>
          <a:p>
            <a:pPr algn="ctr">
              <a:lnSpc>
                <a:spcPts val="5040"/>
              </a:lnSpc>
            </a:pPr>
            <a:r>
              <a:rPr lang="zh-CN" altLang="en-US" sz="3600" spc="179">
                <a:solidFill>
                  <a:schemeClr val="bg1"/>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功能全</a:t>
            </a:r>
            <a:endParaRPr lang="zh-CN" altLang="en-US" sz="3600" spc="179">
              <a:solidFill>
                <a:schemeClr val="bg1"/>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grpSp>
        <p:nvGrpSpPr>
          <p:cNvPr id="19" name="Group 18"/>
          <p:cNvGrpSpPr/>
          <p:nvPr/>
        </p:nvGrpSpPr>
        <p:grpSpPr>
          <a:xfrm rot="0">
            <a:off x="12377420" y="2268220"/>
            <a:ext cx="2087245" cy="2137410"/>
            <a:chOff x="0" y="0"/>
            <a:chExt cx="812800" cy="812800"/>
          </a:xfrm>
        </p:grpSpPr>
        <p:sp>
          <p:nvSpPr>
            <p:cNvPr id="20"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lnTo>
                    <a:pt x="406400" y="0"/>
                  </a:lnTo>
                  <a:close/>
                </a:path>
              </a:pathLst>
            </a:custGeom>
            <a:gradFill rotWithShape="1">
              <a:gsLst>
                <a:gs pos="0">
                  <a:srgbClr val="15B5FC">
                    <a:alpha val="100000"/>
                  </a:srgbClr>
                </a:gs>
                <a:gs pos="100000">
                  <a:srgbClr val="3D77FF">
                    <a:alpha val="100000"/>
                  </a:srgbClr>
                </a:gs>
              </a:gsLst>
              <a:lin ang="2700000"/>
            </a:gradFill>
            <a:ln cap="sq">
              <a:noFill/>
              <a:prstDash val="solid"/>
              <a:miter/>
            </a:ln>
          </p:spPr>
        </p:sp>
        <p:sp>
          <p:nvSpPr>
            <p:cNvPr id="21" name="TextBox 20"/>
            <p:cNvSpPr txBox="1"/>
            <p:nvPr/>
          </p:nvSpPr>
          <p:spPr>
            <a:xfrm>
              <a:off x="76200" y="38100"/>
              <a:ext cx="660400" cy="698500"/>
            </a:xfrm>
            <a:prstGeom prst="rect">
              <a:avLst/>
            </a:prstGeom>
          </p:spPr>
          <p:txBody>
            <a:bodyPr lIns="32256" tIns="32256" rIns="32256" bIns="32256" rtlCol="0" anchor="ctr"/>
            <a:lstStyle/>
            <a:p>
              <a:pPr marL="0" lvl="0" indent="0" algn="ctr">
                <a:lnSpc>
                  <a:spcPts val="2660"/>
                </a:lnSpc>
                <a:spcBef>
                  <a:spcPct val="0"/>
                </a:spcBef>
              </a:pPr>
            </a:p>
          </p:txBody>
        </p:sp>
      </p:grpSp>
      <p:sp>
        <p:nvSpPr>
          <p:cNvPr id="22" name="TextBox 9"/>
          <p:cNvSpPr txBox="1"/>
          <p:nvPr>
            <p:custDataLst>
              <p:tags r:id="rId7"/>
            </p:custDataLst>
          </p:nvPr>
        </p:nvSpPr>
        <p:spPr>
          <a:xfrm>
            <a:off x="11582515" y="2997941"/>
            <a:ext cx="3717392" cy="645795"/>
          </a:xfrm>
          <a:prstGeom prst="rect">
            <a:avLst/>
          </a:prstGeom>
        </p:spPr>
        <p:txBody>
          <a:bodyPr lIns="0" tIns="0" rIns="0" bIns="0" rtlCol="0" anchor="t">
            <a:spAutoFit/>
          </a:bodyPr>
          <a:lstStyle/>
          <a:p>
            <a:pPr algn="ctr">
              <a:lnSpc>
                <a:spcPts val="5040"/>
              </a:lnSpc>
            </a:pPr>
            <a:r>
              <a:rPr lang="zh-CN" altLang="en-US" sz="3600" spc="179">
                <a:solidFill>
                  <a:schemeClr val="bg1"/>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高性能</a:t>
            </a:r>
            <a:endParaRPr lang="zh-CN" altLang="en-US" sz="3600" spc="179">
              <a:solidFill>
                <a:schemeClr val="bg1"/>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23" name="AutoShape 30"/>
          <p:cNvSpPr/>
          <p:nvPr/>
        </p:nvSpPr>
        <p:spPr>
          <a:xfrm>
            <a:off x="1676644" y="9494663"/>
            <a:ext cx="4417975" cy="0"/>
          </a:xfrm>
          <a:prstGeom prst="line">
            <a:avLst/>
          </a:prstGeom>
          <a:ln w="19050" cap="rnd">
            <a:gradFill>
              <a:gsLst>
                <a:gs pos="0">
                  <a:srgbClr val="15B5FC">
                    <a:alpha val="100000"/>
                  </a:srgbClr>
                </a:gs>
                <a:gs pos="100000">
                  <a:srgbClr val="3D77FF">
                    <a:alpha val="100000"/>
                  </a:srgbClr>
                </a:gs>
              </a:gsLst>
              <a:lin ang="0"/>
            </a:gradFill>
            <a:prstDash val="solid"/>
            <a:headEnd type="none" w="sm" len="sm"/>
            <a:tailEnd type="none" w="sm" len="sm"/>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l="-13372" t="-8763" r="-16502" b="-45065"/>
            </a:stretch>
          </a:blipFill>
        </p:spPr>
      </p:sp>
      <p:sp>
        <p:nvSpPr>
          <p:cNvPr id="3" name="Freeform 3"/>
          <p:cNvSpPr/>
          <p:nvPr/>
        </p:nvSpPr>
        <p:spPr>
          <a:xfrm rot="1295584" flipV="1">
            <a:off x="9951402" y="-2805887"/>
            <a:ext cx="13085169" cy="5743161"/>
          </a:xfrm>
          <a:custGeom>
            <a:avLst/>
            <a:gdLst/>
            <a:ahLst/>
            <a:cxnLst/>
            <a:rect l="l" t="t" r="r" b="b"/>
            <a:pathLst>
              <a:path w="13085169" h="5743161">
                <a:moveTo>
                  <a:pt x="0" y="5743161"/>
                </a:moveTo>
                <a:lnTo>
                  <a:pt x="13085169" y="5743161"/>
                </a:lnTo>
                <a:lnTo>
                  <a:pt x="13085169" y="0"/>
                </a:lnTo>
                <a:lnTo>
                  <a:pt x="0" y="0"/>
                </a:lnTo>
                <a:lnTo>
                  <a:pt x="0" y="5743161"/>
                </a:lnTo>
                <a:close/>
              </a:path>
            </a:pathLst>
          </a:custGeom>
          <a:blipFill>
            <a:blip r:embed="rId2">
              <a:alphaModFix amt="94000"/>
            </a:blip>
            <a:stretch>
              <a:fillRect l="-2095" r="-2095"/>
            </a:stretch>
          </a:blipFill>
        </p:spPr>
      </p:sp>
      <p:sp>
        <p:nvSpPr>
          <p:cNvPr id="4" name="Freeform 4"/>
          <p:cNvSpPr/>
          <p:nvPr/>
        </p:nvSpPr>
        <p:spPr>
          <a:xfrm rot="1295584" flipV="1">
            <a:off x="-5707593" y="7349726"/>
            <a:ext cx="13085169" cy="5743161"/>
          </a:xfrm>
          <a:custGeom>
            <a:avLst/>
            <a:gdLst/>
            <a:ahLst/>
            <a:cxnLst/>
            <a:rect l="l" t="t" r="r" b="b"/>
            <a:pathLst>
              <a:path w="13085169" h="5743161">
                <a:moveTo>
                  <a:pt x="0" y="5743161"/>
                </a:moveTo>
                <a:lnTo>
                  <a:pt x="13085169" y="5743161"/>
                </a:lnTo>
                <a:lnTo>
                  <a:pt x="13085169" y="0"/>
                </a:lnTo>
                <a:lnTo>
                  <a:pt x="0" y="0"/>
                </a:lnTo>
                <a:lnTo>
                  <a:pt x="0" y="5743161"/>
                </a:lnTo>
                <a:close/>
              </a:path>
            </a:pathLst>
          </a:custGeom>
          <a:blipFill>
            <a:blip r:embed="rId2">
              <a:alphaModFix amt="94000"/>
            </a:blip>
            <a:stretch>
              <a:fillRect l="-2095" r="-2095"/>
            </a:stretch>
          </a:blipFill>
        </p:spPr>
      </p:sp>
      <p:sp>
        <p:nvSpPr>
          <p:cNvPr id="5" name="TextBox 5"/>
          <p:cNvSpPr txBox="1"/>
          <p:nvPr/>
        </p:nvSpPr>
        <p:spPr>
          <a:xfrm>
            <a:off x="3453957" y="3005520"/>
            <a:ext cx="11380086" cy="2402205"/>
          </a:xfrm>
          <a:prstGeom prst="rect">
            <a:avLst/>
          </a:prstGeom>
        </p:spPr>
        <p:txBody>
          <a:bodyPr lIns="0" tIns="0" rIns="0" bIns="0" rtlCol="0" anchor="t">
            <a:spAutoFit/>
          </a:bodyPr>
          <a:lstStyle/>
          <a:p>
            <a:pPr algn="ctr">
              <a:lnSpc>
                <a:spcPts val="18735"/>
              </a:lnSpc>
            </a:pPr>
            <a:r>
              <a:rPr lang="zh-CN" altLang="en-US" sz="13385" spc="66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技术基础</a:t>
            </a:r>
            <a:endParaRPr lang="zh-CN" altLang="en-US" sz="13385" spc="66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grpSp>
        <p:nvGrpSpPr>
          <p:cNvPr id="8" name="Group 8"/>
          <p:cNvGrpSpPr/>
          <p:nvPr/>
        </p:nvGrpSpPr>
        <p:grpSpPr>
          <a:xfrm rot="0">
            <a:off x="7486382" y="7347201"/>
            <a:ext cx="3315236" cy="641186"/>
            <a:chOff x="0" y="0"/>
            <a:chExt cx="1328788" cy="256995"/>
          </a:xfrm>
        </p:grpSpPr>
        <p:sp>
          <p:nvSpPr>
            <p:cNvPr id="9" name="Freeform 9"/>
            <p:cNvSpPr/>
            <p:nvPr/>
          </p:nvSpPr>
          <p:spPr>
            <a:xfrm>
              <a:off x="0" y="0"/>
              <a:ext cx="1328788" cy="256995"/>
            </a:xfrm>
            <a:custGeom>
              <a:avLst/>
              <a:gdLst/>
              <a:ahLst/>
              <a:cxnLst/>
              <a:rect l="l" t="t" r="r" b="b"/>
              <a:pathLst>
                <a:path w="1328788" h="256995">
                  <a:moveTo>
                    <a:pt x="91075" y="0"/>
                  </a:moveTo>
                  <a:lnTo>
                    <a:pt x="1237713" y="0"/>
                  </a:lnTo>
                  <a:cubicBezTo>
                    <a:pt x="1261868" y="0"/>
                    <a:pt x="1285033" y="9595"/>
                    <a:pt x="1302113" y="26675"/>
                  </a:cubicBezTo>
                  <a:cubicBezTo>
                    <a:pt x="1319193" y="43755"/>
                    <a:pt x="1328788" y="66920"/>
                    <a:pt x="1328788" y="91075"/>
                  </a:cubicBezTo>
                  <a:lnTo>
                    <a:pt x="1328788" y="165920"/>
                  </a:lnTo>
                  <a:cubicBezTo>
                    <a:pt x="1328788" y="216219"/>
                    <a:pt x="1288012" y="256995"/>
                    <a:pt x="1237713" y="256995"/>
                  </a:cubicBezTo>
                  <a:lnTo>
                    <a:pt x="91075" y="256995"/>
                  </a:lnTo>
                  <a:cubicBezTo>
                    <a:pt x="40776" y="256995"/>
                    <a:pt x="0" y="216219"/>
                    <a:pt x="0" y="165920"/>
                  </a:cubicBezTo>
                  <a:lnTo>
                    <a:pt x="0" y="91075"/>
                  </a:lnTo>
                  <a:cubicBezTo>
                    <a:pt x="0" y="40776"/>
                    <a:pt x="40776" y="0"/>
                    <a:pt x="91075" y="0"/>
                  </a:cubicBezTo>
                  <a:close/>
                </a:path>
              </a:pathLst>
            </a:custGeom>
            <a:solidFill>
              <a:srgbClr val="3B64C9"/>
            </a:solidFill>
          </p:spPr>
        </p:sp>
        <p:sp>
          <p:nvSpPr>
            <p:cNvPr id="10" name="TextBox 10"/>
            <p:cNvSpPr txBox="1"/>
            <p:nvPr/>
          </p:nvSpPr>
          <p:spPr>
            <a:xfrm>
              <a:off x="0" y="-47625"/>
              <a:ext cx="1328788" cy="304620"/>
            </a:xfrm>
            <a:prstGeom prst="rect">
              <a:avLst/>
            </a:prstGeom>
          </p:spPr>
          <p:txBody>
            <a:bodyPr lIns="33381" tIns="33381" rIns="33381" bIns="33381" rtlCol="0" anchor="ctr"/>
            <a:lstStyle/>
            <a:p>
              <a:pPr algn="ctr">
                <a:lnSpc>
                  <a:spcPts val="3660"/>
                </a:lnSpc>
              </a:pPr>
            </a:p>
          </p:txBody>
        </p:sp>
      </p:grpSp>
      <p:sp>
        <p:nvSpPr>
          <p:cNvPr id="11" name="TextBox 11"/>
          <p:cNvSpPr txBox="1"/>
          <p:nvPr/>
        </p:nvSpPr>
        <p:spPr>
          <a:xfrm>
            <a:off x="7486382" y="7386686"/>
            <a:ext cx="3315236" cy="505064"/>
          </a:xfrm>
          <a:prstGeom prst="rect">
            <a:avLst/>
          </a:prstGeom>
        </p:spPr>
        <p:txBody>
          <a:bodyPr lIns="0" tIns="0" rIns="0" bIns="0" rtlCol="0" anchor="t">
            <a:spAutoFit/>
          </a:bodyPr>
          <a:lstStyle/>
          <a:p>
            <a:pPr marL="0" lvl="0" indent="0" algn="ctr">
              <a:lnSpc>
                <a:spcPts val="4185"/>
              </a:lnSpc>
              <a:spcBef>
                <a:spcPct val="0"/>
              </a:spcBef>
            </a:pPr>
            <a:r>
              <a:rPr lang="en-US" sz="2990" spc="149">
                <a:solidFill>
                  <a:srgbClr val="FFFFFF"/>
                </a:solidFill>
                <a:latin typeface="思源宋体-超粗体" panose="02020900000000000000" charset="-122"/>
                <a:ea typeface="思源宋体-超粗体" panose="02020900000000000000" charset="-122"/>
                <a:cs typeface="思源宋体-超粗体" panose="02020900000000000000" charset="-122"/>
                <a:sym typeface="思源宋体-超粗体" panose="02020900000000000000" charset="-122"/>
              </a:rPr>
              <a:t>PART TWO</a:t>
            </a:r>
            <a:endParaRPr lang="en-US" sz="2990" spc="149">
              <a:solidFill>
                <a:srgbClr val="FFFFFF"/>
              </a:solidFill>
              <a:latin typeface="思源宋体-超粗体" panose="02020900000000000000" charset="-122"/>
              <a:ea typeface="思源宋体-超粗体" panose="02020900000000000000" charset="-122"/>
              <a:cs typeface="思源宋体-超粗体" panose="02020900000000000000" charset="-122"/>
              <a:sym typeface="思源宋体-超粗体" panose="020209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76200" y="-3810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3" name="Freeform 3"/>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4" name="Freeform 4"/>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sp>
        <p:nvSpPr>
          <p:cNvPr id="5" name="TextBox 5"/>
          <p:cNvSpPr txBox="1"/>
          <p:nvPr/>
        </p:nvSpPr>
        <p:spPr>
          <a:xfrm>
            <a:off x="1028700" y="457200"/>
            <a:ext cx="4776601" cy="1076960"/>
          </a:xfrm>
          <a:prstGeom prst="rect">
            <a:avLst/>
          </a:prstGeom>
        </p:spPr>
        <p:txBody>
          <a:bodyPr lIns="0" tIns="0" rIns="0" bIns="0" rtlCol="0" anchor="t">
            <a:spAutoFit/>
          </a:bodyPr>
          <a:lstStyle/>
          <a:p>
            <a:pPr algn="l">
              <a:lnSpc>
                <a:spcPts val="8400"/>
              </a:lnSpc>
            </a:pPr>
            <a:r>
              <a:rPr 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02.</a:t>
            </a:r>
            <a:r>
              <a:rPr lang="zh-CN" alt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业务流程</a:t>
            </a:r>
            <a:endParaRPr lang="zh-CN" alt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6" name="TextBox 6"/>
          <p:cNvSpPr txBox="1"/>
          <p:nvPr/>
        </p:nvSpPr>
        <p:spPr>
          <a:xfrm>
            <a:off x="13753946" y="872490"/>
            <a:ext cx="3505354" cy="613410"/>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FOUR</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grpSp>
        <p:nvGrpSpPr>
          <p:cNvPr id="9" name="Group 9"/>
          <p:cNvGrpSpPr/>
          <p:nvPr/>
        </p:nvGrpSpPr>
        <p:grpSpPr>
          <a:xfrm rot="0">
            <a:off x="11041881" y="2805513"/>
            <a:ext cx="5245165" cy="3022901"/>
            <a:chOff x="0" y="0"/>
            <a:chExt cx="6993553" cy="4030534"/>
          </a:xfrm>
        </p:grpSpPr>
        <p:sp>
          <p:nvSpPr>
            <p:cNvPr id="10" name="AutoShape 10"/>
            <p:cNvSpPr/>
            <p:nvPr/>
          </p:nvSpPr>
          <p:spPr>
            <a:xfrm>
              <a:off x="0" y="0"/>
              <a:ext cx="6993553" cy="4030534"/>
            </a:xfrm>
            <a:prstGeom prst="rect">
              <a:avLst/>
            </a:prstGeom>
            <a:solidFill>
              <a:srgbClr val="3B64C9"/>
            </a:solidFill>
          </p:spPr>
        </p:sp>
      </p:grpSp>
      <p:sp>
        <p:nvSpPr>
          <p:cNvPr id="11" name="TextBox 11"/>
          <p:cNvSpPr txBox="1"/>
          <p:nvPr/>
        </p:nvSpPr>
        <p:spPr>
          <a:xfrm>
            <a:off x="11583789" y="3381271"/>
            <a:ext cx="4161348" cy="645795"/>
          </a:xfrm>
          <a:prstGeom prst="rect">
            <a:avLst/>
          </a:prstGeom>
        </p:spPr>
        <p:txBody>
          <a:bodyPr lIns="0" tIns="0" rIns="0" bIns="0" rtlCol="0" anchor="t">
            <a:spAutoFit/>
          </a:bodyPr>
          <a:lstStyle/>
          <a:p>
            <a:pPr algn="l">
              <a:lnSpc>
                <a:spcPts val="5040"/>
              </a:lnSpc>
            </a:pPr>
            <a:r>
              <a:rPr lang="zh-CN" altLang="en-US" sz="3600" spc="179">
                <a:solidFill>
                  <a:srgbClr val="FFFFFF"/>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数据生命周期</a:t>
            </a:r>
            <a:endParaRPr lang="zh-CN" altLang="en-US" sz="3600" spc="179">
              <a:solidFill>
                <a:srgbClr val="FFFFFF"/>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12" name="TextBox 12"/>
          <p:cNvSpPr txBox="1"/>
          <p:nvPr/>
        </p:nvSpPr>
        <p:spPr>
          <a:xfrm>
            <a:off x="11583789" y="4045265"/>
            <a:ext cx="4161348" cy="1184910"/>
          </a:xfrm>
          <a:prstGeom prst="rect">
            <a:avLst/>
          </a:prstGeom>
        </p:spPr>
        <p:txBody>
          <a:bodyPr lIns="0" tIns="0" rIns="0" bIns="0" rtlCol="0" anchor="t">
            <a:spAutoFit/>
          </a:bodyPr>
          <a:lstStyle/>
          <a:p>
            <a:pPr algn="l">
              <a:lnSpc>
                <a:spcPts val="3080"/>
              </a:lnSpc>
            </a:pPr>
            <a:r>
              <a:rPr lang="zh-CN" altLang="en-US" sz="1800">
                <a:solidFill>
                  <a:srgbClr val="FFFFFF"/>
                </a:solidFill>
                <a:latin typeface="微软雅黑" panose="020B0503020204020204" charset="-122"/>
                <a:ea typeface="微软雅黑" panose="020B0503020204020204" charset="-122"/>
                <a:cs typeface="微软雅黑" panose="020B0503020204020204" charset="-122"/>
                <a:sym typeface="思源宋体" panose="02020400000000000000" charset="-122"/>
              </a:rPr>
              <a:t>数据在系统中的生命周期贯穿了</a:t>
            </a:r>
            <a:r>
              <a:rPr lang="en-US" altLang="zh-CN" sz="1800">
                <a:solidFill>
                  <a:srgbClr val="FFFFFF"/>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zh-CN" altLang="en-US" sz="1800">
                <a:solidFill>
                  <a:srgbClr val="FFFFFF"/>
                </a:solidFill>
                <a:latin typeface="微软雅黑" panose="020B0503020204020204" charset="-122"/>
                <a:ea typeface="微软雅黑" panose="020B0503020204020204" charset="-122"/>
                <a:cs typeface="微软雅黑" panose="020B0503020204020204" charset="-122"/>
                <a:sym typeface="思源宋体" panose="02020400000000000000" charset="-122"/>
              </a:rPr>
              <a:t>无感采集</a:t>
            </a:r>
            <a:r>
              <a:rPr lang="en-US" altLang="zh-CN" sz="1800">
                <a:solidFill>
                  <a:srgbClr val="FFFFFF"/>
                </a:solidFill>
                <a:latin typeface="微软雅黑" panose="020B0503020204020204" charset="-122"/>
                <a:ea typeface="微软雅黑" panose="020B0503020204020204" charset="-122"/>
                <a:cs typeface="微软雅黑" panose="020B0503020204020204" charset="-122"/>
                <a:sym typeface="思源宋体" panose="02020400000000000000" charset="-122"/>
              </a:rPr>
              <a:t> </a:t>
            </a:r>
            <a:r>
              <a:rPr lang="en-US" altLang="en-US" sz="1800">
                <a:solidFill>
                  <a:srgbClr val="FFFFFF"/>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en-US" altLang="zh-CN" sz="1800">
                <a:solidFill>
                  <a:srgbClr val="FFFFFF"/>
                </a:solidFill>
                <a:latin typeface="微软雅黑" panose="020B0503020204020204" charset="-122"/>
                <a:ea typeface="微软雅黑" panose="020B0503020204020204" charset="-122"/>
                <a:cs typeface="微软雅黑" panose="020B0503020204020204" charset="-122"/>
                <a:sym typeface="思源宋体" panose="02020400000000000000" charset="-122"/>
              </a:rPr>
              <a:t> </a:t>
            </a:r>
            <a:r>
              <a:rPr lang="zh-CN" altLang="en-US" sz="1800">
                <a:solidFill>
                  <a:srgbClr val="FFFFFF"/>
                </a:solidFill>
                <a:latin typeface="微软雅黑" panose="020B0503020204020204" charset="-122"/>
                <a:ea typeface="微软雅黑" panose="020B0503020204020204" charset="-122"/>
                <a:cs typeface="微软雅黑" panose="020B0503020204020204" charset="-122"/>
                <a:sym typeface="思源宋体" panose="02020400000000000000" charset="-122"/>
              </a:rPr>
              <a:t>智能分析</a:t>
            </a:r>
            <a:r>
              <a:rPr lang="en-US" altLang="zh-CN" sz="1800">
                <a:solidFill>
                  <a:srgbClr val="FFFFFF"/>
                </a:solidFill>
                <a:latin typeface="微软雅黑" panose="020B0503020204020204" charset="-122"/>
                <a:ea typeface="微软雅黑" panose="020B0503020204020204" charset="-122"/>
                <a:cs typeface="微软雅黑" panose="020B0503020204020204" charset="-122"/>
                <a:sym typeface="思源宋体" panose="02020400000000000000" charset="-122"/>
              </a:rPr>
              <a:t> </a:t>
            </a:r>
            <a:r>
              <a:rPr lang="en-US" altLang="en-US" sz="1800">
                <a:solidFill>
                  <a:srgbClr val="FFFFFF"/>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en-US" altLang="zh-CN" sz="1800">
                <a:solidFill>
                  <a:srgbClr val="FFFFFF"/>
                </a:solidFill>
                <a:latin typeface="微软雅黑" panose="020B0503020204020204" charset="-122"/>
                <a:ea typeface="微软雅黑" panose="020B0503020204020204" charset="-122"/>
                <a:cs typeface="微软雅黑" panose="020B0503020204020204" charset="-122"/>
                <a:sym typeface="思源宋体" panose="02020400000000000000" charset="-122"/>
              </a:rPr>
              <a:t> </a:t>
            </a:r>
            <a:r>
              <a:rPr lang="zh-CN" altLang="en-US" sz="1800">
                <a:solidFill>
                  <a:srgbClr val="FFFFFF"/>
                </a:solidFill>
                <a:latin typeface="微软雅黑" panose="020B0503020204020204" charset="-122"/>
                <a:ea typeface="微软雅黑" panose="020B0503020204020204" charset="-122"/>
                <a:cs typeface="微软雅黑" panose="020B0503020204020204" charset="-122"/>
                <a:sym typeface="思源宋体" panose="02020400000000000000" charset="-122"/>
              </a:rPr>
              <a:t>高帧率可视化</a:t>
            </a:r>
            <a:r>
              <a:rPr lang="en-US" altLang="zh-CN" sz="1800">
                <a:solidFill>
                  <a:srgbClr val="FFFFFF"/>
                </a:solidFill>
                <a:latin typeface="微软雅黑" panose="020B0503020204020204" charset="-122"/>
                <a:ea typeface="微软雅黑" panose="020B0503020204020204" charset="-122"/>
                <a:cs typeface="微软雅黑" panose="020B0503020204020204" charset="-122"/>
                <a:sym typeface="思源宋体" panose="02020400000000000000" charset="-122"/>
              </a:rPr>
              <a:t> </a:t>
            </a:r>
            <a:r>
              <a:rPr lang="en-US" altLang="en-US" sz="1800">
                <a:solidFill>
                  <a:srgbClr val="FFFFFF"/>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en-US" altLang="zh-CN" sz="1800">
                <a:solidFill>
                  <a:srgbClr val="FFFFFF"/>
                </a:solidFill>
                <a:latin typeface="微软雅黑" panose="020B0503020204020204" charset="-122"/>
                <a:ea typeface="微软雅黑" panose="020B0503020204020204" charset="-122"/>
                <a:cs typeface="微软雅黑" panose="020B0503020204020204" charset="-122"/>
                <a:sym typeface="思源宋体" panose="02020400000000000000" charset="-122"/>
              </a:rPr>
              <a:t> </a:t>
            </a:r>
            <a:r>
              <a:rPr lang="zh-CN" altLang="en-US" sz="1800">
                <a:solidFill>
                  <a:srgbClr val="FFFFFF"/>
                </a:solidFill>
                <a:latin typeface="微软雅黑" panose="020B0503020204020204" charset="-122"/>
                <a:ea typeface="微软雅黑" panose="020B0503020204020204" charset="-122"/>
                <a:cs typeface="微软雅黑" panose="020B0503020204020204" charset="-122"/>
                <a:sym typeface="思源宋体" panose="02020400000000000000" charset="-122"/>
              </a:rPr>
              <a:t>沙盒化管理</a:t>
            </a:r>
            <a:r>
              <a:rPr lang="en-US" altLang="zh-CN" sz="1800">
                <a:solidFill>
                  <a:srgbClr val="FFFFFF"/>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zh-CN" altLang="en-US" sz="1800">
                <a:solidFill>
                  <a:srgbClr val="FFFFFF"/>
                </a:solidFill>
                <a:latin typeface="微软雅黑" panose="020B0503020204020204" charset="-122"/>
                <a:ea typeface="微软雅黑" panose="020B0503020204020204" charset="-122"/>
                <a:cs typeface="微软雅黑" panose="020B0503020204020204" charset="-122"/>
                <a:sym typeface="思源宋体" panose="02020400000000000000" charset="-122"/>
              </a:rPr>
              <a:t>四大核心节点。</a:t>
            </a:r>
            <a:endParaRPr lang="en-US" sz="1800">
              <a:solidFill>
                <a:srgbClr val="FFFFFF"/>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p:txBody>
      </p:sp>
      <p:sp>
        <p:nvSpPr>
          <p:cNvPr id="13" name="TextBox 13"/>
          <p:cNvSpPr txBox="1"/>
          <p:nvPr/>
        </p:nvSpPr>
        <p:spPr>
          <a:xfrm>
            <a:off x="2209800" y="6371590"/>
            <a:ext cx="1263015" cy="661670"/>
          </a:xfrm>
          <a:prstGeom prst="rect">
            <a:avLst/>
          </a:prstGeom>
        </p:spPr>
        <p:txBody>
          <a:bodyPr lIns="0" tIns="0" rIns="0" bIns="0" rtlCol="0" anchor="t">
            <a:noAutofit/>
          </a:bodyPr>
          <a:lstStyle/>
          <a:p>
            <a:pPr algn="l">
              <a:lnSpc>
                <a:spcPts val="5040"/>
              </a:lnSpc>
            </a:pPr>
            <a:r>
              <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采集</a:t>
            </a:r>
            <a:endPar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14" name="TextBox 14"/>
          <p:cNvSpPr txBox="1"/>
          <p:nvPr/>
        </p:nvSpPr>
        <p:spPr>
          <a:xfrm>
            <a:off x="1981200" y="6957695"/>
            <a:ext cx="1604010" cy="749300"/>
          </a:xfrm>
          <a:prstGeom prst="rect">
            <a:avLst/>
          </a:prstGeom>
        </p:spPr>
        <p:txBody>
          <a:bodyPr lIns="0" tIns="0" rIns="0" bIns="0" rtlCol="0" anchor="t">
            <a:noAutofit/>
          </a:bodyPr>
          <a:lstStyle/>
          <a:p>
            <a:pPr algn="l">
              <a:lnSpc>
                <a:spcPts val="3080"/>
              </a:lnSpc>
            </a:pPr>
            <a:r>
              <a:rPr lang="zh-CN" altLang="en-US" sz="1800">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rPr>
              <a:t>前端交互拦截</a:t>
            </a:r>
            <a:endParaRPr lang="zh-CN" altLang="en-US" sz="1800">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endParaRPr>
          </a:p>
          <a:p>
            <a:pPr algn="l">
              <a:lnSpc>
                <a:spcPts val="3080"/>
              </a:lnSpc>
            </a:pPr>
            <a:r>
              <a:rPr lang="zh-CN" altLang="en-US" sz="1800">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rPr>
              <a:t>网关路由转发</a:t>
            </a:r>
            <a:endParaRPr lang="en-US" sz="1800">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endParaRPr>
          </a:p>
        </p:txBody>
      </p:sp>
      <p:pic>
        <p:nvPicPr>
          <p:cNvPr id="20" name="图片 19"/>
          <p:cNvPicPr>
            <a:picLocks noChangeAspect="1"/>
          </p:cNvPicPr>
          <p:nvPr/>
        </p:nvPicPr>
        <p:blipFill>
          <a:blip r:embed="rId4"/>
          <a:stretch>
            <a:fillRect/>
          </a:stretch>
        </p:blipFill>
        <p:spPr>
          <a:xfrm>
            <a:off x="2286000" y="2476500"/>
            <a:ext cx="8694420" cy="3613785"/>
          </a:xfrm>
          <a:prstGeom prst="rect">
            <a:avLst/>
          </a:prstGeom>
        </p:spPr>
      </p:pic>
      <p:sp>
        <p:nvSpPr>
          <p:cNvPr id="21" name="TextBox 13"/>
          <p:cNvSpPr txBox="1"/>
          <p:nvPr/>
        </p:nvSpPr>
        <p:spPr>
          <a:xfrm>
            <a:off x="4343400" y="6362700"/>
            <a:ext cx="1263015" cy="661670"/>
          </a:xfrm>
          <a:prstGeom prst="rect">
            <a:avLst/>
          </a:prstGeom>
        </p:spPr>
        <p:txBody>
          <a:bodyPr lIns="0" tIns="0" rIns="0" bIns="0" rtlCol="0" anchor="t">
            <a:noAutofit/>
          </a:bodyPr>
          <a:lstStyle/>
          <a:p>
            <a:pPr algn="l">
              <a:lnSpc>
                <a:spcPts val="5040"/>
              </a:lnSpc>
            </a:pPr>
            <a:r>
              <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分析</a:t>
            </a:r>
            <a:endPar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22" name="TextBox 14"/>
          <p:cNvSpPr txBox="1"/>
          <p:nvPr/>
        </p:nvSpPr>
        <p:spPr>
          <a:xfrm>
            <a:off x="4201160" y="6960235"/>
            <a:ext cx="1604010" cy="749300"/>
          </a:xfrm>
          <a:prstGeom prst="rect">
            <a:avLst/>
          </a:prstGeom>
        </p:spPr>
        <p:txBody>
          <a:bodyPr lIns="0" tIns="0" rIns="0" bIns="0" rtlCol="0" anchor="t">
            <a:noAutofit/>
          </a:bodyPr>
          <a:lstStyle/>
          <a:p>
            <a:pPr algn="l">
              <a:lnSpc>
                <a:spcPts val="3080"/>
              </a:lnSpc>
            </a:pPr>
            <a:r>
              <a:rPr lang="zh-CN" altLang="en-US" sz="1800">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rPr>
              <a:t>后端算力解析</a:t>
            </a:r>
            <a:endParaRPr lang="zh-CN" altLang="en-US" sz="1800">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endParaRPr>
          </a:p>
          <a:p>
            <a:pPr algn="l">
              <a:lnSpc>
                <a:spcPts val="3080"/>
              </a:lnSpc>
            </a:pPr>
            <a:r>
              <a:rPr lang="zh-CN" altLang="en-US" sz="1800">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rPr>
              <a:t>算法模型推断</a:t>
            </a:r>
            <a:endParaRPr lang="zh-CN" altLang="en-US" sz="1800">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endParaRPr>
          </a:p>
        </p:txBody>
      </p:sp>
      <p:sp>
        <p:nvSpPr>
          <p:cNvPr id="23" name="TextBox 13"/>
          <p:cNvSpPr txBox="1"/>
          <p:nvPr/>
        </p:nvSpPr>
        <p:spPr>
          <a:xfrm>
            <a:off x="6477000" y="6386830"/>
            <a:ext cx="1697990" cy="661670"/>
          </a:xfrm>
          <a:prstGeom prst="rect">
            <a:avLst/>
          </a:prstGeom>
        </p:spPr>
        <p:txBody>
          <a:bodyPr lIns="0" tIns="0" rIns="0" bIns="0" rtlCol="0" anchor="t">
            <a:noAutofit/>
          </a:bodyPr>
          <a:lstStyle/>
          <a:p>
            <a:pPr algn="l">
              <a:lnSpc>
                <a:spcPts val="5040"/>
              </a:lnSpc>
            </a:pPr>
            <a:r>
              <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可视化</a:t>
            </a:r>
            <a:endPar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24" name="TextBox 14"/>
          <p:cNvSpPr txBox="1"/>
          <p:nvPr/>
        </p:nvSpPr>
        <p:spPr>
          <a:xfrm>
            <a:off x="6421120" y="7032625"/>
            <a:ext cx="1604010" cy="749300"/>
          </a:xfrm>
          <a:prstGeom prst="rect">
            <a:avLst/>
          </a:prstGeom>
        </p:spPr>
        <p:txBody>
          <a:bodyPr lIns="0" tIns="0" rIns="0" bIns="0" rtlCol="0" anchor="t">
            <a:noAutofit/>
          </a:bodyPr>
          <a:lstStyle/>
          <a:p>
            <a:pPr algn="l">
              <a:lnSpc>
                <a:spcPts val="3080"/>
              </a:lnSpc>
            </a:pPr>
            <a:r>
              <a:rPr lang="zh-CN" altLang="en-US" sz="1800">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rPr>
              <a:t>前端图表重绘</a:t>
            </a:r>
            <a:endParaRPr lang="zh-CN" altLang="en-US" sz="1800">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endParaRPr>
          </a:p>
          <a:p>
            <a:pPr algn="l">
              <a:lnSpc>
                <a:spcPts val="3080"/>
              </a:lnSpc>
            </a:pPr>
            <a:r>
              <a:rPr lang="zh-CN" altLang="en-US" sz="1800">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rPr>
              <a:t>数据双向绑定</a:t>
            </a:r>
            <a:endParaRPr lang="zh-CN" altLang="en-US" sz="1800">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endParaRPr>
          </a:p>
        </p:txBody>
      </p:sp>
      <p:sp>
        <p:nvSpPr>
          <p:cNvPr id="25" name="TextBox 13"/>
          <p:cNvSpPr txBox="1"/>
          <p:nvPr/>
        </p:nvSpPr>
        <p:spPr>
          <a:xfrm>
            <a:off x="9220200" y="6446520"/>
            <a:ext cx="1263015" cy="661670"/>
          </a:xfrm>
          <a:prstGeom prst="rect">
            <a:avLst/>
          </a:prstGeom>
        </p:spPr>
        <p:txBody>
          <a:bodyPr lIns="0" tIns="0" rIns="0" bIns="0" rtlCol="0" anchor="t">
            <a:noAutofit/>
          </a:bodyPr>
          <a:lstStyle/>
          <a:p>
            <a:pPr algn="l">
              <a:lnSpc>
                <a:spcPts val="5040"/>
              </a:lnSpc>
            </a:pPr>
            <a:r>
              <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管理</a:t>
            </a:r>
            <a:endPar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26" name="TextBox 14"/>
          <p:cNvSpPr txBox="1"/>
          <p:nvPr/>
        </p:nvSpPr>
        <p:spPr>
          <a:xfrm>
            <a:off x="8991600" y="7032625"/>
            <a:ext cx="1604010" cy="749300"/>
          </a:xfrm>
          <a:prstGeom prst="rect">
            <a:avLst/>
          </a:prstGeom>
        </p:spPr>
        <p:txBody>
          <a:bodyPr lIns="0" tIns="0" rIns="0" bIns="0" rtlCol="0" anchor="t">
            <a:noAutofit/>
          </a:bodyPr>
          <a:lstStyle/>
          <a:p>
            <a:pPr algn="l">
              <a:lnSpc>
                <a:spcPts val="3080"/>
              </a:lnSpc>
            </a:pPr>
            <a:r>
              <a:rPr lang="zh-CN" altLang="en-US" sz="1800" b="1">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rPr>
              <a:t>沙盒物理隔离</a:t>
            </a:r>
            <a:endParaRPr lang="zh-CN" altLang="en-US" sz="1800" b="1">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endParaRPr>
          </a:p>
          <a:p>
            <a:pPr algn="l">
              <a:lnSpc>
                <a:spcPts val="3080"/>
              </a:lnSpc>
            </a:pPr>
            <a:r>
              <a:rPr lang="zh-CN" altLang="en-US" sz="1800" b="1">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rPr>
              <a:t>资产安全导出</a:t>
            </a:r>
            <a:endParaRPr lang="zh-CN" altLang="en-US" sz="1800" b="1">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76200" y="-11430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6" name="Freeform 6"/>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pic>
        <p:nvPicPr>
          <p:cNvPr id="1037390224" name="图片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a:xfrm>
            <a:off x="2895600" y="190500"/>
            <a:ext cx="11535410" cy="9722485"/>
          </a:xfrm>
          <a:prstGeom prst="rect">
            <a:avLst/>
          </a:prstGeom>
          <a:noFill/>
          <a:ln>
            <a:noFill/>
          </a:ln>
        </p:spPr>
      </p:pic>
      <p:sp>
        <p:nvSpPr>
          <p:cNvPr id="20" name="TextBox 20"/>
          <p:cNvSpPr txBox="1"/>
          <p:nvPr/>
        </p:nvSpPr>
        <p:spPr>
          <a:xfrm>
            <a:off x="1028700" y="457200"/>
            <a:ext cx="7301865" cy="1076960"/>
          </a:xfrm>
          <a:prstGeom prst="rect">
            <a:avLst/>
          </a:prstGeom>
        </p:spPr>
        <p:txBody>
          <a:bodyPr wrap="square" lIns="0" tIns="0" rIns="0" bIns="0" rtlCol="0" anchor="t">
            <a:spAutoFit/>
          </a:bodyPr>
          <a:lstStyle/>
          <a:p>
            <a:pPr algn="l">
              <a:lnSpc>
                <a:spcPts val="8400"/>
              </a:lnSpc>
            </a:pPr>
            <a:r>
              <a:rPr 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02.</a:t>
            </a:r>
            <a:r>
              <a:rPr lang="zh-CN" alt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系统架构设计</a:t>
            </a:r>
            <a:endParaRPr lang="zh-CN" alt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21" name="TextBox 21"/>
          <p:cNvSpPr txBox="1"/>
          <p:nvPr/>
        </p:nvSpPr>
        <p:spPr>
          <a:xfrm>
            <a:off x="13753946" y="872490"/>
            <a:ext cx="3505354" cy="613410"/>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TWO</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6" name="Freeform 6"/>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7" name="Freeform 7"/>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sp>
        <p:nvSpPr>
          <p:cNvPr id="20" name="TextBox 20"/>
          <p:cNvSpPr txBox="1"/>
          <p:nvPr/>
        </p:nvSpPr>
        <p:spPr>
          <a:xfrm>
            <a:off x="1028700" y="457200"/>
            <a:ext cx="7301865" cy="1076960"/>
          </a:xfrm>
          <a:prstGeom prst="rect">
            <a:avLst/>
          </a:prstGeom>
        </p:spPr>
        <p:txBody>
          <a:bodyPr wrap="square" lIns="0" tIns="0" rIns="0" bIns="0" rtlCol="0" anchor="t">
            <a:spAutoFit/>
          </a:bodyPr>
          <a:lstStyle/>
          <a:p>
            <a:pPr algn="l">
              <a:lnSpc>
                <a:spcPts val="8400"/>
              </a:lnSpc>
            </a:pPr>
            <a:r>
              <a:rPr 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02.</a:t>
            </a:r>
            <a:r>
              <a:rPr lang="zh-CN" alt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系统架构设计</a:t>
            </a:r>
            <a:endParaRPr lang="zh-CN" alt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21" name="TextBox 21"/>
          <p:cNvSpPr txBox="1"/>
          <p:nvPr/>
        </p:nvSpPr>
        <p:spPr>
          <a:xfrm>
            <a:off x="13753946" y="872490"/>
            <a:ext cx="3505354" cy="613410"/>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TWO</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grpSp>
        <p:nvGrpSpPr>
          <p:cNvPr id="22" name="Group 11"/>
          <p:cNvGrpSpPr/>
          <p:nvPr/>
        </p:nvGrpSpPr>
        <p:grpSpPr>
          <a:xfrm rot="0">
            <a:off x="2268779" y="2325504"/>
            <a:ext cx="5411838" cy="905923"/>
            <a:chOff x="0" y="0"/>
            <a:chExt cx="7215784" cy="1207898"/>
          </a:xfrm>
        </p:grpSpPr>
        <p:sp>
          <p:nvSpPr>
            <p:cNvPr id="23" name="Freeform 12"/>
            <p:cNvSpPr/>
            <p:nvPr/>
          </p:nvSpPr>
          <p:spPr>
            <a:xfrm>
              <a:off x="-2" y="45"/>
              <a:ext cx="7215786" cy="1207899"/>
            </a:xfrm>
            <a:custGeom>
              <a:avLst/>
              <a:gdLst/>
              <a:ahLst/>
              <a:cxnLst/>
              <a:rect l="l" t="t" r="r" b="b"/>
              <a:pathLst>
                <a:path w="7215786" h="1207899">
                  <a:moveTo>
                    <a:pt x="80774" y="395179"/>
                  </a:moveTo>
                  <a:cubicBezTo>
                    <a:pt x="281688" y="265385"/>
                    <a:pt x="989332" y="14687"/>
                    <a:pt x="1456946" y="463"/>
                  </a:cubicBezTo>
                  <a:cubicBezTo>
                    <a:pt x="1924560" y="-13761"/>
                    <a:pt x="2406398" y="304501"/>
                    <a:pt x="2886458" y="309835"/>
                  </a:cubicBezTo>
                  <a:cubicBezTo>
                    <a:pt x="3366518" y="315169"/>
                    <a:pt x="3880360" y="21799"/>
                    <a:pt x="4337306" y="32467"/>
                  </a:cubicBezTo>
                  <a:cubicBezTo>
                    <a:pt x="4794252" y="43135"/>
                    <a:pt x="5187190" y="345395"/>
                    <a:pt x="5628134" y="373843"/>
                  </a:cubicBezTo>
                  <a:cubicBezTo>
                    <a:pt x="6069078" y="402291"/>
                    <a:pt x="6773166" y="140925"/>
                    <a:pt x="6982970" y="203155"/>
                  </a:cubicBezTo>
                  <a:cubicBezTo>
                    <a:pt x="7192775" y="265385"/>
                    <a:pt x="7420358" y="580091"/>
                    <a:pt x="6886958" y="747223"/>
                  </a:cubicBezTo>
                  <a:cubicBezTo>
                    <a:pt x="6353558" y="914355"/>
                    <a:pt x="4756914" y="1179277"/>
                    <a:pt x="3782570" y="1205947"/>
                  </a:cubicBezTo>
                  <a:cubicBezTo>
                    <a:pt x="2808226" y="1232617"/>
                    <a:pt x="1629412" y="978363"/>
                    <a:pt x="1040894" y="907243"/>
                  </a:cubicBezTo>
                  <a:cubicBezTo>
                    <a:pt x="452376" y="836123"/>
                    <a:pt x="404370" y="852125"/>
                    <a:pt x="251462" y="779227"/>
                  </a:cubicBezTo>
                  <a:cubicBezTo>
                    <a:pt x="98554" y="706329"/>
                    <a:pt x="-120140" y="524973"/>
                    <a:pt x="80774" y="395179"/>
                  </a:cubicBezTo>
                  <a:close/>
                </a:path>
              </a:pathLst>
            </a:custGeom>
            <a:solidFill>
              <a:srgbClr val="AEDCFF"/>
            </a:solidFill>
          </p:spPr>
        </p:sp>
      </p:grpSp>
      <p:grpSp>
        <p:nvGrpSpPr>
          <p:cNvPr id="24" name="Group 13"/>
          <p:cNvGrpSpPr/>
          <p:nvPr/>
        </p:nvGrpSpPr>
        <p:grpSpPr>
          <a:xfrm rot="-10800000">
            <a:off x="2295663" y="2682954"/>
            <a:ext cx="5243535" cy="1225536"/>
            <a:chOff x="0" y="0"/>
            <a:chExt cx="6991380" cy="1634048"/>
          </a:xfrm>
        </p:grpSpPr>
        <p:sp>
          <p:nvSpPr>
            <p:cNvPr id="25" name="Freeform 14"/>
            <p:cNvSpPr/>
            <p:nvPr/>
          </p:nvSpPr>
          <p:spPr>
            <a:xfrm>
              <a:off x="0" y="0"/>
              <a:ext cx="6991350" cy="1634109"/>
            </a:xfrm>
            <a:custGeom>
              <a:avLst/>
              <a:gdLst/>
              <a:ahLst/>
              <a:cxnLst/>
              <a:rect l="l" t="t" r="r" b="b"/>
              <a:pathLst>
                <a:path w="6991350" h="1634109">
                  <a:moveTo>
                    <a:pt x="0" y="1634109"/>
                  </a:moveTo>
                  <a:lnTo>
                    <a:pt x="471932" y="0"/>
                  </a:lnTo>
                  <a:lnTo>
                    <a:pt x="6519418" y="0"/>
                  </a:lnTo>
                  <a:lnTo>
                    <a:pt x="6991350" y="1634109"/>
                  </a:lnTo>
                  <a:close/>
                </a:path>
              </a:pathLst>
            </a:custGeom>
            <a:solidFill>
              <a:srgbClr val="AEDCFF"/>
            </a:solidFill>
          </p:spPr>
        </p:sp>
      </p:grpSp>
      <p:grpSp>
        <p:nvGrpSpPr>
          <p:cNvPr id="26" name="Group 15"/>
          <p:cNvGrpSpPr/>
          <p:nvPr/>
        </p:nvGrpSpPr>
        <p:grpSpPr>
          <a:xfrm rot="-10800000">
            <a:off x="2882022" y="3906534"/>
            <a:ext cx="4208787" cy="1588248"/>
            <a:chOff x="0" y="0"/>
            <a:chExt cx="5611716" cy="2117664"/>
          </a:xfrm>
        </p:grpSpPr>
        <p:sp>
          <p:nvSpPr>
            <p:cNvPr id="27" name="Freeform 16"/>
            <p:cNvSpPr/>
            <p:nvPr/>
          </p:nvSpPr>
          <p:spPr>
            <a:xfrm>
              <a:off x="0" y="0"/>
              <a:ext cx="5611749" cy="2117725"/>
            </a:xfrm>
            <a:custGeom>
              <a:avLst/>
              <a:gdLst/>
              <a:ahLst/>
              <a:cxnLst/>
              <a:rect l="l" t="t" r="r" b="b"/>
              <a:pathLst>
                <a:path w="5611749" h="2117725">
                  <a:moveTo>
                    <a:pt x="0" y="2117725"/>
                  </a:moveTo>
                  <a:lnTo>
                    <a:pt x="611632" y="0"/>
                  </a:lnTo>
                  <a:lnTo>
                    <a:pt x="5000117" y="0"/>
                  </a:lnTo>
                  <a:lnTo>
                    <a:pt x="5611749" y="2117725"/>
                  </a:lnTo>
                  <a:close/>
                </a:path>
              </a:pathLst>
            </a:custGeom>
            <a:gradFill rotWithShape="1">
              <a:gsLst>
                <a:gs pos="0">
                  <a:srgbClr val="86B8C0">
                    <a:alpha val="100000"/>
                  </a:srgbClr>
                </a:gs>
                <a:gs pos="100000">
                  <a:srgbClr val="5496A1">
                    <a:alpha val="100000"/>
                  </a:srgbClr>
                </a:gs>
              </a:gsLst>
              <a:lin ang="6640484"/>
            </a:gradFill>
          </p:spPr>
        </p:sp>
      </p:grpSp>
      <p:grpSp>
        <p:nvGrpSpPr>
          <p:cNvPr id="28" name="Group 17"/>
          <p:cNvGrpSpPr/>
          <p:nvPr/>
        </p:nvGrpSpPr>
        <p:grpSpPr>
          <a:xfrm rot="-10800000">
            <a:off x="3327221" y="5474732"/>
            <a:ext cx="3216615" cy="1588248"/>
            <a:chOff x="0" y="0"/>
            <a:chExt cx="4288820" cy="2117664"/>
          </a:xfrm>
        </p:grpSpPr>
        <p:sp>
          <p:nvSpPr>
            <p:cNvPr id="29" name="Freeform 18"/>
            <p:cNvSpPr/>
            <p:nvPr/>
          </p:nvSpPr>
          <p:spPr>
            <a:xfrm>
              <a:off x="0" y="0"/>
              <a:ext cx="4288790" cy="2117725"/>
            </a:xfrm>
            <a:custGeom>
              <a:avLst/>
              <a:gdLst/>
              <a:ahLst/>
              <a:cxnLst/>
              <a:rect l="l" t="t" r="r" b="b"/>
              <a:pathLst>
                <a:path w="4288790" h="2117725">
                  <a:moveTo>
                    <a:pt x="4288790" y="2117725"/>
                  </a:moveTo>
                  <a:lnTo>
                    <a:pt x="3677158" y="0"/>
                  </a:lnTo>
                  <a:lnTo>
                    <a:pt x="611632" y="0"/>
                  </a:lnTo>
                  <a:lnTo>
                    <a:pt x="0" y="2117725"/>
                  </a:lnTo>
                  <a:close/>
                </a:path>
              </a:pathLst>
            </a:custGeom>
            <a:gradFill rotWithShape="1">
              <a:gsLst>
                <a:gs pos="0">
                  <a:srgbClr val="7DC7FF">
                    <a:alpha val="100000"/>
                  </a:srgbClr>
                </a:gs>
                <a:gs pos="100000">
                  <a:srgbClr val="0069B8">
                    <a:alpha val="100000"/>
                  </a:srgbClr>
                </a:gs>
              </a:gsLst>
              <a:lin ang="14623290"/>
            </a:gradFill>
          </p:spPr>
        </p:sp>
      </p:grpSp>
      <p:grpSp>
        <p:nvGrpSpPr>
          <p:cNvPr id="30" name="Group 19"/>
          <p:cNvGrpSpPr/>
          <p:nvPr/>
        </p:nvGrpSpPr>
        <p:grpSpPr>
          <a:xfrm rot="-10800000">
            <a:off x="3905543" y="7062300"/>
            <a:ext cx="2161071" cy="1664208"/>
            <a:chOff x="0" y="0"/>
            <a:chExt cx="2881428" cy="2218944"/>
          </a:xfrm>
        </p:grpSpPr>
        <p:sp>
          <p:nvSpPr>
            <p:cNvPr id="31" name="Freeform 20"/>
            <p:cNvSpPr/>
            <p:nvPr/>
          </p:nvSpPr>
          <p:spPr>
            <a:xfrm>
              <a:off x="0" y="0"/>
              <a:ext cx="2881376" cy="2218944"/>
            </a:xfrm>
            <a:custGeom>
              <a:avLst/>
              <a:gdLst/>
              <a:ahLst/>
              <a:cxnLst/>
              <a:rect l="l" t="t" r="r" b="b"/>
              <a:pathLst>
                <a:path w="2881376" h="2218944">
                  <a:moveTo>
                    <a:pt x="0" y="2218944"/>
                  </a:moveTo>
                  <a:lnTo>
                    <a:pt x="792607" y="0"/>
                  </a:lnTo>
                  <a:lnTo>
                    <a:pt x="2088769" y="0"/>
                  </a:lnTo>
                  <a:lnTo>
                    <a:pt x="2881376" y="2218944"/>
                  </a:lnTo>
                  <a:close/>
                </a:path>
              </a:pathLst>
            </a:custGeom>
            <a:gradFill rotWithShape="1">
              <a:gsLst>
                <a:gs pos="0">
                  <a:srgbClr val="0069B8">
                    <a:alpha val="100000"/>
                  </a:srgbClr>
                </a:gs>
                <a:gs pos="100000">
                  <a:srgbClr val="004F8A">
                    <a:alpha val="100000"/>
                  </a:srgbClr>
                </a:gs>
              </a:gsLst>
              <a:lin ang="13500000"/>
            </a:gradFill>
          </p:spPr>
        </p:sp>
      </p:grpSp>
      <p:grpSp>
        <p:nvGrpSpPr>
          <p:cNvPr id="32" name="Group 21"/>
          <p:cNvGrpSpPr/>
          <p:nvPr/>
        </p:nvGrpSpPr>
        <p:grpSpPr>
          <a:xfrm rot="0">
            <a:off x="2086448" y="2331184"/>
            <a:ext cx="2457908" cy="6410188"/>
            <a:chOff x="0" y="0"/>
            <a:chExt cx="3277210" cy="8546918"/>
          </a:xfrm>
        </p:grpSpPr>
        <p:sp>
          <p:nvSpPr>
            <p:cNvPr id="33" name="Freeform 22"/>
            <p:cNvSpPr/>
            <p:nvPr/>
          </p:nvSpPr>
          <p:spPr>
            <a:xfrm>
              <a:off x="0" y="0"/>
              <a:ext cx="3277235" cy="8546973"/>
            </a:xfrm>
            <a:custGeom>
              <a:avLst/>
              <a:gdLst/>
              <a:ahLst/>
              <a:cxnLst/>
              <a:rect l="l" t="t" r="r" b="b"/>
              <a:pathLst>
                <a:path w="3277235" h="8546973">
                  <a:moveTo>
                    <a:pt x="3277235" y="8546973"/>
                  </a:moveTo>
                  <a:lnTo>
                    <a:pt x="415417" y="0"/>
                  </a:lnTo>
                  <a:lnTo>
                    <a:pt x="0" y="0"/>
                  </a:lnTo>
                  <a:lnTo>
                    <a:pt x="2861818" y="8546973"/>
                  </a:lnTo>
                  <a:close/>
                </a:path>
              </a:pathLst>
            </a:custGeom>
            <a:solidFill>
              <a:srgbClr val="0069B8"/>
            </a:solidFill>
          </p:spPr>
        </p:sp>
      </p:grpSp>
      <p:grpSp>
        <p:nvGrpSpPr>
          <p:cNvPr id="34" name="Group 23"/>
          <p:cNvGrpSpPr/>
          <p:nvPr/>
        </p:nvGrpSpPr>
        <p:grpSpPr>
          <a:xfrm rot="0">
            <a:off x="5384139" y="2331184"/>
            <a:ext cx="2457908" cy="6410188"/>
            <a:chOff x="0" y="0"/>
            <a:chExt cx="3277210" cy="8546918"/>
          </a:xfrm>
        </p:grpSpPr>
        <p:sp>
          <p:nvSpPr>
            <p:cNvPr id="35" name="Freeform 24"/>
            <p:cNvSpPr/>
            <p:nvPr/>
          </p:nvSpPr>
          <p:spPr>
            <a:xfrm>
              <a:off x="0" y="0"/>
              <a:ext cx="3277235" cy="8546973"/>
            </a:xfrm>
            <a:custGeom>
              <a:avLst/>
              <a:gdLst/>
              <a:ahLst/>
              <a:cxnLst/>
              <a:rect l="l" t="t" r="r" b="b"/>
              <a:pathLst>
                <a:path w="3277235" h="8546973">
                  <a:moveTo>
                    <a:pt x="0" y="8546973"/>
                  </a:moveTo>
                  <a:lnTo>
                    <a:pt x="2861818" y="0"/>
                  </a:lnTo>
                  <a:lnTo>
                    <a:pt x="3277235" y="0"/>
                  </a:lnTo>
                  <a:lnTo>
                    <a:pt x="415417" y="8546973"/>
                  </a:lnTo>
                  <a:close/>
                </a:path>
              </a:pathLst>
            </a:custGeom>
            <a:solidFill>
              <a:srgbClr val="0069B8"/>
            </a:solidFill>
          </p:spPr>
        </p:sp>
      </p:grpSp>
      <p:grpSp>
        <p:nvGrpSpPr>
          <p:cNvPr id="36" name="Group 25"/>
          <p:cNvGrpSpPr/>
          <p:nvPr/>
        </p:nvGrpSpPr>
        <p:grpSpPr>
          <a:xfrm rot="-10800000">
            <a:off x="4167857" y="8448018"/>
            <a:ext cx="1564836" cy="290756"/>
            <a:chOff x="0" y="0"/>
            <a:chExt cx="2086448" cy="387674"/>
          </a:xfrm>
        </p:grpSpPr>
        <p:sp>
          <p:nvSpPr>
            <p:cNvPr id="37" name="Freeform 26"/>
            <p:cNvSpPr/>
            <p:nvPr/>
          </p:nvSpPr>
          <p:spPr>
            <a:xfrm>
              <a:off x="0" y="0"/>
              <a:ext cx="2086483" cy="387731"/>
            </a:xfrm>
            <a:custGeom>
              <a:avLst/>
              <a:gdLst/>
              <a:ahLst/>
              <a:cxnLst/>
              <a:rect l="l" t="t" r="r" b="b"/>
              <a:pathLst>
                <a:path w="2086483" h="387731">
                  <a:moveTo>
                    <a:pt x="0" y="387731"/>
                  </a:moveTo>
                  <a:lnTo>
                    <a:pt x="96901" y="0"/>
                  </a:lnTo>
                  <a:lnTo>
                    <a:pt x="1989582" y="0"/>
                  </a:lnTo>
                  <a:lnTo>
                    <a:pt x="2086483" y="387731"/>
                  </a:lnTo>
                  <a:close/>
                </a:path>
              </a:pathLst>
            </a:custGeom>
            <a:solidFill>
              <a:srgbClr val="0069B8"/>
            </a:solidFill>
          </p:spPr>
        </p:sp>
      </p:grpSp>
      <p:sp>
        <p:nvSpPr>
          <p:cNvPr id="38" name="TextBox 28"/>
          <p:cNvSpPr txBox="1"/>
          <p:nvPr/>
        </p:nvSpPr>
        <p:spPr>
          <a:xfrm>
            <a:off x="3778018" y="3049284"/>
            <a:ext cx="2278826" cy="461645"/>
          </a:xfrm>
          <a:prstGeom prst="rect">
            <a:avLst/>
          </a:prstGeom>
        </p:spPr>
        <p:txBody>
          <a:bodyPr lIns="0" tIns="0" rIns="0" bIns="0" rtlCol="0" anchor="t">
            <a:spAutoFit/>
          </a:bodyPr>
          <a:lstStyle/>
          <a:p>
            <a:pPr algn="ctr">
              <a:lnSpc>
                <a:spcPts val="3600"/>
              </a:lnSpc>
              <a:spcBef>
                <a:spcPct val="0"/>
              </a:spcBef>
            </a:pPr>
            <a:r>
              <a:rPr lang="zh-CN" altLang="en-US" sz="3000" spc="59">
                <a:solidFill>
                  <a:srgbClr val="0069B8"/>
                </a:solidFill>
                <a:latin typeface="思源黑体" panose="020B0500000000000000" charset="-122"/>
                <a:ea typeface="思源黑体" panose="020B0500000000000000" charset="-122"/>
                <a:cs typeface="思源黑体" panose="020B0500000000000000" charset="-122"/>
                <a:sym typeface="思源黑体" panose="020B0500000000000000" charset="-122"/>
              </a:rPr>
              <a:t>用户展示层</a:t>
            </a:r>
            <a:endParaRPr lang="zh-CN" altLang="en-US" sz="3000" spc="59">
              <a:solidFill>
                <a:srgbClr val="0069B8"/>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39" name="TextBox 29"/>
          <p:cNvSpPr txBox="1"/>
          <p:nvPr/>
        </p:nvSpPr>
        <p:spPr>
          <a:xfrm>
            <a:off x="3847003" y="4464270"/>
            <a:ext cx="2278826" cy="461645"/>
          </a:xfrm>
          <a:prstGeom prst="rect">
            <a:avLst/>
          </a:prstGeom>
        </p:spPr>
        <p:txBody>
          <a:bodyPr lIns="0" tIns="0" rIns="0" bIns="0" rtlCol="0" anchor="t">
            <a:spAutoFit/>
          </a:bodyPr>
          <a:lstStyle/>
          <a:p>
            <a:pPr algn="ctr">
              <a:lnSpc>
                <a:spcPts val="3600"/>
              </a:lnSpc>
              <a:spcBef>
                <a:spcPct val="0"/>
              </a:spcBef>
            </a:pPr>
            <a:r>
              <a:rPr lang="zh-CN" altLang="en-US" sz="3000" spc="59">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前端业务层</a:t>
            </a:r>
            <a:endParaRPr lang="zh-CN" altLang="en-US" sz="3000" spc="59">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40" name="TextBox 30"/>
          <p:cNvSpPr txBox="1"/>
          <p:nvPr/>
        </p:nvSpPr>
        <p:spPr>
          <a:xfrm>
            <a:off x="3835285" y="6047232"/>
            <a:ext cx="2278826" cy="461645"/>
          </a:xfrm>
          <a:prstGeom prst="rect">
            <a:avLst/>
          </a:prstGeom>
        </p:spPr>
        <p:txBody>
          <a:bodyPr lIns="0" tIns="0" rIns="0" bIns="0" rtlCol="0" anchor="t">
            <a:spAutoFit/>
          </a:bodyPr>
          <a:lstStyle/>
          <a:p>
            <a:pPr algn="ctr">
              <a:lnSpc>
                <a:spcPts val="3600"/>
              </a:lnSpc>
              <a:spcBef>
                <a:spcPct val="0"/>
              </a:spcBef>
            </a:pPr>
            <a:r>
              <a:rPr lang="zh-CN" altLang="en-US" sz="3000" spc="59">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通信路由层</a:t>
            </a:r>
            <a:endParaRPr lang="zh-CN" altLang="en-US" sz="3000" spc="59">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41" name="TextBox 31"/>
          <p:cNvSpPr txBox="1"/>
          <p:nvPr/>
        </p:nvSpPr>
        <p:spPr>
          <a:xfrm>
            <a:off x="3835285" y="7488799"/>
            <a:ext cx="2278826" cy="461645"/>
          </a:xfrm>
          <a:prstGeom prst="rect">
            <a:avLst/>
          </a:prstGeom>
        </p:spPr>
        <p:txBody>
          <a:bodyPr lIns="0" tIns="0" rIns="0" bIns="0" rtlCol="0" anchor="t">
            <a:spAutoFit/>
          </a:bodyPr>
          <a:lstStyle/>
          <a:p>
            <a:pPr algn="ctr">
              <a:lnSpc>
                <a:spcPts val="3600"/>
              </a:lnSpc>
              <a:spcBef>
                <a:spcPct val="0"/>
              </a:spcBef>
            </a:pPr>
            <a:r>
              <a:rPr lang="zh-CN" altLang="en-US" sz="3000" spc="59">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rPr>
              <a:t>后端算力层</a:t>
            </a:r>
            <a:endParaRPr lang="zh-CN" altLang="en-US" sz="3000" spc="59">
              <a:solidFill>
                <a:srgbClr val="FFFFFF"/>
              </a:solidFill>
              <a:latin typeface="思源黑体" panose="020B0500000000000000" charset="-122"/>
              <a:ea typeface="思源黑体" panose="020B0500000000000000" charset="-122"/>
              <a:cs typeface="思源黑体" panose="020B0500000000000000" charset="-122"/>
              <a:sym typeface="思源黑体" panose="020B0500000000000000" charset="-122"/>
            </a:endParaRPr>
          </a:p>
        </p:txBody>
      </p:sp>
      <p:sp>
        <p:nvSpPr>
          <p:cNvPr id="42" name="AutoShape 32"/>
          <p:cNvSpPr/>
          <p:nvPr/>
        </p:nvSpPr>
        <p:spPr>
          <a:xfrm>
            <a:off x="7842047" y="3295722"/>
            <a:ext cx="2118021" cy="10737"/>
          </a:xfrm>
          <a:prstGeom prst="line">
            <a:avLst/>
          </a:prstGeom>
          <a:ln w="28575" cap="flat">
            <a:solidFill>
              <a:srgbClr val="0069B8"/>
            </a:solidFill>
            <a:prstDash val="solid"/>
            <a:headEnd type="diamond" w="lg" len="lg"/>
            <a:tailEnd type="diamond" w="lg" len="lg"/>
          </a:ln>
        </p:spPr>
      </p:sp>
      <p:sp>
        <p:nvSpPr>
          <p:cNvPr id="43" name="AutoShape 33"/>
          <p:cNvSpPr/>
          <p:nvPr/>
        </p:nvSpPr>
        <p:spPr>
          <a:xfrm>
            <a:off x="6838029" y="6556041"/>
            <a:ext cx="3122135" cy="0"/>
          </a:xfrm>
          <a:prstGeom prst="line">
            <a:avLst/>
          </a:prstGeom>
          <a:ln w="28575" cap="flat">
            <a:solidFill>
              <a:srgbClr val="0069B8"/>
            </a:solidFill>
            <a:prstDash val="solid"/>
            <a:headEnd type="diamond" w="lg" len="lg"/>
            <a:tailEnd type="diamond" w="lg" len="lg"/>
          </a:ln>
        </p:spPr>
      </p:sp>
      <p:sp>
        <p:nvSpPr>
          <p:cNvPr id="44" name="AutoShape 34"/>
          <p:cNvSpPr/>
          <p:nvPr/>
        </p:nvSpPr>
        <p:spPr>
          <a:xfrm>
            <a:off x="6125925" y="8180832"/>
            <a:ext cx="3834239" cy="0"/>
          </a:xfrm>
          <a:prstGeom prst="line">
            <a:avLst/>
          </a:prstGeom>
          <a:ln w="28575" cap="flat">
            <a:solidFill>
              <a:srgbClr val="0069B8"/>
            </a:solidFill>
            <a:prstDash val="solid"/>
            <a:headEnd type="diamond" w="lg" len="lg"/>
            <a:tailEnd type="diamond" w="lg" len="lg"/>
          </a:ln>
        </p:spPr>
      </p:sp>
      <p:sp>
        <p:nvSpPr>
          <p:cNvPr id="45" name="AutoShape 35"/>
          <p:cNvSpPr/>
          <p:nvPr/>
        </p:nvSpPr>
        <p:spPr>
          <a:xfrm flipV="1">
            <a:off x="7295020" y="4931250"/>
            <a:ext cx="2665144" cy="0"/>
          </a:xfrm>
          <a:prstGeom prst="line">
            <a:avLst/>
          </a:prstGeom>
          <a:ln w="28575" cap="flat">
            <a:solidFill>
              <a:srgbClr val="5496A1"/>
            </a:solidFill>
            <a:prstDash val="solid"/>
            <a:headEnd type="diamond" w="lg" len="lg"/>
            <a:tailEnd type="diamond" w="lg" len="lg"/>
          </a:ln>
        </p:spPr>
      </p:sp>
      <p:grpSp>
        <p:nvGrpSpPr>
          <p:cNvPr id="46" name="Group 36"/>
          <p:cNvGrpSpPr/>
          <p:nvPr>
            <p:custDataLst>
              <p:tags r:id="rId4"/>
            </p:custDataLst>
          </p:nvPr>
        </p:nvGrpSpPr>
        <p:grpSpPr>
          <a:xfrm rot="0">
            <a:off x="10264964" y="2481334"/>
            <a:ext cx="5886047" cy="1232059"/>
            <a:chOff x="0" y="-9525"/>
            <a:chExt cx="7848063" cy="1642745"/>
          </a:xfrm>
        </p:grpSpPr>
        <p:sp>
          <p:nvSpPr>
            <p:cNvPr id="47" name="TextBox 37"/>
            <p:cNvSpPr txBox="1"/>
            <p:nvPr>
              <p:custDataLst>
                <p:tags r:id="rId5"/>
              </p:custDataLst>
            </p:nvPr>
          </p:nvSpPr>
          <p:spPr>
            <a:xfrm>
              <a:off x="0" y="-9525"/>
              <a:ext cx="7848063" cy="615527"/>
            </a:xfrm>
            <a:prstGeom prst="rect">
              <a:avLst/>
            </a:prstGeom>
          </p:spPr>
          <p:txBody>
            <a:bodyPr lIns="0" tIns="0" rIns="0" bIns="0" rtlCol="0" anchor="t">
              <a:spAutoFit/>
            </a:bodyPr>
            <a:lstStyle/>
            <a:p>
              <a:pPr algn="l">
                <a:lnSpc>
                  <a:spcPts val="3600"/>
                </a:lnSpc>
                <a:spcBef>
                  <a:spcPct val="0"/>
                </a:spcBef>
              </a:pPr>
              <a:r>
                <a:rPr lang="zh-CN" altLang="en-US" sz="3000" b="1" spc="59">
                  <a:solidFill>
                    <a:srgbClr val="0069B8"/>
                  </a:solidFill>
                  <a:latin typeface="微软雅黑" panose="020B0503020204020204" charset="-122"/>
                  <a:ea typeface="微软雅黑" panose="020B0503020204020204" charset="-122"/>
                  <a:cs typeface="思源黑体 Bold" panose="020B0800000000000000" charset="-122"/>
                  <a:sym typeface="思源黑体 Bold" panose="020B0800000000000000" charset="-122"/>
                </a:rPr>
                <a:t>用户展示层</a:t>
              </a:r>
              <a:endParaRPr lang="zh-CN" altLang="en-US" sz="3000" b="1" spc="59">
                <a:solidFill>
                  <a:srgbClr val="0069B8"/>
                </a:solidFill>
                <a:latin typeface="微软雅黑" panose="020B0503020204020204" charset="-122"/>
                <a:ea typeface="微软雅黑" panose="020B0503020204020204" charset="-122"/>
                <a:cs typeface="思源黑体 Bold" panose="020B0800000000000000" charset="-122"/>
                <a:sym typeface="思源黑体 Bold" panose="020B0800000000000000" charset="-122"/>
              </a:endParaRPr>
            </a:p>
          </p:txBody>
        </p:sp>
        <p:sp>
          <p:nvSpPr>
            <p:cNvPr id="48" name="TextBox 38"/>
            <p:cNvSpPr txBox="1"/>
            <p:nvPr>
              <p:custDataLst>
                <p:tags r:id="rId6"/>
              </p:custDataLst>
            </p:nvPr>
          </p:nvSpPr>
          <p:spPr>
            <a:xfrm>
              <a:off x="0" y="812800"/>
              <a:ext cx="7767295" cy="820420"/>
            </a:xfrm>
            <a:prstGeom prst="rect">
              <a:avLst/>
            </a:prstGeom>
          </p:spPr>
          <p:txBody>
            <a:bodyPr lIns="0" tIns="0" rIns="0" bIns="0" rtlCol="0" anchor="t">
              <a:spAutoFit/>
            </a:bodyPr>
            <a:lstStyle/>
            <a:p>
              <a:pPr algn="l">
                <a:lnSpc>
                  <a:spcPts val="2400"/>
                </a:lnSpc>
                <a:spcBef>
                  <a:spcPct val="0"/>
                </a:spcBef>
              </a:pP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负责最终的视图呈现。采用</a:t>
              </a:r>
              <a:r>
                <a:rPr lang="en-US" altLang="zh-CN"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 Vue 3.0 </a:t>
              </a: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与</a:t>
              </a:r>
              <a:r>
                <a:rPr lang="en-US" altLang="zh-CN"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 ECharts </a:t>
              </a: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引擎，构建响应式大屏与数据双向绑定。</a:t>
              </a:r>
              <a:endPar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endParaRPr>
            </a:p>
          </p:txBody>
        </p:sp>
      </p:grpSp>
      <p:grpSp>
        <p:nvGrpSpPr>
          <p:cNvPr id="49" name="Group 39"/>
          <p:cNvGrpSpPr/>
          <p:nvPr>
            <p:custDataLst>
              <p:tags r:id="rId7"/>
            </p:custDataLst>
          </p:nvPr>
        </p:nvGrpSpPr>
        <p:grpSpPr>
          <a:xfrm rot="0">
            <a:off x="10264964" y="4117513"/>
            <a:ext cx="5886047" cy="1540034"/>
            <a:chOff x="0" y="-9525"/>
            <a:chExt cx="7848063" cy="2053378"/>
          </a:xfrm>
        </p:grpSpPr>
        <p:sp>
          <p:nvSpPr>
            <p:cNvPr id="50" name="TextBox 40"/>
            <p:cNvSpPr txBox="1"/>
            <p:nvPr>
              <p:custDataLst>
                <p:tags r:id="rId8"/>
              </p:custDataLst>
            </p:nvPr>
          </p:nvSpPr>
          <p:spPr>
            <a:xfrm>
              <a:off x="0" y="-9525"/>
              <a:ext cx="7848063" cy="615527"/>
            </a:xfrm>
            <a:prstGeom prst="rect">
              <a:avLst/>
            </a:prstGeom>
          </p:spPr>
          <p:txBody>
            <a:bodyPr lIns="0" tIns="0" rIns="0" bIns="0" rtlCol="0" anchor="t">
              <a:spAutoFit/>
            </a:bodyPr>
            <a:lstStyle/>
            <a:p>
              <a:pPr algn="l">
                <a:lnSpc>
                  <a:spcPts val="3600"/>
                </a:lnSpc>
                <a:spcBef>
                  <a:spcPct val="0"/>
                </a:spcBef>
              </a:pPr>
              <a:r>
                <a:rPr lang="zh-CN" altLang="en-US" sz="3000" b="1" spc="59">
                  <a:solidFill>
                    <a:srgbClr val="5496A1"/>
                  </a:solidFill>
                  <a:latin typeface="微软雅黑" panose="020B0503020204020204" charset="-122"/>
                  <a:ea typeface="微软雅黑" panose="020B0503020204020204" charset="-122"/>
                  <a:cs typeface="思源黑体 Bold" panose="020B0800000000000000" charset="-122"/>
                  <a:sym typeface="思源黑体 Bold" panose="020B0800000000000000" charset="-122"/>
                </a:rPr>
                <a:t>前端业务层</a:t>
              </a:r>
              <a:endParaRPr lang="zh-CN" altLang="en-US" sz="3000" b="1" spc="59">
                <a:solidFill>
                  <a:srgbClr val="5496A1"/>
                </a:solidFill>
                <a:latin typeface="微软雅黑" panose="020B0503020204020204" charset="-122"/>
                <a:ea typeface="微软雅黑" panose="020B0503020204020204" charset="-122"/>
                <a:cs typeface="思源黑体 Bold" panose="020B0800000000000000" charset="-122"/>
                <a:sym typeface="思源黑体 Bold" panose="020B0800000000000000" charset="-122"/>
              </a:endParaRPr>
            </a:p>
          </p:txBody>
        </p:sp>
        <p:sp>
          <p:nvSpPr>
            <p:cNvPr id="51" name="TextBox 41"/>
            <p:cNvSpPr txBox="1"/>
            <p:nvPr>
              <p:custDataLst>
                <p:tags r:id="rId9"/>
              </p:custDataLst>
            </p:nvPr>
          </p:nvSpPr>
          <p:spPr>
            <a:xfrm>
              <a:off x="0" y="812800"/>
              <a:ext cx="7767295" cy="1231053"/>
            </a:xfrm>
            <a:prstGeom prst="rect">
              <a:avLst/>
            </a:prstGeom>
          </p:spPr>
          <p:txBody>
            <a:bodyPr lIns="0" tIns="0" rIns="0" bIns="0" rtlCol="0" anchor="t">
              <a:spAutoFit/>
            </a:bodyPr>
            <a:lstStyle/>
            <a:p>
              <a:pPr algn="l">
                <a:lnSpc>
                  <a:spcPts val="2400"/>
                </a:lnSpc>
                <a:spcBef>
                  <a:spcPct val="0"/>
                </a:spcBef>
              </a:pP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负责状态管理与拦截。集成</a:t>
              </a:r>
              <a:r>
                <a:rPr lang="en-US" altLang="zh-CN"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 Pinia </a:t>
              </a: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状态树、</a:t>
              </a:r>
              <a:r>
                <a:rPr lang="en-US" altLang="zh-CN"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30 </a:t>
              </a: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层撤销栈（备忘录模式），以及</a:t>
              </a:r>
              <a:r>
                <a:rPr lang="en-US" altLang="zh-CN"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 IndexedDB </a:t>
              </a: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本地沙盒。</a:t>
              </a:r>
              <a:endPar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endParaRPr>
            </a:p>
          </p:txBody>
        </p:sp>
      </p:grpSp>
      <p:grpSp>
        <p:nvGrpSpPr>
          <p:cNvPr id="52" name="Group 42"/>
          <p:cNvGrpSpPr/>
          <p:nvPr>
            <p:custDataLst>
              <p:tags r:id="rId10"/>
            </p:custDataLst>
          </p:nvPr>
        </p:nvGrpSpPr>
        <p:grpSpPr>
          <a:xfrm rot="0">
            <a:off x="10264964" y="5753693"/>
            <a:ext cx="5886047" cy="1232059"/>
            <a:chOff x="0" y="-9525"/>
            <a:chExt cx="7848063" cy="1642745"/>
          </a:xfrm>
        </p:grpSpPr>
        <p:sp>
          <p:nvSpPr>
            <p:cNvPr id="53" name="TextBox 43"/>
            <p:cNvSpPr txBox="1"/>
            <p:nvPr>
              <p:custDataLst>
                <p:tags r:id="rId11"/>
              </p:custDataLst>
            </p:nvPr>
          </p:nvSpPr>
          <p:spPr>
            <a:xfrm>
              <a:off x="0" y="-9525"/>
              <a:ext cx="7848063" cy="615527"/>
            </a:xfrm>
            <a:prstGeom prst="rect">
              <a:avLst/>
            </a:prstGeom>
          </p:spPr>
          <p:txBody>
            <a:bodyPr lIns="0" tIns="0" rIns="0" bIns="0" rtlCol="0" anchor="t">
              <a:spAutoFit/>
            </a:bodyPr>
            <a:lstStyle/>
            <a:p>
              <a:pPr algn="l">
                <a:lnSpc>
                  <a:spcPts val="3600"/>
                </a:lnSpc>
                <a:spcBef>
                  <a:spcPct val="0"/>
                </a:spcBef>
              </a:pPr>
              <a:r>
                <a:rPr lang="zh-CN" altLang="en-US" sz="3000" b="1" spc="59">
                  <a:solidFill>
                    <a:srgbClr val="0069B8"/>
                  </a:solidFill>
                  <a:latin typeface="微软雅黑" panose="020B0503020204020204" charset="-122"/>
                  <a:ea typeface="微软雅黑" panose="020B0503020204020204" charset="-122"/>
                  <a:cs typeface="思源黑体 Bold" panose="020B0800000000000000" charset="-122"/>
                  <a:sym typeface="思源黑体 Bold" panose="020B0800000000000000" charset="-122"/>
                </a:rPr>
                <a:t>通信路由层</a:t>
              </a:r>
              <a:endParaRPr lang="zh-CN" altLang="en-US" sz="3000" b="1" spc="59">
                <a:solidFill>
                  <a:srgbClr val="0069B8"/>
                </a:solidFill>
                <a:latin typeface="微软雅黑" panose="020B0503020204020204" charset="-122"/>
                <a:ea typeface="微软雅黑" panose="020B0503020204020204" charset="-122"/>
                <a:cs typeface="思源黑体 Bold" panose="020B0800000000000000" charset="-122"/>
                <a:sym typeface="思源黑体 Bold" panose="020B0800000000000000" charset="-122"/>
              </a:endParaRPr>
            </a:p>
          </p:txBody>
        </p:sp>
        <p:sp>
          <p:nvSpPr>
            <p:cNvPr id="54" name="TextBox 44"/>
            <p:cNvSpPr txBox="1"/>
            <p:nvPr>
              <p:custDataLst>
                <p:tags r:id="rId12"/>
              </p:custDataLst>
            </p:nvPr>
          </p:nvSpPr>
          <p:spPr>
            <a:xfrm>
              <a:off x="0" y="812800"/>
              <a:ext cx="7767295" cy="820420"/>
            </a:xfrm>
            <a:prstGeom prst="rect">
              <a:avLst/>
            </a:prstGeom>
          </p:spPr>
          <p:txBody>
            <a:bodyPr lIns="0" tIns="0" rIns="0" bIns="0" rtlCol="0" anchor="t">
              <a:spAutoFit/>
            </a:bodyPr>
            <a:lstStyle/>
            <a:p>
              <a:pPr algn="l">
                <a:lnSpc>
                  <a:spcPts val="2400"/>
                </a:lnSpc>
                <a:spcBef>
                  <a:spcPct val="0"/>
                </a:spcBef>
              </a:pP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前后端的数据桥梁。采用</a:t>
              </a:r>
              <a:r>
                <a:rPr lang="en-US" altLang="zh-CN"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 Axios </a:t>
              </a: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动态路由匹配，配合</a:t>
              </a:r>
              <a:r>
                <a:rPr lang="en-US" altLang="zh-CN"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 Nginx </a:t>
              </a: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反向代理，彻底击穿</a:t>
              </a:r>
              <a:r>
                <a:rPr lang="en-US" altLang="zh-CN"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 CORS </a:t>
              </a: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跨域屏障。</a:t>
              </a:r>
              <a:endPar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endParaRPr>
            </a:p>
          </p:txBody>
        </p:sp>
      </p:grpSp>
      <p:grpSp>
        <p:nvGrpSpPr>
          <p:cNvPr id="55" name="Group 45"/>
          <p:cNvGrpSpPr/>
          <p:nvPr>
            <p:custDataLst>
              <p:tags r:id="rId13"/>
            </p:custDataLst>
          </p:nvPr>
        </p:nvGrpSpPr>
        <p:grpSpPr>
          <a:xfrm rot="0">
            <a:off x="10264964" y="7389873"/>
            <a:ext cx="5886047" cy="1540034"/>
            <a:chOff x="0" y="-9525"/>
            <a:chExt cx="7848063" cy="2053378"/>
          </a:xfrm>
        </p:grpSpPr>
        <p:sp>
          <p:nvSpPr>
            <p:cNvPr id="56" name="TextBox 46"/>
            <p:cNvSpPr txBox="1"/>
            <p:nvPr>
              <p:custDataLst>
                <p:tags r:id="rId14"/>
              </p:custDataLst>
            </p:nvPr>
          </p:nvSpPr>
          <p:spPr>
            <a:xfrm>
              <a:off x="0" y="-9525"/>
              <a:ext cx="7848063" cy="615527"/>
            </a:xfrm>
            <a:prstGeom prst="rect">
              <a:avLst/>
            </a:prstGeom>
          </p:spPr>
          <p:txBody>
            <a:bodyPr lIns="0" tIns="0" rIns="0" bIns="0" rtlCol="0" anchor="t">
              <a:spAutoFit/>
            </a:bodyPr>
            <a:lstStyle/>
            <a:p>
              <a:pPr algn="l">
                <a:lnSpc>
                  <a:spcPts val="3600"/>
                </a:lnSpc>
                <a:spcBef>
                  <a:spcPct val="0"/>
                </a:spcBef>
              </a:pPr>
              <a:r>
                <a:rPr lang="zh-CN" altLang="en-US" sz="3000" b="1" spc="59">
                  <a:solidFill>
                    <a:srgbClr val="0069B8"/>
                  </a:solidFill>
                  <a:latin typeface="微软雅黑" panose="020B0503020204020204" charset="-122"/>
                  <a:ea typeface="微软雅黑" panose="020B0503020204020204" charset="-122"/>
                  <a:cs typeface="思源黑体 Bold" panose="020B0800000000000000" charset="-122"/>
                  <a:sym typeface="思源黑体 Bold" panose="020B0800000000000000" charset="-122"/>
                </a:rPr>
                <a:t>后端算力层</a:t>
              </a:r>
              <a:endParaRPr lang="zh-CN" altLang="en-US" sz="3000" b="1" spc="59">
                <a:solidFill>
                  <a:srgbClr val="0069B8"/>
                </a:solidFill>
                <a:latin typeface="微软雅黑" panose="020B0503020204020204" charset="-122"/>
                <a:ea typeface="微软雅黑" panose="020B0503020204020204" charset="-122"/>
                <a:cs typeface="思源黑体 Bold" panose="020B0800000000000000" charset="-122"/>
                <a:sym typeface="思源黑体 Bold" panose="020B0800000000000000" charset="-122"/>
              </a:endParaRPr>
            </a:p>
          </p:txBody>
        </p:sp>
        <p:sp>
          <p:nvSpPr>
            <p:cNvPr id="57" name="TextBox 47"/>
            <p:cNvSpPr txBox="1"/>
            <p:nvPr>
              <p:custDataLst>
                <p:tags r:id="rId15"/>
              </p:custDataLst>
            </p:nvPr>
          </p:nvSpPr>
          <p:spPr>
            <a:xfrm>
              <a:off x="0" y="812800"/>
              <a:ext cx="7767295" cy="1231053"/>
            </a:xfrm>
            <a:prstGeom prst="rect">
              <a:avLst/>
            </a:prstGeom>
          </p:spPr>
          <p:txBody>
            <a:bodyPr lIns="0" tIns="0" rIns="0" bIns="0" rtlCol="0" anchor="t">
              <a:spAutoFit/>
            </a:bodyPr>
            <a:lstStyle/>
            <a:p>
              <a:pPr algn="l">
                <a:lnSpc>
                  <a:spcPts val="2400"/>
                </a:lnSpc>
                <a:spcBef>
                  <a:spcPct val="0"/>
                </a:spcBef>
              </a:pP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核心数据引擎。基于</a:t>
              </a:r>
              <a:r>
                <a:rPr lang="en-US" altLang="zh-CN"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 Python Flask </a:t>
              </a: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微服务架构，驱动</a:t>
              </a:r>
              <a:r>
                <a:rPr lang="en-US" altLang="zh-CN"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 Pandas </a:t>
              </a: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与</a:t>
              </a:r>
              <a:r>
                <a:rPr lang="en-US" altLang="zh-CN"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 Scikit-learn </a:t>
              </a: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进行矩阵运算与机器学习。</a:t>
              </a:r>
              <a:endPar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6" name="Freeform 6"/>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7" name="Freeform 7"/>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sp>
        <p:nvSpPr>
          <p:cNvPr id="20" name="TextBox 20"/>
          <p:cNvSpPr txBox="1"/>
          <p:nvPr/>
        </p:nvSpPr>
        <p:spPr>
          <a:xfrm>
            <a:off x="1028700" y="457200"/>
            <a:ext cx="7301865" cy="1076960"/>
          </a:xfrm>
          <a:prstGeom prst="rect">
            <a:avLst/>
          </a:prstGeom>
        </p:spPr>
        <p:txBody>
          <a:bodyPr wrap="square" lIns="0" tIns="0" rIns="0" bIns="0" rtlCol="0" anchor="t">
            <a:spAutoFit/>
          </a:bodyPr>
          <a:lstStyle/>
          <a:p>
            <a:pPr algn="l">
              <a:lnSpc>
                <a:spcPts val="8400"/>
              </a:lnSpc>
            </a:pPr>
            <a:r>
              <a:rPr 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02.</a:t>
            </a:r>
            <a:r>
              <a:rPr lang="zh-CN" alt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系统架构设计</a:t>
            </a:r>
            <a:endParaRPr lang="zh-CN" alt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21" name="TextBox 21"/>
          <p:cNvSpPr txBox="1"/>
          <p:nvPr/>
        </p:nvSpPr>
        <p:spPr>
          <a:xfrm>
            <a:off x="13753946" y="872490"/>
            <a:ext cx="3505354" cy="613410"/>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TWO</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grpSp>
        <p:nvGrpSpPr>
          <p:cNvPr id="22" name="Group 11"/>
          <p:cNvGrpSpPr/>
          <p:nvPr/>
        </p:nvGrpSpPr>
        <p:grpSpPr>
          <a:xfrm rot="5400000">
            <a:off x="10083481" y="5721921"/>
            <a:ext cx="1320933" cy="1114566"/>
            <a:chOff x="0" y="0"/>
            <a:chExt cx="1761244" cy="1486088"/>
          </a:xfrm>
        </p:grpSpPr>
        <p:sp>
          <p:nvSpPr>
            <p:cNvPr id="23" name="Freeform 12"/>
            <p:cNvSpPr/>
            <p:nvPr/>
          </p:nvSpPr>
          <p:spPr>
            <a:xfrm>
              <a:off x="19939" y="1524"/>
              <a:ext cx="1737741" cy="1469263"/>
            </a:xfrm>
            <a:custGeom>
              <a:avLst/>
              <a:gdLst/>
              <a:ahLst/>
              <a:cxnLst/>
              <a:rect l="l" t="t" r="r" b="b"/>
              <a:pathLst>
                <a:path w="1737741" h="1469263">
                  <a:moveTo>
                    <a:pt x="1686433" y="1469263"/>
                  </a:moveTo>
                  <a:cubicBezTo>
                    <a:pt x="1505839" y="1135634"/>
                    <a:pt x="1263396" y="839470"/>
                    <a:pt x="972185" y="596646"/>
                  </a:cubicBezTo>
                  <a:cubicBezTo>
                    <a:pt x="684784" y="356997"/>
                    <a:pt x="355092" y="173355"/>
                    <a:pt x="0" y="55372"/>
                  </a:cubicBezTo>
                  <a:lnTo>
                    <a:pt x="18542" y="0"/>
                  </a:lnTo>
                  <a:cubicBezTo>
                    <a:pt x="380365" y="120269"/>
                    <a:pt x="716661" y="307467"/>
                    <a:pt x="1009523" y="551688"/>
                  </a:cubicBezTo>
                  <a:lnTo>
                    <a:pt x="990854" y="574167"/>
                  </a:lnTo>
                  <a:lnTo>
                    <a:pt x="1009523" y="551688"/>
                  </a:lnTo>
                  <a:cubicBezTo>
                    <a:pt x="1306449" y="799338"/>
                    <a:pt x="1553591" y="1101344"/>
                    <a:pt x="1737741" y="1441450"/>
                  </a:cubicBezTo>
                  <a:close/>
                </a:path>
              </a:pathLst>
            </a:custGeom>
            <a:solidFill>
              <a:srgbClr val="44546A"/>
            </a:solidFill>
          </p:spPr>
        </p:sp>
      </p:grpSp>
      <p:grpSp>
        <p:nvGrpSpPr>
          <p:cNvPr id="24" name="Group 13"/>
          <p:cNvGrpSpPr/>
          <p:nvPr/>
        </p:nvGrpSpPr>
        <p:grpSpPr>
          <a:xfrm rot="5400000">
            <a:off x="6852132" y="5731787"/>
            <a:ext cx="1289057" cy="1066174"/>
            <a:chOff x="0" y="0"/>
            <a:chExt cx="1718742" cy="1421566"/>
          </a:xfrm>
        </p:grpSpPr>
        <p:sp>
          <p:nvSpPr>
            <p:cNvPr id="25" name="Freeform 14"/>
            <p:cNvSpPr/>
            <p:nvPr/>
          </p:nvSpPr>
          <p:spPr>
            <a:xfrm>
              <a:off x="20574" y="15367"/>
              <a:ext cx="1694688" cy="1404874"/>
            </a:xfrm>
            <a:custGeom>
              <a:avLst/>
              <a:gdLst/>
              <a:ahLst/>
              <a:cxnLst/>
              <a:rect l="l" t="t" r="r" b="b"/>
              <a:pathLst>
                <a:path w="1694688" h="1404874">
                  <a:moveTo>
                    <a:pt x="1694688" y="27813"/>
                  </a:moveTo>
                  <a:cubicBezTo>
                    <a:pt x="1526159" y="339217"/>
                    <a:pt x="1301496" y="616712"/>
                    <a:pt x="1032002" y="846455"/>
                  </a:cubicBezTo>
                  <a:cubicBezTo>
                    <a:pt x="735076" y="1099439"/>
                    <a:pt x="389890" y="1289431"/>
                    <a:pt x="17272" y="1404874"/>
                  </a:cubicBezTo>
                  <a:lnTo>
                    <a:pt x="0" y="1349121"/>
                  </a:lnTo>
                  <a:cubicBezTo>
                    <a:pt x="364998" y="1235964"/>
                    <a:pt x="703199" y="1049909"/>
                    <a:pt x="994029" y="802005"/>
                  </a:cubicBezTo>
                  <a:lnTo>
                    <a:pt x="1012952" y="824230"/>
                  </a:lnTo>
                  <a:lnTo>
                    <a:pt x="994029" y="802005"/>
                  </a:lnTo>
                  <a:cubicBezTo>
                    <a:pt x="1258062" y="576961"/>
                    <a:pt x="1478153" y="305054"/>
                    <a:pt x="1643253" y="0"/>
                  </a:cubicBezTo>
                  <a:close/>
                </a:path>
              </a:pathLst>
            </a:custGeom>
            <a:solidFill>
              <a:srgbClr val="44546A"/>
            </a:solidFill>
          </p:spPr>
        </p:sp>
      </p:grpSp>
      <p:grpSp>
        <p:nvGrpSpPr>
          <p:cNvPr id="26" name="Group 15"/>
          <p:cNvGrpSpPr/>
          <p:nvPr/>
        </p:nvGrpSpPr>
        <p:grpSpPr>
          <a:xfrm rot="5400000">
            <a:off x="7926254" y="6027876"/>
            <a:ext cx="2340186" cy="2340186"/>
            <a:chOff x="0" y="0"/>
            <a:chExt cx="3120248" cy="3120248"/>
          </a:xfrm>
        </p:grpSpPr>
        <p:sp>
          <p:nvSpPr>
            <p:cNvPr id="27" name="Freeform 16"/>
            <p:cNvSpPr/>
            <p:nvPr/>
          </p:nvSpPr>
          <p:spPr>
            <a:xfrm>
              <a:off x="0" y="0"/>
              <a:ext cx="3120263" cy="3120136"/>
            </a:xfrm>
            <a:custGeom>
              <a:avLst/>
              <a:gdLst/>
              <a:ahLst/>
              <a:cxnLst/>
              <a:rect l="l" t="t" r="r" b="b"/>
              <a:pathLst>
                <a:path w="3120263" h="3120136">
                  <a:moveTo>
                    <a:pt x="0" y="1560068"/>
                  </a:moveTo>
                  <a:cubicBezTo>
                    <a:pt x="0" y="698500"/>
                    <a:pt x="698500" y="0"/>
                    <a:pt x="1560068" y="0"/>
                  </a:cubicBezTo>
                  <a:cubicBezTo>
                    <a:pt x="2421636" y="0"/>
                    <a:pt x="3120263" y="698500"/>
                    <a:pt x="3120263" y="1560068"/>
                  </a:cubicBezTo>
                  <a:cubicBezTo>
                    <a:pt x="3120263" y="2421636"/>
                    <a:pt x="2421763" y="3120136"/>
                    <a:pt x="1560195" y="3120136"/>
                  </a:cubicBezTo>
                  <a:cubicBezTo>
                    <a:pt x="698627" y="3120136"/>
                    <a:pt x="0" y="2421763"/>
                    <a:pt x="0" y="1560068"/>
                  </a:cubicBezTo>
                  <a:close/>
                  <a:moveTo>
                    <a:pt x="259461" y="1560068"/>
                  </a:moveTo>
                  <a:cubicBezTo>
                    <a:pt x="259461" y="2278380"/>
                    <a:pt x="841756" y="2860802"/>
                    <a:pt x="1560195" y="2860802"/>
                  </a:cubicBezTo>
                  <a:cubicBezTo>
                    <a:pt x="2278634" y="2860802"/>
                    <a:pt x="2860929" y="2278507"/>
                    <a:pt x="2860929" y="1560068"/>
                  </a:cubicBezTo>
                  <a:cubicBezTo>
                    <a:pt x="2860929" y="841629"/>
                    <a:pt x="2278507" y="259461"/>
                    <a:pt x="1560068" y="259461"/>
                  </a:cubicBezTo>
                  <a:cubicBezTo>
                    <a:pt x="841629" y="259461"/>
                    <a:pt x="259461" y="841756"/>
                    <a:pt x="259461" y="1560068"/>
                  </a:cubicBezTo>
                  <a:close/>
                </a:path>
              </a:pathLst>
            </a:custGeom>
            <a:gradFill rotWithShape="1">
              <a:gsLst>
                <a:gs pos="0">
                  <a:srgbClr val="0B96FF">
                    <a:alpha val="100000"/>
                  </a:srgbClr>
                </a:gs>
                <a:gs pos="100000">
                  <a:srgbClr val="005493">
                    <a:alpha val="100000"/>
                  </a:srgbClr>
                </a:gs>
              </a:gsLst>
              <a:path path="circle">
                <a:fillToRect r="100000" b="100000"/>
              </a:path>
              <a:tileRect l="-100000" t="-100000"/>
            </a:gradFill>
          </p:spPr>
        </p:sp>
      </p:grpSp>
      <p:grpSp>
        <p:nvGrpSpPr>
          <p:cNvPr id="28" name="Group 17"/>
          <p:cNvGrpSpPr/>
          <p:nvPr/>
        </p:nvGrpSpPr>
        <p:grpSpPr>
          <a:xfrm rot="5400000">
            <a:off x="7490223" y="4097269"/>
            <a:ext cx="678215" cy="652690"/>
            <a:chOff x="0" y="0"/>
            <a:chExt cx="904286" cy="870254"/>
          </a:xfrm>
        </p:grpSpPr>
        <p:sp>
          <p:nvSpPr>
            <p:cNvPr id="29" name="Freeform 18"/>
            <p:cNvSpPr/>
            <p:nvPr/>
          </p:nvSpPr>
          <p:spPr>
            <a:xfrm>
              <a:off x="16764" y="2794"/>
              <a:ext cx="884174" cy="851789"/>
            </a:xfrm>
            <a:custGeom>
              <a:avLst/>
              <a:gdLst/>
              <a:ahLst/>
              <a:cxnLst/>
              <a:rect l="l" t="t" r="r" b="b"/>
              <a:pathLst>
                <a:path w="884174" h="851789">
                  <a:moveTo>
                    <a:pt x="832358" y="851789"/>
                  </a:moveTo>
                  <a:cubicBezTo>
                    <a:pt x="739521" y="673354"/>
                    <a:pt x="617474" y="511810"/>
                    <a:pt x="471424" y="373761"/>
                  </a:cubicBezTo>
                  <a:cubicBezTo>
                    <a:pt x="332359" y="242443"/>
                    <a:pt x="173228" y="134112"/>
                    <a:pt x="0" y="52832"/>
                  </a:cubicBezTo>
                  <a:lnTo>
                    <a:pt x="24892" y="0"/>
                  </a:lnTo>
                  <a:cubicBezTo>
                    <a:pt x="203708" y="83820"/>
                    <a:pt x="367919" y="195707"/>
                    <a:pt x="511429" y="331343"/>
                  </a:cubicBezTo>
                  <a:lnTo>
                    <a:pt x="491363" y="352552"/>
                  </a:lnTo>
                  <a:lnTo>
                    <a:pt x="511429" y="331343"/>
                  </a:lnTo>
                  <a:cubicBezTo>
                    <a:pt x="662432" y="473837"/>
                    <a:pt x="788416" y="640588"/>
                    <a:pt x="884174" y="824738"/>
                  </a:cubicBezTo>
                  <a:close/>
                </a:path>
              </a:pathLst>
            </a:custGeom>
            <a:solidFill>
              <a:srgbClr val="44546A"/>
            </a:solidFill>
          </p:spPr>
        </p:sp>
      </p:grpSp>
      <p:grpSp>
        <p:nvGrpSpPr>
          <p:cNvPr id="30" name="Group 19"/>
          <p:cNvGrpSpPr/>
          <p:nvPr/>
        </p:nvGrpSpPr>
        <p:grpSpPr>
          <a:xfrm rot="5400000">
            <a:off x="5531184" y="4113564"/>
            <a:ext cx="655454" cy="600039"/>
            <a:chOff x="0" y="0"/>
            <a:chExt cx="873938" cy="800052"/>
          </a:xfrm>
        </p:grpSpPr>
        <p:sp>
          <p:nvSpPr>
            <p:cNvPr id="31" name="Freeform 20"/>
            <p:cNvSpPr/>
            <p:nvPr/>
          </p:nvSpPr>
          <p:spPr>
            <a:xfrm>
              <a:off x="17272" y="14732"/>
              <a:ext cx="852805" cy="782701"/>
            </a:xfrm>
            <a:custGeom>
              <a:avLst/>
              <a:gdLst/>
              <a:ahLst/>
              <a:cxnLst/>
              <a:rect l="l" t="t" r="r" b="b"/>
              <a:pathLst>
                <a:path w="852805" h="782701">
                  <a:moveTo>
                    <a:pt x="852805" y="28956"/>
                  </a:moveTo>
                  <a:cubicBezTo>
                    <a:pt x="762127" y="188341"/>
                    <a:pt x="647700" y="332867"/>
                    <a:pt x="513461" y="457708"/>
                  </a:cubicBezTo>
                  <a:cubicBezTo>
                    <a:pt x="369189" y="592074"/>
                    <a:pt x="203708" y="701802"/>
                    <a:pt x="23876" y="782701"/>
                  </a:cubicBezTo>
                  <a:lnTo>
                    <a:pt x="0" y="729488"/>
                  </a:lnTo>
                  <a:cubicBezTo>
                    <a:pt x="173990" y="651256"/>
                    <a:pt x="334010" y="544957"/>
                    <a:pt x="473710" y="415036"/>
                  </a:cubicBezTo>
                  <a:lnTo>
                    <a:pt x="493649" y="436372"/>
                  </a:lnTo>
                  <a:lnTo>
                    <a:pt x="473710" y="415036"/>
                  </a:lnTo>
                  <a:cubicBezTo>
                    <a:pt x="603631" y="294132"/>
                    <a:pt x="714375" y="154178"/>
                    <a:pt x="802132" y="0"/>
                  </a:cubicBezTo>
                  <a:close/>
                </a:path>
              </a:pathLst>
            </a:custGeom>
            <a:solidFill>
              <a:srgbClr val="44546A"/>
            </a:solidFill>
          </p:spPr>
        </p:sp>
      </p:grpSp>
      <p:grpSp>
        <p:nvGrpSpPr>
          <p:cNvPr id="32" name="Group 21"/>
          <p:cNvGrpSpPr/>
          <p:nvPr/>
        </p:nvGrpSpPr>
        <p:grpSpPr>
          <a:xfrm rot="5400000">
            <a:off x="6092734" y="4156592"/>
            <a:ext cx="1497654" cy="1497652"/>
            <a:chOff x="0" y="0"/>
            <a:chExt cx="1996872" cy="1996870"/>
          </a:xfrm>
        </p:grpSpPr>
        <p:sp>
          <p:nvSpPr>
            <p:cNvPr id="33" name="Freeform 22"/>
            <p:cNvSpPr/>
            <p:nvPr/>
          </p:nvSpPr>
          <p:spPr>
            <a:xfrm>
              <a:off x="0" y="0"/>
              <a:ext cx="1996948" cy="1996948"/>
            </a:xfrm>
            <a:custGeom>
              <a:avLst/>
              <a:gdLst/>
              <a:ahLst/>
              <a:cxnLst/>
              <a:rect l="l" t="t" r="r" b="b"/>
              <a:pathLst>
                <a:path w="1996948" h="1996948">
                  <a:moveTo>
                    <a:pt x="0" y="998474"/>
                  </a:moveTo>
                  <a:cubicBezTo>
                    <a:pt x="0" y="447040"/>
                    <a:pt x="447040" y="0"/>
                    <a:pt x="998474" y="0"/>
                  </a:cubicBezTo>
                  <a:cubicBezTo>
                    <a:pt x="1549908" y="0"/>
                    <a:pt x="1996948" y="447040"/>
                    <a:pt x="1996948" y="998474"/>
                  </a:cubicBezTo>
                  <a:cubicBezTo>
                    <a:pt x="1996948" y="1549908"/>
                    <a:pt x="1549908" y="1996948"/>
                    <a:pt x="998474" y="1996948"/>
                  </a:cubicBezTo>
                  <a:cubicBezTo>
                    <a:pt x="447040" y="1996948"/>
                    <a:pt x="0" y="1549908"/>
                    <a:pt x="0" y="998474"/>
                  </a:cubicBezTo>
                  <a:close/>
                </a:path>
              </a:pathLst>
            </a:custGeom>
            <a:gradFill rotWithShape="1">
              <a:gsLst>
                <a:gs pos="0">
                  <a:srgbClr val="86B8C0">
                    <a:alpha val="100000"/>
                  </a:srgbClr>
                </a:gs>
                <a:gs pos="100000">
                  <a:srgbClr val="38646B">
                    <a:alpha val="100000"/>
                  </a:srgbClr>
                </a:gs>
              </a:gsLst>
              <a:lin ang="0"/>
            </a:gradFill>
          </p:spPr>
        </p:sp>
      </p:grpSp>
      <p:grpSp>
        <p:nvGrpSpPr>
          <p:cNvPr id="34" name="Group 23"/>
          <p:cNvGrpSpPr/>
          <p:nvPr/>
        </p:nvGrpSpPr>
        <p:grpSpPr>
          <a:xfrm rot="5400000">
            <a:off x="12065578" y="4098094"/>
            <a:ext cx="671562" cy="638421"/>
            <a:chOff x="0" y="0"/>
            <a:chExt cx="895416" cy="851228"/>
          </a:xfrm>
        </p:grpSpPr>
        <p:sp>
          <p:nvSpPr>
            <p:cNvPr id="35" name="Freeform 24"/>
            <p:cNvSpPr/>
            <p:nvPr/>
          </p:nvSpPr>
          <p:spPr>
            <a:xfrm>
              <a:off x="16764" y="2794"/>
              <a:ext cx="875157" cy="833120"/>
            </a:xfrm>
            <a:custGeom>
              <a:avLst/>
              <a:gdLst/>
              <a:ahLst/>
              <a:cxnLst/>
              <a:rect l="l" t="t" r="r" b="b"/>
              <a:pathLst>
                <a:path w="875157" h="833120">
                  <a:moveTo>
                    <a:pt x="823722" y="833120"/>
                  </a:moveTo>
                  <a:cubicBezTo>
                    <a:pt x="731647" y="662305"/>
                    <a:pt x="612775" y="507365"/>
                    <a:pt x="471551" y="374269"/>
                  </a:cubicBezTo>
                  <a:lnTo>
                    <a:pt x="491617" y="353060"/>
                  </a:lnTo>
                  <a:lnTo>
                    <a:pt x="471551" y="374269"/>
                  </a:lnTo>
                  <a:cubicBezTo>
                    <a:pt x="332359" y="242951"/>
                    <a:pt x="173228" y="134493"/>
                    <a:pt x="0" y="52832"/>
                  </a:cubicBezTo>
                  <a:lnTo>
                    <a:pt x="24892" y="0"/>
                  </a:lnTo>
                  <a:cubicBezTo>
                    <a:pt x="203708" y="84201"/>
                    <a:pt x="367919" y="196215"/>
                    <a:pt x="511683" y="331724"/>
                  </a:cubicBezTo>
                  <a:cubicBezTo>
                    <a:pt x="657352" y="469138"/>
                    <a:pt x="780034" y="629031"/>
                    <a:pt x="875157" y="805307"/>
                  </a:cubicBezTo>
                  <a:close/>
                </a:path>
              </a:pathLst>
            </a:custGeom>
            <a:solidFill>
              <a:srgbClr val="44546A"/>
            </a:solidFill>
          </p:spPr>
        </p:sp>
      </p:grpSp>
      <p:grpSp>
        <p:nvGrpSpPr>
          <p:cNvPr id="36" name="Group 25"/>
          <p:cNvGrpSpPr/>
          <p:nvPr/>
        </p:nvGrpSpPr>
        <p:grpSpPr>
          <a:xfrm rot="5400000">
            <a:off x="10099036" y="4117405"/>
            <a:ext cx="646359" cy="594906"/>
            <a:chOff x="0" y="0"/>
            <a:chExt cx="861812" cy="793208"/>
          </a:xfrm>
        </p:grpSpPr>
        <p:sp>
          <p:nvSpPr>
            <p:cNvPr id="37" name="Freeform 26"/>
            <p:cNvSpPr/>
            <p:nvPr/>
          </p:nvSpPr>
          <p:spPr>
            <a:xfrm>
              <a:off x="17145" y="14986"/>
              <a:ext cx="840867" cy="775716"/>
            </a:xfrm>
            <a:custGeom>
              <a:avLst/>
              <a:gdLst/>
              <a:ahLst/>
              <a:cxnLst/>
              <a:rect l="l" t="t" r="r" b="b"/>
              <a:pathLst>
                <a:path w="840867" h="775716">
                  <a:moveTo>
                    <a:pt x="840867" y="28575"/>
                  </a:moveTo>
                  <a:cubicBezTo>
                    <a:pt x="751967" y="186944"/>
                    <a:pt x="639191" y="330835"/>
                    <a:pt x="506349" y="454787"/>
                  </a:cubicBezTo>
                  <a:cubicBezTo>
                    <a:pt x="364363" y="587502"/>
                    <a:pt x="201422" y="695960"/>
                    <a:pt x="24003" y="775716"/>
                  </a:cubicBezTo>
                  <a:lnTo>
                    <a:pt x="0" y="722376"/>
                  </a:lnTo>
                  <a:cubicBezTo>
                    <a:pt x="171450" y="645287"/>
                    <a:pt x="329057" y="540512"/>
                    <a:pt x="466471" y="412115"/>
                  </a:cubicBezTo>
                  <a:lnTo>
                    <a:pt x="486410" y="433451"/>
                  </a:lnTo>
                  <a:lnTo>
                    <a:pt x="466471" y="412115"/>
                  </a:lnTo>
                  <a:cubicBezTo>
                    <a:pt x="594868" y="292227"/>
                    <a:pt x="703961" y="153162"/>
                    <a:pt x="789940" y="0"/>
                  </a:cubicBezTo>
                  <a:close/>
                </a:path>
              </a:pathLst>
            </a:custGeom>
            <a:solidFill>
              <a:srgbClr val="44546A"/>
            </a:solidFill>
          </p:spPr>
        </p:sp>
      </p:grpSp>
      <p:grpSp>
        <p:nvGrpSpPr>
          <p:cNvPr id="38" name="Group 27"/>
          <p:cNvGrpSpPr/>
          <p:nvPr/>
        </p:nvGrpSpPr>
        <p:grpSpPr>
          <a:xfrm rot="5400000">
            <a:off x="10650674" y="4156592"/>
            <a:ext cx="1497654" cy="1497653"/>
            <a:chOff x="0" y="0"/>
            <a:chExt cx="1996872" cy="1996870"/>
          </a:xfrm>
        </p:grpSpPr>
        <p:sp>
          <p:nvSpPr>
            <p:cNvPr id="39" name="Freeform 28"/>
            <p:cNvSpPr/>
            <p:nvPr/>
          </p:nvSpPr>
          <p:spPr>
            <a:xfrm>
              <a:off x="0" y="0"/>
              <a:ext cx="1996948" cy="1996948"/>
            </a:xfrm>
            <a:custGeom>
              <a:avLst/>
              <a:gdLst/>
              <a:ahLst/>
              <a:cxnLst/>
              <a:rect l="l" t="t" r="r" b="b"/>
              <a:pathLst>
                <a:path w="1996948" h="1996948">
                  <a:moveTo>
                    <a:pt x="0" y="998474"/>
                  </a:moveTo>
                  <a:cubicBezTo>
                    <a:pt x="0" y="447040"/>
                    <a:pt x="447040" y="0"/>
                    <a:pt x="998474" y="0"/>
                  </a:cubicBezTo>
                  <a:cubicBezTo>
                    <a:pt x="1549908" y="0"/>
                    <a:pt x="1996948" y="447040"/>
                    <a:pt x="1996948" y="998474"/>
                  </a:cubicBezTo>
                  <a:cubicBezTo>
                    <a:pt x="1996948" y="1549908"/>
                    <a:pt x="1549908" y="1996948"/>
                    <a:pt x="998474" y="1996948"/>
                  </a:cubicBezTo>
                  <a:cubicBezTo>
                    <a:pt x="447040" y="1996948"/>
                    <a:pt x="0" y="1549908"/>
                    <a:pt x="0" y="998474"/>
                  </a:cubicBezTo>
                  <a:close/>
                </a:path>
              </a:pathLst>
            </a:custGeom>
            <a:gradFill rotWithShape="1">
              <a:gsLst>
                <a:gs pos="0">
                  <a:srgbClr val="86B8C0">
                    <a:alpha val="100000"/>
                  </a:srgbClr>
                </a:gs>
                <a:gs pos="100000">
                  <a:srgbClr val="38646B">
                    <a:alpha val="100000"/>
                  </a:srgbClr>
                </a:gs>
              </a:gsLst>
              <a:lin ang="0"/>
            </a:gradFill>
          </p:spPr>
        </p:sp>
      </p:grpSp>
      <p:grpSp>
        <p:nvGrpSpPr>
          <p:cNvPr id="40" name="Group 29"/>
          <p:cNvGrpSpPr/>
          <p:nvPr/>
        </p:nvGrpSpPr>
        <p:grpSpPr>
          <a:xfrm rot="5400000">
            <a:off x="12075372" y="2623277"/>
            <a:ext cx="1497650" cy="1497652"/>
            <a:chOff x="0" y="0"/>
            <a:chExt cx="1996866" cy="1996870"/>
          </a:xfrm>
        </p:grpSpPr>
        <p:sp>
          <p:nvSpPr>
            <p:cNvPr id="41" name="Freeform 30"/>
            <p:cNvSpPr/>
            <p:nvPr/>
          </p:nvSpPr>
          <p:spPr>
            <a:xfrm>
              <a:off x="0" y="0"/>
              <a:ext cx="1996948" cy="1996948"/>
            </a:xfrm>
            <a:custGeom>
              <a:avLst/>
              <a:gdLst/>
              <a:ahLst/>
              <a:cxnLst/>
              <a:rect l="l" t="t" r="r" b="b"/>
              <a:pathLst>
                <a:path w="1996948" h="1996948">
                  <a:moveTo>
                    <a:pt x="0" y="998474"/>
                  </a:moveTo>
                  <a:cubicBezTo>
                    <a:pt x="0" y="447040"/>
                    <a:pt x="447040" y="0"/>
                    <a:pt x="998474" y="0"/>
                  </a:cubicBezTo>
                  <a:cubicBezTo>
                    <a:pt x="1549908" y="0"/>
                    <a:pt x="1996948" y="447040"/>
                    <a:pt x="1996948" y="998474"/>
                  </a:cubicBezTo>
                  <a:cubicBezTo>
                    <a:pt x="1996948" y="1549908"/>
                    <a:pt x="1549908" y="1996948"/>
                    <a:pt x="998474" y="1996948"/>
                  </a:cubicBezTo>
                  <a:cubicBezTo>
                    <a:pt x="447040" y="1996948"/>
                    <a:pt x="0" y="1549908"/>
                    <a:pt x="0" y="998474"/>
                  </a:cubicBezTo>
                  <a:close/>
                </a:path>
              </a:pathLst>
            </a:custGeom>
            <a:gradFill rotWithShape="1">
              <a:gsLst>
                <a:gs pos="0">
                  <a:srgbClr val="7DC7FF">
                    <a:alpha val="100000"/>
                  </a:srgbClr>
                </a:gs>
                <a:gs pos="100000">
                  <a:srgbClr val="0069B8">
                    <a:alpha val="100000"/>
                  </a:srgbClr>
                </a:gs>
              </a:gsLst>
              <a:lin ang="18900003"/>
            </a:gradFill>
          </p:spPr>
        </p:sp>
      </p:grpSp>
      <p:grpSp>
        <p:nvGrpSpPr>
          <p:cNvPr id="42" name="Group 31"/>
          <p:cNvGrpSpPr/>
          <p:nvPr/>
        </p:nvGrpSpPr>
        <p:grpSpPr>
          <a:xfrm rot="5400000">
            <a:off x="9251296" y="2623276"/>
            <a:ext cx="1497650" cy="1497652"/>
            <a:chOff x="0" y="0"/>
            <a:chExt cx="1996866" cy="1996870"/>
          </a:xfrm>
        </p:grpSpPr>
        <p:sp>
          <p:nvSpPr>
            <p:cNvPr id="43" name="Freeform 32"/>
            <p:cNvSpPr/>
            <p:nvPr/>
          </p:nvSpPr>
          <p:spPr>
            <a:xfrm>
              <a:off x="0" y="0"/>
              <a:ext cx="1996948" cy="1996948"/>
            </a:xfrm>
            <a:custGeom>
              <a:avLst/>
              <a:gdLst/>
              <a:ahLst/>
              <a:cxnLst/>
              <a:rect l="l" t="t" r="r" b="b"/>
              <a:pathLst>
                <a:path w="1996948" h="1996948">
                  <a:moveTo>
                    <a:pt x="0" y="998474"/>
                  </a:moveTo>
                  <a:cubicBezTo>
                    <a:pt x="0" y="447040"/>
                    <a:pt x="447040" y="0"/>
                    <a:pt x="998474" y="0"/>
                  </a:cubicBezTo>
                  <a:cubicBezTo>
                    <a:pt x="1549908" y="0"/>
                    <a:pt x="1996948" y="447040"/>
                    <a:pt x="1996948" y="998474"/>
                  </a:cubicBezTo>
                  <a:cubicBezTo>
                    <a:pt x="1996948" y="1549908"/>
                    <a:pt x="1549908" y="1996948"/>
                    <a:pt x="998474" y="1996948"/>
                  </a:cubicBezTo>
                  <a:cubicBezTo>
                    <a:pt x="447040" y="1996948"/>
                    <a:pt x="0" y="1549908"/>
                    <a:pt x="0" y="998474"/>
                  </a:cubicBezTo>
                  <a:close/>
                </a:path>
              </a:pathLst>
            </a:custGeom>
            <a:gradFill rotWithShape="1">
              <a:gsLst>
                <a:gs pos="0">
                  <a:srgbClr val="7DC7FF">
                    <a:alpha val="100000"/>
                  </a:srgbClr>
                </a:gs>
                <a:gs pos="100000">
                  <a:srgbClr val="0069B8">
                    <a:alpha val="100000"/>
                  </a:srgbClr>
                </a:gs>
              </a:gsLst>
              <a:lin ang="18900003"/>
            </a:gradFill>
          </p:spPr>
        </p:sp>
      </p:grpSp>
      <p:grpSp>
        <p:nvGrpSpPr>
          <p:cNvPr id="44" name="Group 33"/>
          <p:cNvGrpSpPr/>
          <p:nvPr/>
        </p:nvGrpSpPr>
        <p:grpSpPr>
          <a:xfrm rot="5400000">
            <a:off x="7513006" y="2623276"/>
            <a:ext cx="1497650" cy="1497650"/>
            <a:chOff x="0" y="0"/>
            <a:chExt cx="1996866" cy="1996866"/>
          </a:xfrm>
        </p:grpSpPr>
        <p:sp>
          <p:nvSpPr>
            <p:cNvPr id="45" name="Freeform 34"/>
            <p:cNvSpPr/>
            <p:nvPr/>
          </p:nvSpPr>
          <p:spPr>
            <a:xfrm>
              <a:off x="0" y="0"/>
              <a:ext cx="1996948" cy="1996948"/>
            </a:xfrm>
            <a:custGeom>
              <a:avLst/>
              <a:gdLst/>
              <a:ahLst/>
              <a:cxnLst/>
              <a:rect l="l" t="t" r="r" b="b"/>
              <a:pathLst>
                <a:path w="1996948" h="1996948">
                  <a:moveTo>
                    <a:pt x="0" y="998474"/>
                  </a:moveTo>
                  <a:cubicBezTo>
                    <a:pt x="0" y="447040"/>
                    <a:pt x="447040" y="0"/>
                    <a:pt x="998474" y="0"/>
                  </a:cubicBezTo>
                  <a:cubicBezTo>
                    <a:pt x="1549908" y="0"/>
                    <a:pt x="1996948" y="447040"/>
                    <a:pt x="1996948" y="998474"/>
                  </a:cubicBezTo>
                  <a:cubicBezTo>
                    <a:pt x="1996948" y="1549908"/>
                    <a:pt x="1549908" y="1996948"/>
                    <a:pt x="998474" y="1996948"/>
                  </a:cubicBezTo>
                  <a:cubicBezTo>
                    <a:pt x="447040" y="1996948"/>
                    <a:pt x="0" y="1549908"/>
                    <a:pt x="0" y="998474"/>
                  </a:cubicBezTo>
                  <a:close/>
                </a:path>
              </a:pathLst>
            </a:custGeom>
            <a:gradFill rotWithShape="1">
              <a:gsLst>
                <a:gs pos="0">
                  <a:srgbClr val="7DC7FF">
                    <a:alpha val="100000"/>
                  </a:srgbClr>
                </a:gs>
                <a:gs pos="100000">
                  <a:srgbClr val="0069B8">
                    <a:alpha val="100000"/>
                  </a:srgbClr>
                </a:gs>
              </a:gsLst>
              <a:lin ang="18900000"/>
            </a:gradFill>
          </p:spPr>
        </p:sp>
      </p:grpSp>
      <p:grpSp>
        <p:nvGrpSpPr>
          <p:cNvPr id="46" name="Group 35"/>
          <p:cNvGrpSpPr/>
          <p:nvPr/>
        </p:nvGrpSpPr>
        <p:grpSpPr>
          <a:xfrm rot="5400000">
            <a:off x="4688936" y="2623276"/>
            <a:ext cx="1497650" cy="1497652"/>
            <a:chOff x="0" y="0"/>
            <a:chExt cx="1996866" cy="1996870"/>
          </a:xfrm>
        </p:grpSpPr>
        <p:sp>
          <p:nvSpPr>
            <p:cNvPr id="47" name="Freeform 36"/>
            <p:cNvSpPr/>
            <p:nvPr/>
          </p:nvSpPr>
          <p:spPr>
            <a:xfrm>
              <a:off x="0" y="0"/>
              <a:ext cx="1996948" cy="1996948"/>
            </a:xfrm>
            <a:custGeom>
              <a:avLst/>
              <a:gdLst/>
              <a:ahLst/>
              <a:cxnLst/>
              <a:rect l="l" t="t" r="r" b="b"/>
              <a:pathLst>
                <a:path w="1996948" h="1996948">
                  <a:moveTo>
                    <a:pt x="0" y="998474"/>
                  </a:moveTo>
                  <a:cubicBezTo>
                    <a:pt x="0" y="447040"/>
                    <a:pt x="447040" y="0"/>
                    <a:pt x="998474" y="0"/>
                  </a:cubicBezTo>
                  <a:cubicBezTo>
                    <a:pt x="1549908" y="0"/>
                    <a:pt x="1996948" y="447040"/>
                    <a:pt x="1996948" y="998474"/>
                  </a:cubicBezTo>
                  <a:cubicBezTo>
                    <a:pt x="1996948" y="1549908"/>
                    <a:pt x="1549908" y="1996948"/>
                    <a:pt x="998474" y="1996948"/>
                  </a:cubicBezTo>
                  <a:cubicBezTo>
                    <a:pt x="447040" y="1996948"/>
                    <a:pt x="0" y="1549908"/>
                    <a:pt x="0" y="998474"/>
                  </a:cubicBezTo>
                  <a:close/>
                </a:path>
              </a:pathLst>
            </a:custGeom>
            <a:gradFill rotWithShape="1">
              <a:gsLst>
                <a:gs pos="0">
                  <a:srgbClr val="7DC7FF">
                    <a:alpha val="100000"/>
                  </a:srgbClr>
                </a:gs>
                <a:gs pos="100000">
                  <a:srgbClr val="0069B8">
                    <a:alpha val="100000"/>
                  </a:srgbClr>
                </a:gs>
              </a:gsLst>
              <a:lin ang="18900003"/>
            </a:gradFill>
          </p:spPr>
        </p:sp>
      </p:grpSp>
      <p:sp>
        <p:nvSpPr>
          <p:cNvPr id="48" name="Freeform 37"/>
          <p:cNvSpPr/>
          <p:nvPr/>
        </p:nvSpPr>
        <p:spPr>
          <a:xfrm>
            <a:off x="8754679" y="6586144"/>
            <a:ext cx="707054" cy="707054"/>
          </a:xfrm>
          <a:custGeom>
            <a:avLst/>
            <a:gdLst/>
            <a:ahLst/>
            <a:cxnLst/>
            <a:rect l="l" t="t" r="r" b="b"/>
            <a:pathLst>
              <a:path w="707054" h="707054">
                <a:moveTo>
                  <a:pt x="0" y="0"/>
                </a:moveTo>
                <a:lnTo>
                  <a:pt x="707054" y="0"/>
                </a:lnTo>
                <a:lnTo>
                  <a:pt x="707054" y="707053"/>
                </a:lnTo>
                <a:lnTo>
                  <a:pt x="0" y="70705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grpSp>
        <p:nvGrpSpPr>
          <p:cNvPr id="49" name="Group 38"/>
          <p:cNvGrpSpPr/>
          <p:nvPr/>
        </p:nvGrpSpPr>
        <p:grpSpPr>
          <a:xfrm rot="0">
            <a:off x="1221815" y="5277392"/>
            <a:ext cx="3712933" cy="853140"/>
            <a:chOff x="0" y="0"/>
            <a:chExt cx="1768684" cy="406400"/>
          </a:xfrm>
        </p:grpSpPr>
        <p:sp>
          <p:nvSpPr>
            <p:cNvPr id="50" name="Freeform 39"/>
            <p:cNvSpPr/>
            <p:nvPr/>
          </p:nvSpPr>
          <p:spPr>
            <a:xfrm>
              <a:off x="0" y="0"/>
              <a:ext cx="1768684" cy="406400"/>
            </a:xfrm>
            <a:custGeom>
              <a:avLst/>
              <a:gdLst/>
              <a:ahLst/>
              <a:cxnLst/>
              <a:rect l="l" t="t" r="r" b="b"/>
              <a:pathLst>
                <a:path w="1768684" h="406400">
                  <a:moveTo>
                    <a:pt x="1565484" y="0"/>
                  </a:moveTo>
                  <a:lnTo>
                    <a:pt x="0" y="0"/>
                  </a:lnTo>
                  <a:lnTo>
                    <a:pt x="0" y="406400"/>
                  </a:lnTo>
                  <a:lnTo>
                    <a:pt x="1565484" y="406400"/>
                  </a:lnTo>
                  <a:lnTo>
                    <a:pt x="1768684" y="203200"/>
                  </a:lnTo>
                  <a:lnTo>
                    <a:pt x="1565484" y="0"/>
                  </a:lnTo>
                  <a:close/>
                </a:path>
              </a:pathLst>
            </a:custGeom>
            <a:gradFill rotWithShape="1">
              <a:gsLst>
                <a:gs pos="0">
                  <a:srgbClr val="0069B8">
                    <a:alpha val="100000"/>
                  </a:srgbClr>
                </a:gs>
                <a:gs pos="100000">
                  <a:srgbClr val="004F8A">
                    <a:alpha val="100000"/>
                  </a:srgbClr>
                </a:gs>
              </a:gsLst>
              <a:lin ang="13500000"/>
            </a:gradFill>
          </p:spPr>
        </p:sp>
        <p:sp>
          <p:nvSpPr>
            <p:cNvPr id="51" name="TextBox 40"/>
            <p:cNvSpPr txBox="1"/>
            <p:nvPr/>
          </p:nvSpPr>
          <p:spPr>
            <a:xfrm>
              <a:off x="0" y="0"/>
              <a:ext cx="1654384" cy="406400"/>
            </a:xfrm>
            <a:prstGeom prst="rect">
              <a:avLst/>
            </a:prstGeom>
          </p:spPr>
          <p:txBody>
            <a:bodyPr lIns="50800" tIns="50800" rIns="50800" bIns="50800" rtlCol="0" anchor="ctr"/>
            <a:lstStyle/>
            <a:p>
              <a:pPr algn="ctr">
                <a:lnSpc>
                  <a:spcPts val="2400"/>
                </a:lnSpc>
              </a:pPr>
            </a:p>
          </p:txBody>
        </p:sp>
      </p:grpSp>
      <p:sp>
        <p:nvSpPr>
          <p:cNvPr id="52" name="TextBox 42"/>
          <p:cNvSpPr txBox="1"/>
          <p:nvPr/>
        </p:nvSpPr>
        <p:spPr>
          <a:xfrm>
            <a:off x="4298347" y="3181603"/>
            <a:ext cx="2278826" cy="415290"/>
          </a:xfrm>
          <a:prstGeom prst="rect">
            <a:avLst/>
          </a:prstGeom>
        </p:spPr>
        <p:txBody>
          <a:bodyPr lIns="0" tIns="0" rIns="0" bIns="0" rtlCol="0" anchor="t">
            <a:spAutoFit/>
          </a:bodyPr>
          <a:lstStyle/>
          <a:p>
            <a:pPr algn="ctr">
              <a:lnSpc>
                <a:spcPts val="3240"/>
              </a:lnSpc>
              <a:spcBef>
                <a:spcPct val="0"/>
              </a:spcBef>
            </a:pPr>
            <a:r>
              <a:rPr lang="zh-CN" altLang="en-US" sz="2700" spc="53">
                <a:solidFill>
                  <a:srgbClr val="FFFFFF"/>
                </a:solidFill>
                <a:latin typeface="微软雅黑" panose="020B0503020204020204" charset="-122"/>
                <a:ea typeface="微软雅黑" panose="020B0503020204020204" charset="-122"/>
                <a:cs typeface="思源黑体" panose="020B0500000000000000" charset="-122"/>
                <a:sym typeface="思源黑体" panose="020B0500000000000000" charset="-122"/>
              </a:rPr>
              <a:t>视图容器</a:t>
            </a:r>
            <a:endParaRPr lang="zh-CN" altLang="en-US" sz="2700" spc="53">
              <a:solidFill>
                <a:srgbClr val="FFFFFF"/>
              </a:solidFill>
              <a:latin typeface="微软雅黑" panose="020B0503020204020204" charset="-122"/>
              <a:ea typeface="微软雅黑" panose="020B0503020204020204" charset="-122"/>
              <a:cs typeface="思源黑体" panose="020B0500000000000000" charset="-122"/>
              <a:sym typeface="思源黑体" panose="020B0500000000000000" charset="-122"/>
            </a:endParaRPr>
          </a:p>
        </p:txBody>
      </p:sp>
      <p:sp>
        <p:nvSpPr>
          <p:cNvPr id="53" name="TextBox 43"/>
          <p:cNvSpPr txBox="1"/>
          <p:nvPr/>
        </p:nvSpPr>
        <p:spPr>
          <a:xfrm>
            <a:off x="7122418" y="3167314"/>
            <a:ext cx="2278826" cy="415290"/>
          </a:xfrm>
          <a:prstGeom prst="rect">
            <a:avLst/>
          </a:prstGeom>
        </p:spPr>
        <p:txBody>
          <a:bodyPr lIns="0" tIns="0" rIns="0" bIns="0" rtlCol="0" anchor="t">
            <a:spAutoFit/>
          </a:bodyPr>
          <a:lstStyle/>
          <a:p>
            <a:pPr algn="ctr">
              <a:lnSpc>
                <a:spcPts val="3240"/>
              </a:lnSpc>
              <a:spcBef>
                <a:spcPct val="0"/>
              </a:spcBef>
            </a:pPr>
            <a:r>
              <a:rPr lang="zh-CN" altLang="en-US" sz="2700" spc="53">
                <a:solidFill>
                  <a:srgbClr val="FFFFFF"/>
                </a:solidFill>
                <a:latin typeface="微软雅黑" panose="020B0503020204020204" charset="-122"/>
                <a:ea typeface="微软雅黑" panose="020B0503020204020204" charset="-122"/>
                <a:cs typeface="思源黑体" panose="020B0500000000000000" charset="-122"/>
                <a:sym typeface="思源黑体" panose="020B0500000000000000" charset="-122"/>
              </a:rPr>
              <a:t>状态总栈</a:t>
            </a:r>
            <a:endParaRPr lang="zh-CN" altLang="en-US" sz="2700" spc="53">
              <a:solidFill>
                <a:srgbClr val="FFFFFF"/>
              </a:solidFill>
              <a:latin typeface="微软雅黑" panose="020B0503020204020204" charset="-122"/>
              <a:ea typeface="微软雅黑" panose="020B0503020204020204" charset="-122"/>
              <a:cs typeface="思源黑体" panose="020B0500000000000000" charset="-122"/>
              <a:sym typeface="思源黑体" panose="020B0500000000000000" charset="-122"/>
            </a:endParaRPr>
          </a:p>
        </p:txBody>
      </p:sp>
      <p:sp>
        <p:nvSpPr>
          <p:cNvPr id="54" name="TextBox 44"/>
          <p:cNvSpPr txBox="1"/>
          <p:nvPr/>
        </p:nvSpPr>
        <p:spPr>
          <a:xfrm>
            <a:off x="8860708" y="3167314"/>
            <a:ext cx="2278826" cy="415290"/>
          </a:xfrm>
          <a:prstGeom prst="rect">
            <a:avLst/>
          </a:prstGeom>
        </p:spPr>
        <p:txBody>
          <a:bodyPr lIns="0" tIns="0" rIns="0" bIns="0" rtlCol="0" anchor="t">
            <a:spAutoFit/>
          </a:bodyPr>
          <a:lstStyle/>
          <a:p>
            <a:pPr algn="ctr">
              <a:lnSpc>
                <a:spcPts val="3240"/>
              </a:lnSpc>
              <a:spcBef>
                <a:spcPct val="0"/>
              </a:spcBef>
            </a:pPr>
            <a:r>
              <a:rPr lang="zh-CN" altLang="en-US" sz="2700" spc="53">
                <a:solidFill>
                  <a:srgbClr val="FFFFFF"/>
                </a:solidFill>
                <a:latin typeface="微软雅黑" panose="020B0503020204020204" charset="-122"/>
                <a:ea typeface="微软雅黑" panose="020B0503020204020204" charset="-122"/>
                <a:cs typeface="思源黑体" panose="020B0500000000000000" charset="-122"/>
                <a:sym typeface="思源黑体" panose="020B0500000000000000" charset="-122"/>
              </a:rPr>
              <a:t>路由</a:t>
            </a:r>
            <a:endParaRPr lang="zh-CN" altLang="en-US" sz="2700" spc="53">
              <a:solidFill>
                <a:srgbClr val="FFFFFF"/>
              </a:solidFill>
              <a:latin typeface="微软雅黑" panose="020B0503020204020204" charset="-122"/>
              <a:ea typeface="微软雅黑" panose="020B0503020204020204" charset="-122"/>
              <a:cs typeface="思源黑体" panose="020B0500000000000000" charset="-122"/>
              <a:sym typeface="思源黑体" panose="020B0500000000000000" charset="-122"/>
            </a:endParaRPr>
          </a:p>
        </p:txBody>
      </p:sp>
      <p:sp>
        <p:nvSpPr>
          <p:cNvPr id="55" name="TextBox 45"/>
          <p:cNvSpPr txBox="1"/>
          <p:nvPr/>
        </p:nvSpPr>
        <p:spPr>
          <a:xfrm>
            <a:off x="11684784" y="3167314"/>
            <a:ext cx="2278826" cy="415290"/>
          </a:xfrm>
          <a:prstGeom prst="rect">
            <a:avLst/>
          </a:prstGeom>
        </p:spPr>
        <p:txBody>
          <a:bodyPr lIns="0" tIns="0" rIns="0" bIns="0" rtlCol="0" anchor="t">
            <a:spAutoFit/>
          </a:bodyPr>
          <a:lstStyle/>
          <a:p>
            <a:pPr algn="ctr">
              <a:lnSpc>
                <a:spcPts val="3240"/>
              </a:lnSpc>
              <a:spcBef>
                <a:spcPct val="0"/>
              </a:spcBef>
            </a:pPr>
            <a:r>
              <a:rPr lang="zh-CN" altLang="en-US" sz="2700" spc="53">
                <a:solidFill>
                  <a:srgbClr val="FFFFFF"/>
                </a:solidFill>
                <a:latin typeface="微软雅黑" panose="020B0503020204020204" charset="-122"/>
                <a:ea typeface="微软雅黑" panose="020B0503020204020204" charset="-122"/>
                <a:cs typeface="思源黑体" panose="020B0500000000000000" charset="-122"/>
                <a:sym typeface="思源黑体" panose="020B0500000000000000" charset="-122"/>
              </a:rPr>
              <a:t>统计模型</a:t>
            </a:r>
            <a:endParaRPr lang="zh-CN" altLang="en-US" sz="2700" spc="53">
              <a:solidFill>
                <a:srgbClr val="FFFFFF"/>
              </a:solidFill>
              <a:latin typeface="微软雅黑" panose="020B0503020204020204" charset="-122"/>
              <a:ea typeface="微软雅黑" panose="020B0503020204020204" charset="-122"/>
              <a:cs typeface="思源黑体" panose="020B0500000000000000" charset="-122"/>
              <a:sym typeface="思源黑体" panose="020B0500000000000000" charset="-122"/>
            </a:endParaRPr>
          </a:p>
        </p:txBody>
      </p:sp>
      <p:sp>
        <p:nvSpPr>
          <p:cNvPr id="56" name="TextBox 46"/>
          <p:cNvSpPr txBox="1"/>
          <p:nvPr/>
        </p:nvSpPr>
        <p:spPr>
          <a:xfrm>
            <a:off x="5702149" y="4700630"/>
            <a:ext cx="2278826" cy="415290"/>
          </a:xfrm>
          <a:prstGeom prst="rect">
            <a:avLst/>
          </a:prstGeom>
        </p:spPr>
        <p:txBody>
          <a:bodyPr lIns="0" tIns="0" rIns="0" bIns="0" rtlCol="0" anchor="t">
            <a:spAutoFit/>
          </a:bodyPr>
          <a:lstStyle/>
          <a:p>
            <a:pPr algn="ctr">
              <a:lnSpc>
                <a:spcPts val="3240"/>
              </a:lnSpc>
              <a:spcBef>
                <a:spcPct val="0"/>
              </a:spcBef>
            </a:pPr>
            <a:r>
              <a:rPr lang="zh-CN" altLang="en-US" sz="2700" spc="53">
                <a:solidFill>
                  <a:srgbClr val="FFFFFF"/>
                </a:solidFill>
                <a:latin typeface="微软雅黑" panose="020B0503020204020204" charset="-122"/>
                <a:ea typeface="微软雅黑" panose="020B0503020204020204" charset="-122"/>
                <a:cs typeface="思源黑体" panose="020B0500000000000000" charset="-122"/>
                <a:sym typeface="思源黑体" panose="020B0500000000000000" charset="-122"/>
              </a:rPr>
              <a:t>前端</a:t>
            </a:r>
            <a:endParaRPr lang="zh-CN" altLang="en-US" sz="2700" spc="53">
              <a:solidFill>
                <a:srgbClr val="FFFFFF"/>
              </a:solidFill>
              <a:latin typeface="微软雅黑" panose="020B0503020204020204" charset="-122"/>
              <a:ea typeface="微软雅黑" panose="020B0503020204020204" charset="-122"/>
              <a:cs typeface="思源黑体" panose="020B0500000000000000" charset="-122"/>
              <a:sym typeface="思源黑体" panose="020B0500000000000000" charset="-122"/>
            </a:endParaRPr>
          </a:p>
        </p:txBody>
      </p:sp>
      <p:sp>
        <p:nvSpPr>
          <p:cNvPr id="57" name="TextBox 47"/>
          <p:cNvSpPr txBox="1"/>
          <p:nvPr/>
        </p:nvSpPr>
        <p:spPr>
          <a:xfrm>
            <a:off x="10260088" y="4665045"/>
            <a:ext cx="2278826" cy="415290"/>
          </a:xfrm>
          <a:prstGeom prst="rect">
            <a:avLst/>
          </a:prstGeom>
        </p:spPr>
        <p:txBody>
          <a:bodyPr lIns="0" tIns="0" rIns="0" bIns="0" rtlCol="0" anchor="t">
            <a:spAutoFit/>
          </a:bodyPr>
          <a:lstStyle/>
          <a:p>
            <a:pPr algn="ctr">
              <a:lnSpc>
                <a:spcPts val="3240"/>
              </a:lnSpc>
              <a:spcBef>
                <a:spcPct val="0"/>
              </a:spcBef>
            </a:pPr>
            <a:r>
              <a:rPr lang="zh-CN" altLang="en-US" sz="2700" spc="53">
                <a:solidFill>
                  <a:srgbClr val="FFFFFF"/>
                </a:solidFill>
                <a:latin typeface="微软雅黑" panose="020B0503020204020204" charset="-122"/>
                <a:ea typeface="微软雅黑" panose="020B0503020204020204" charset="-122"/>
                <a:cs typeface="思源黑体" panose="020B0500000000000000" charset="-122"/>
                <a:sym typeface="思源黑体" panose="020B0500000000000000" charset="-122"/>
              </a:rPr>
              <a:t>后端</a:t>
            </a:r>
            <a:endParaRPr lang="zh-CN" altLang="en-US" sz="2700" spc="53">
              <a:solidFill>
                <a:srgbClr val="FFFFFF"/>
              </a:solidFill>
              <a:latin typeface="微软雅黑" panose="020B0503020204020204" charset="-122"/>
              <a:ea typeface="微软雅黑" panose="020B0503020204020204" charset="-122"/>
              <a:cs typeface="思源黑体" panose="020B0500000000000000" charset="-122"/>
              <a:sym typeface="思源黑体" panose="020B0500000000000000" charset="-122"/>
            </a:endParaRPr>
          </a:p>
        </p:txBody>
      </p:sp>
      <p:sp>
        <p:nvSpPr>
          <p:cNvPr id="58" name="TextBox 48"/>
          <p:cNvSpPr txBox="1"/>
          <p:nvPr/>
        </p:nvSpPr>
        <p:spPr>
          <a:xfrm>
            <a:off x="8004587" y="7456713"/>
            <a:ext cx="2278826" cy="415290"/>
          </a:xfrm>
          <a:prstGeom prst="rect">
            <a:avLst/>
          </a:prstGeom>
        </p:spPr>
        <p:txBody>
          <a:bodyPr lIns="0" tIns="0" rIns="0" bIns="0" rtlCol="0" anchor="t">
            <a:spAutoFit/>
          </a:bodyPr>
          <a:lstStyle/>
          <a:p>
            <a:pPr algn="ctr">
              <a:lnSpc>
                <a:spcPts val="3240"/>
              </a:lnSpc>
              <a:spcBef>
                <a:spcPct val="0"/>
              </a:spcBef>
            </a:pPr>
            <a:r>
              <a:rPr lang="zh-CN" altLang="en-US" sz="2700" spc="53">
                <a:solidFill>
                  <a:srgbClr val="004F8A"/>
                </a:solidFill>
                <a:latin typeface="微软雅黑" panose="020B0503020204020204" charset="-122"/>
                <a:ea typeface="微软雅黑" panose="020B0503020204020204" charset="-122"/>
                <a:cs typeface="思源黑体" panose="020B0500000000000000" charset="-122"/>
                <a:sym typeface="思源黑体" panose="020B0500000000000000" charset="-122"/>
              </a:rPr>
              <a:t>文件架构</a:t>
            </a:r>
            <a:endParaRPr lang="zh-CN" altLang="en-US" sz="2700" spc="53">
              <a:solidFill>
                <a:srgbClr val="004F8A"/>
              </a:solidFill>
              <a:latin typeface="微软雅黑" panose="020B0503020204020204" charset="-122"/>
              <a:ea typeface="微软雅黑" panose="020B0503020204020204" charset="-122"/>
              <a:cs typeface="思源黑体" panose="020B0500000000000000" charset="-122"/>
              <a:sym typeface="思源黑体" panose="020B0500000000000000" charset="-122"/>
            </a:endParaRPr>
          </a:p>
        </p:txBody>
      </p:sp>
      <p:grpSp>
        <p:nvGrpSpPr>
          <p:cNvPr id="59" name="Group 49"/>
          <p:cNvGrpSpPr/>
          <p:nvPr/>
        </p:nvGrpSpPr>
        <p:grpSpPr>
          <a:xfrm rot="0">
            <a:off x="1231340" y="4772247"/>
            <a:ext cx="4613745" cy="3704413"/>
            <a:chOff x="0" y="0"/>
            <a:chExt cx="1215143" cy="975648"/>
          </a:xfrm>
        </p:grpSpPr>
        <p:sp>
          <p:nvSpPr>
            <p:cNvPr id="60" name="Freeform 50"/>
            <p:cNvSpPr/>
            <p:nvPr/>
          </p:nvSpPr>
          <p:spPr>
            <a:xfrm>
              <a:off x="0" y="0"/>
              <a:ext cx="1215143" cy="975648"/>
            </a:xfrm>
            <a:custGeom>
              <a:avLst/>
              <a:gdLst/>
              <a:ahLst/>
              <a:cxnLst/>
              <a:rect l="l" t="t" r="r" b="b"/>
              <a:pathLst>
                <a:path w="1215143" h="975648">
                  <a:moveTo>
                    <a:pt x="85579" y="0"/>
                  </a:moveTo>
                  <a:lnTo>
                    <a:pt x="1129564" y="0"/>
                  </a:lnTo>
                  <a:cubicBezTo>
                    <a:pt x="1176828" y="0"/>
                    <a:pt x="1215143" y="38315"/>
                    <a:pt x="1215143" y="85579"/>
                  </a:cubicBezTo>
                  <a:lnTo>
                    <a:pt x="1215143" y="890069"/>
                  </a:lnTo>
                  <a:cubicBezTo>
                    <a:pt x="1215143" y="912766"/>
                    <a:pt x="1206126" y="934533"/>
                    <a:pt x="1190077" y="950582"/>
                  </a:cubicBezTo>
                  <a:cubicBezTo>
                    <a:pt x="1174028" y="966632"/>
                    <a:pt x="1152261" y="975648"/>
                    <a:pt x="1129564" y="975648"/>
                  </a:cubicBezTo>
                  <a:lnTo>
                    <a:pt x="85579" y="975648"/>
                  </a:lnTo>
                  <a:cubicBezTo>
                    <a:pt x="62882" y="975648"/>
                    <a:pt x="41115" y="966632"/>
                    <a:pt x="25065" y="950582"/>
                  </a:cubicBezTo>
                  <a:cubicBezTo>
                    <a:pt x="9016" y="934533"/>
                    <a:pt x="0" y="912766"/>
                    <a:pt x="0" y="890069"/>
                  </a:cubicBezTo>
                  <a:lnTo>
                    <a:pt x="0" y="85579"/>
                  </a:lnTo>
                  <a:cubicBezTo>
                    <a:pt x="0" y="62882"/>
                    <a:pt x="9016" y="41115"/>
                    <a:pt x="25065" y="25065"/>
                  </a:cubicBezTo>
                  <a:cubicBezTo>
                    <a:pt x="41115" y="9016"/>
                    <a:pt x="62882" y="0"/>
                    <a:pt x="85579" y="0"/>
                  </a:cubicBezTo>
                  <a:close/>
                </a:path>
              </a:pathLst>
            </a:custGeom>
            <a:ln w="19050" cap="rnd">
              <a:solidFill>
                <a:srgbClr val="0069B8"/>
              </a:solidFill>
              <a:prstDash val="solid"/>
              <a:round/>
            </a:ln>
          </p:spPr>
        </p:sp>
        <p:sp>
          <p:nvSpPr>
            <p:cNvPr id="61" name="TextBox 51"/>
            <p:cNvSpPr txBox="1"/>
            <p:nvPr/>
          </p:nvSpPr>
          <p:spPr>
            <a:xfrm>
              <a:off x="0" y="0"/>
              <a:ext cx="1215143" cy="975648"/>
            </a:xfrm>
            <a:prstGeom prst="rect">
              <a:avLst/>
            </a:prstGeom>
          </p:spPr>
          <p:txBody>
            <a:bodyPr lIns="50800" tIns="50800" rIns="50800" bIns="50800" rtlCol="0" anchor="ctr"/>
            <a:lstStyle/>
            <a:p>
              <a:pPr algn="ctr">
                <a:lnSpc>
                  <a:spcPts val="2400"/>
                </a:lnSpc>
              </a:pPr>
            </a:p>
          </p:txBody>
        </p:sp>
      </p:grpSp>
      <p:sp>
        <p:nvSpPr>
          <p:cNvPr id="62" name="TextBox 52"/>
          <p:cNvSpPr txBox="1"/>
          <p:nvPr/>
        </p:nvSpPr>
        <p:spPr>
          <a:xfrm>
            <a:off x="1683874" y="5427737"/>
            <a:ext cx="2738299" cy="461645"/>
          </a:xfrm>
          <a:prstGeom prst="rect">
            <a:avLst/>
          </a:prstGeom>
        </p:spPr>
        <p:txBody>
          <a:bodyPr lIns="0" tIns="0" rIns="0" bIns="0" rtlCol="0" anchor="t">
            <a:spAutoFit/>
          </a:bodyPr>
          <a:lstStyle/>
          <a:p>
            <a:pPr algn="l">
              <a:lnSpc>
                <a:spcPts val="3600"/>
              </a:lnSpc>
              <a:spcBef>
                <a:spcPct val="0"/>
              </a:spcBef>
            </a:pPr>
            <a:r>
              <a:rPr lang="zh-CN" altLang="en-US" sz="3000" spc="59">
                <a:solidFill>
                  <a:srgbClr val="FFFFFF"/>
                </a:solidFill>
                <a:latin typeface="微软雅黑" panose="020B0503020204020204" charset="-122"/>
                <a:ea typeface="微软雅黑" panose="020B0503020204020204" charset="-122"/>
                <a:cs typeface="思源黑体" panose="020B0500000000000000" charset="-122"/>
                <a:sym typeface="思源黑体" panose="020B0500000000000000" charset="-122"/>
              </a:rPr>
              <a:t>前端目录树</a:t>
            </a:r>
            <a:endParaRPr lang="zh-CN" altLang="en-US" sz="3000" spc="59">
              <a:solidFill>
                <a:srgbClr val="FFFFFF"/>
              </a:solidFill>
              <a:latin typeface="微软雅黑" panose="020B0503020204020204" charset="-122"/>
              <a:ea typeface="微软雅黑" panose="020B0503020204020204" charset="-122"/>
              <a:cs typeface="思源黑体" panose="020B0500000000000000" charset="-122"/>
              <a:sym typeface="思源黑体" panose="020B0500000000000000" charset="-122"/>
            </a:endParaRPr>
          </a:p>
        </p:txBody>
      </p:sp>
      <p:sp>
        <p:nvSpPr>
          <p:cNvPr id="63" name="TextBox 53"/>
          <p:cNvSpPr txBox="1"/>
          <p:nvPr/>
        </p:nvSpPr>
        <p:spPr>
          <a:xfrm>
            <a:off x="1059180" y="6210300"/>
            <a:ext cx="4785995" cy="923290"/>
          </a:xfrm>
          <a:prstGeom prst="rect">
            <a:avLst/>
          </a:prstGeom>
        </p:spPr>
        <p:txBody>
          <a:bodyPr wrap="square" lIns="0" tIns="0" rIns="0" bIns="0" rtlCol="0" anchor="t">
            <a:spAutoFit/>
          </a:bodyPr>
          <a:lstStyle/>
          <a:p>
            <a:pPr marL="431800" lvl="1" indent="-215900" algn="l">
              <a:lnSpc>
                <a:spcPts val="2400"/>
              </a:lnSpc>
              <a:buFont typeface="Arial" panose="020B0604020202020204"/>
              <a:buChar char="•"/>
            </a:pP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封装</a:t>
            </a:r>
            <a:r>
              <a:rPr lang="en-US" altLang="zh-CN"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 DataScreen (</a:t>
            </a: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大屏</a:t>
            </a:r>
            <a:r>
              <a:rPr lang="en-US" altLang="zh-CN"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 </a:t>
            </a: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与</a:t>
            </a:r>
            <a:r>
              <a:rPr lang="en-US" altLang="zh-CN"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 DataEditor (</a:t>
            </a: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编辑区</a:t>
            </a:r>
            <a:r>
              <a:rPr lang="en-US" altLang="zh-CN"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 </a:t>
            </a: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等核心组件，保障海量表单数据的流畅渲染与交互。</a:t>
            </a:r>
            <a:endPar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endParaRPr>
          </a:p>
        </p:txBody>
      </p:sp>
      <p:sp>
        <p:nvSpPr>
          <p:cNvPr id="64" name="TextBox 54"/>
          <p:cNvSpPr txBox="1"/>
          <p:nvPr/>
        </p:nvSpPr>
        <p:spPr>
          <a:xfrm>
            <a:off x="1143000" y="7303135"/>
            <a:ext cx="4568825" cy="1498600"/>
          </a:xfrm>
          <a:prstGeom prst="rect">
            <a:avLst/>
          </a:prstGeom>
        </p:spPr>
        <p:txBody>
          <a:bodyPr lIns="0" tIns="0" rIns="0" bIns="0" rtlCol="0" anchor="t">
            <a:noAutofit/>
          </a:bodyPr>
          <a:lstStyle/>
          <a:p>
            <a:pPr marL="431800" lvl="1" indent="-215900" algn="l">
              <a:lnSpc>
                <a:spcPts val="2400"/>
              </a:lnSpc>
              <a:buFont typeface="Arial" panose="020B0604020202020204"/>
              <a:buChar char="•"/>
            </a:pP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细分</a:t>
            </a:r>
            <a:r>
              <a:rPr lang="en-US" altLang="zh-CN"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 process</a:t>
            </a: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a:t>
            </a:r>
            <a:r>
              <a:rPr lang="en-US" altLang="zh-CN"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analysis </a:t>
            </a:r>
            <a:r>
              <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rPr>
              <a:t>等全局响应式管线，作为神经中枢统一调度系统状态，阻断内存溢出风险。</a:t>
            </a:r>
            <a:endParaRPr lang="zh-CN" altLang="en-US" sz="2000" spc="39">
              <a:solidFill>
                <a:srgbClr val="808080"/>
              </a:solidFill>
              <a:latin typeface="微软雅黑" panose="020B0503020204020204" charset="-122"/>
              <a:ea typeface="微软雅黑" panose="020B0503020204020204" charset="-122"/>
              <a:cs typeface="微软雅黑" panose="020B0503020204020204" charset="-122"/>
              <a:sym typeface="思源黑体" panose="020B0500000000000000" charset="-122"/>
            </a:endParaRPr>
          </a:p>
        </p:txBody>
      </p:sp>
      <p:grpSp>
        <p:nvGrpSpPr>
          <p:cNvPr id="65" name="Group 55"/>
          <p:cNvGrpSpPr/>
          <p:nvPr/>
        </p:nvGrpSpPr>
        <p:grpSpPr>
          <a:xfrm rot="0">
            <a:off x="12491227" y="4772247"/>
            <a:ext cx="4613745" cy="3704413"/>
            <a:chOff x="0" y="0"/>
            <a:chExt cx="1215143" cy="975648"/>
          </a:xfrm>
        </p:grpSpPr>
        <p:sp>
          <p:nvSpPr>
            <p:cNvPr id="66" name="Freeform 56"/>
            <p:cNvSpPr/>
            <p:nvPr/>
          </p:nvSpPr>
          <p:spPr>
            <a:xfrm>
              <a:off x="0" y="0"/>
              <a:ext cx="1215143" cy="975648"/>
            </a:xfrm>
            <a:custGeom>
              <a:avLst/>
              <a:gdLst/>
              <a:ahLst/>
              <a:cxnLst/>
              <a:rect l="l" t="t" r="r" b="b"/>
              <a:pathLst>
                <a:path w="1215143" h="975648">
                  <a:moveTo>
                    <a:pt x="85579" y="0"/>
                  </a:moveTo>
                  <a:lnTo>
                    <a:pt x="1129564" y="0"/>
                  </a:lnTo>
                  <a:cubicBezTo>
                    <a:pt x="1176828" y="0"/>
                    <a:pt x="1215143" y="38315"/>
                    <a:pt x="1215143" y="85579"/>
                  </a:cubicBezTo>
                  <a:lnTo>
                    <a:pt x="1215143" y="890069"/>
                  </a:lnTo>
                  <a:cubicBezTo>
                    <a:pt x="1215143" y="912766"/>
                    <a:pt x="1206126" y="934533"/>
                    <a:pt x="1190077" y="950582"/>
                  </a:cubicBezTo>
                  <a:cubicBezTo>
                    <a:pt x="1174028" y="966632"/>
                    <a:pt x="1152261" y="975648"/>
                    <a:pt x="1129564" y="975648"/>
                  </a:cubicBezTo>
                  <a:lnTo>
                    <a:pt x="85579" y="975648"/>
                  </a:lnTo>
                  <a:cubicBezTo>
                    <a:pt x="62882" y="975648"/>
                    <a:pt x="41115" y="966632"/>
                    <a:pt x="25065" y="950582"/>
                  </a:cubicBezTo>
                  <a:cubicBezTo>
                    <a:pt x="9016" y="934533"/>
                    <a:pt x="0" y="912766"/>
                    <a:pt x="0" y="890069"/>
                  </a:cubicBezTo>
                  <a:lnTo>
                    <a:pt x="0" y="85579"/>
                  </a:lnTo>
                  <a:cubicBezTo>
                    <a:pt x="0" y="62882"/>
                    <a:pt x="9016" y="41115"/>
                    <a:pt x="25065" y="25065"/>
                  </a:cubicBezTo>
                  <a:cubicBezTo>
                    <a:pt x="41115" y="9016"/>
                    <a:pt x="62882" y="0"/>
                    <a:pt x="85579" y="0"/>
                  </a:cubicBezTo>
                  <a:close/>
                </a:path>
              </a:pathLst>
            </a:custGeom>
            <a:gradFill rotWithShape="1">
              <a:gsLst>
                <a:gs pos="0">
                  <a:srgbClr val="0069B8">
                    <a:alpha val="100000"/>
                  </a:srgbClr>
                </a:gs>
                <a:gs pos="100000">
                  <a:srgbClr val="004F8A">
                    <a:alpha val="100000"/>
                  </a:srgbClr>
                </a:gs>
              </a:gsLst>
              <a:lin ang="13500000"/>
            </a:gradFill>
            <a:ln w="19050" cap="rnd">
              <a:solidFill>
                <a:srgbClr val="0069B8"/>
              </a:solidFill>
              <a:prstDash val="solid"/>
              <a:round/>
            </a:ln>
          </p:spPr>
        </p:sp>
        <p:sp>
          <p:nvSpPr>
            <p:cNvPr id="67" name="TextBox 57"/>
            <p:cNvSpPr txBox="1"/>
            <p:nvPr/>
          </p:nvSpPr>
          <p:spPr>
            <a:xfrm>
              <a:off x="0" y="0"/>
              <a:ext cx="1215143" cy="975648"/>
            </a:xfrm>
            <a:prstGeom prst="rect">
              <a:avLst/>
            </a:prstGeom>
          </p:spPr>
          <p:txBody>
            <a:bodyPr lIns="50800" tIns="50800" rIns="50800" bIns="50800" rtlCol="0" anchor="ctr"/>
            <a:lstStyle/>
            <a:p>
              <a:pPr algn="ctr">
                <a:lnSpc>
                  <a:spcPts val="2400"/>
                </a:lnSpc>
              </a:pPr>
            </a:p>
          </p:txBody>
        </p:sp>
      </p:grpSp>
      <p:grpSp>
        <p:nvGrpSpPr>
          <p:cNvPr id="68" name="Group 58"/>
          <p:cNvGrpSpPr/>
          <p:nvPr/>
        </p:nvGrpSpPr>
        <p:grpSpPr>
          <a:xfrm rot="0">
            <a:off x="12510277" y="5277392"/>
            <a:ext cx="3712933" cy="853140"/>
            <a:chOff x="0" y="0"/>
            <a:chExt cx="1768684" cy="406400"/>
          </a:xfrm>
        </p:grpSpPr>
        <p:sp>
          <p:nvSpPr>
            <p:cNvPr id="69" name="Freeform 59"/>
            <p:cNvSpPr/>
            <p:nvPr/>
          </p:nvSpPr>
          <p:spPr>
            <a:xfrm>
              <a:off x="0" y="0"/>
              <a:ext cx="1768684" cy="406400"/>
            </a:xfrm>
            <a:custGeom>
              <a:avLst/>
              <a:gdLst/>
              <a:ahLst/>
              <a:cxnLst/>
              <a:rect l="l" t="t" r="r" b="b"/>
              <a:pathLst>
                <a:path w="1768684" h="406400">
                  <a:moveTo>
                    <a:pt x="1565484" y="0"/>
                  </a:moveTo>
                  <a:lnTo>
                    <a:pt x="0" y="0"/>
                  </a:lnTo>
                  <a:lnTo>
                    <a:pt x="0" y="406400"/>
                  </a:lnTo>
                  <a:lnTo>
                    <a:pt x="1565484" y="406400"/>
                  </a:lnTo>
                  <a:lnTo>
                    <a:pt x="1768684" y="203200"/>
                  </a:lnTo>
                  <a:lnTo>
                    <a:pt x="1565484" y="0"/>
                  </a:lnTo>
                  <a:close/>
                </a:path>
              </a:pathLst>
            </a:custGeom>
            <a:solidFill>
              <a:srgbClr val="FFFFFF"/>
            </a:solidFill>
          </p:spPr>
        </p:sp>
        <p:sp>
          <p:nvSpPr>
            <p:cNvPr id="70" name="TextBox 60"/>
            <p:cNvSpPr txBox="1"/>
            <p:nvPr/>
          </p:nvSpPr>
          <p:spPr>
            <a:xfrm>
              <a:off x="0" y="0"/>
              <a:ext cx="1654384" cy="406400"/>
            </a:xfrm>
            <a:prstGeom prst="rect">
              <a:avLst/>
            </a:prstGeom>
          </p:spPr>
          <p:txBody>
            <a:bodyPr lIns="50800" tIns="50800" rIns="50800" bIns="50800" rtlCol="0" anchor="ctr"/>
            <a:lstStyle/>
            <a:p>
              <a:pPr algn="ctr">
                <a:lnSpc>
                  <a:spcPts val="2400"/>
                </a:lnSpc>
              </a:pPr>
            </a:p>
          </p:txBody>
        </p:sp>
      </p:grpSp>
      <p:sp>
        <p:nvSpPr>
          <p:cNvPr id="71" name="TextBox 61"/>
          <p:cNvSpPr txBox="1"/>
          <p:nvPr/>
        </p:nvSpPr>
        <p:spPr>
          <a:xfrm>
            <a:off x="12943760" y="5427737"/>
            <a:ext cx="2738299" cy="461645"/>
          </a:xfrm>
          <a:prstGeom prst="rect">
            <a:avLst/>
          </a:prstGeom>
        </p:spPr>
        <p:txBody>
          <a:bodyPr lIns="0" tIns="0" rIns="0" bIns="0" rtlCol="0" anchor="t">
            <a:spAutoFit/>
          </a:bodyPr>
          <a:lstStyle/>
          <a:p>
            <a:pPr algn="l">
              <a:lnSpc>
                <a:spcPts val="3600"/>
              </a:lnSpc>
              <a:spcBef>
                <a:spcPct val="0"/>
              </a:spcBef>
            </a:pPr>
            <a:r>
              <a:rPr lang="zh-CN" altLang="en-US" sz="3000" spc="59">
                <a:solidFill>
                  <a:srgbClr val="004F8A"/>
                </a:solidFill>
                <a:latin typeface="微软雅黑" panose="020B0503020204020204" charset="-122"/>
                <a:ea typeface="微软雅黑" panose="020B0503020204020204" charset="-122"/>
                <a:cs typeface="思源黑体" panose="020B0500000000000000" charset="-122"/>
                <a:sym typeface="思源黑体" panose="020B0500000000000000" charset="-122"/>
              </a:rPr>
              <a:t>后端目录树</a:t>
            </a:r>
            <a:endParaRPr lang="zh-CN" altLang="en-US" sz="3000" spc="59">
              <a:solidFill>
                <a:srgbClr val="004F8A"/>
              </a:solidFill>
              <a:latin typeface="微软雅黑" panose="020B0503020204020204" charset="-122"/>
              <a:ea typeface="微软雅黑" panose="020B0503020204020204" charset="-122"/>
              <a:cs typeface="思源黑体" panose="020B0500000000000000" charset="-122"/>
              <a:sym typeface="思源黑体" panose="020B0500000000000000" charset="-122"/>
            </a:endParaRPr>
          </a:p>
        </p:txBody>
      </p:sp>
      <p:sp>
        <p:nvSpPr>
          <p:cNvPr id="72" name="TextBox 62"/>
          <p:cNvSpPr txBox="1"/>
          <p:nvPr/>
        </p:nvSpPr>
        <p:spPr>
          <a:xfrm>
            <a:off x="12420600" y="6200140"/>
            <a:ext cx="4601845" cy="933450"/>
          </a:xfrm>
          <a:prstGeom prst="rect">
            <a:avLst/>
          </a:prstGeom>
        </p:spPr>
        <p:txBody>
          <a:bodyPr lIns="0" tIns="0" rIns="0" bIns="0" rtlCol="0" anchor="t">
            <a:noAutofit/>
          </a:bodyPr>
          <a:lstStyle/>
          <a:p>
            <a:pPr marL="431800" lvl="1" indent="-215900" algn="l">
              <a:lnSpc>
                <a:spcPts val="2400"/>
              </a:lnSpc>
              <a:buFont typeface="Arial" panose="020B0604020202020204"/>
              <a:buChar char="•"/>
            </a:pPr>
            <a:r>
              <a:rPr lang="zh-CN" altLang="en-US" sz="2000" spc="39">
                <a:solidFill>
                  <a:srgbClr val="FFFFFF"/>
                </a:solidFill>
                <a:latin typeface="微软雅黑" panose="020B0503020204020204" charset="-122"/>
                <a:ea typeface="微软雅黑" panose="020B0503020204020204" charset="-122"/>
                <a:cs typeface="微软雅黑" panose="020B0503020204020204" charset="-122"/>
                <a:sym typeface="思源黑体" panose="020B0500000000000000" charset="-122"/>
              </a:rPr>
              <a:t>按业务解耦</a:t>
            </a:r>
            <a:r>
              <a:rPr lang="en-US" altLang="zh-CN" sz="2000" spc="39">
                <a:solidFill>
                  <a:srgbClr val="FFFFFF"/>
                </a:solidFill>
                <a:latin typeface="微软雅黑" panose="020B0503020204020204" charset="-122"/>
                <a:ea typeface="微软雅黑" panose="020B0503020204020204" charset="-122"/>
                <a:cs typeface="微软雅黑" panose="020B0503020204020204" charset="-122"/>
                <a:sym typeface="思源黑体" panose="020B0500000000000000" charset="-122"/>
              </a:rPr>
              <a:t> upload</a:t>
            </a:r>
            <a:r>
              <a:rPr lang="zh-CN" altLang="en-US" sz="2000" spc="39">
                <a:solidFill>
                  <a:srgbClr val="FFFFFF"/>
                </a:solidFill>
                <a:latin typeface="微软雅黑" panose="020B0503020204020204" charset="-122"/>
                <a:ea typeface="微软雅黑" panose="020B0503020204020204" charset="-122"/>
                <a:cs typeface="微软雅黑" panose="020B0503020204020204" charset="-122"/>
                <a:sym typeface="思源黑体" panose="020B0500000000000000" charset="-122"/>
              </a:rPr>
              <a:t>、</a:t>
            </a:r>
            <a:r>
              <a:rPr lang="en-US" altLang="zh-CN" sz="2000" spc="39">
                <a:solidFill>
                  <a:srgbClr val="FFFFFF"/>
                </a:solidFill>
                <a:latin typeface="微软雅黑" panose="020B0503020204020204" charset="-122"/>
                <a:ea typeface="微软雅黑" panose="020B0503020204020204" charset="-122"/>
                <a:cs typeface="微软雅黑" panose="020B0503020204020204" charset="-122"/>
                <a:sym typeface="思源黑体" panose="020B0500000000000000" charset="-122"/>
              </a:rPr>
              <a:t>analysis </a:t>
            </a:r>
            <a:r>
              <a:rPr lang="zh-CN" altLang="en-US" sz="2000" spc="39">
                <a:solidFill>
                  <a:srgbClr val="FFFFFF"/>
                </a:solidFill>
                <a:latin typeface="微软雅黑" panose="020B0503020204020204" charset="-122"/>
                <a:ea typeface="微软雅黑" panose="020B0503020204020204" charset="-122"/>
                <a:cs typeface="微软雅黑" panose="020B0503020204020204" charset="-122"/>
                <a:sym typeface="思源黑体" panose="020B0500000000000000" charset="-122"/>
              </a:rPr>
              <a:t>等接口蓝图，负责前后端高频通信的精准调度与物理沙盒分发。</a:t>
            </a:r>
            <a:endParaRPr lang="zh-CN" altLang="en-US" sz="2000" spc="39">
              <a:solidFill>
                <a:srgbClr val="FFFFFF"/>
              </a:solidFill>
              <a:latin typeface="微软雅黑" panose="020B0503020204020204" charset="-122"/>
              <a:ea typeface="微软雅黑" panose="020B0503020204020204" charset="-122"/>
              <a:cs typeface="微软雅黑" panose="020B0503020204020204" charset="-122"/>
              <a:sym typeface="思源黑体" panose="020B0500000000000000" charset="-122"/>
            </a:endParaRPr>
          </a:p>
        </p:txBody>
      </p:sp>
      <p:sp>
        <p:nvSpPr>
          <p:cNvPr id="73" name="TextBox 63"/>
          <p:cNvSpPr txBox="1"/>
          <p:nvPr/>
        </p:nvSpPr>
        <p:spPr>
          <a:xfrm>
            <a:off x="12420600" y="7200900"/>
            <a:ext cx="4689475" cy="1336040"/>
          </a:xfrm>
          <a:prstGeom prst="rect">
            <a:avLst/>
          </a:prstGeom>
        </p:spPr>
        <p:txBody>
          <a:bodyPr lIns="0" tIns="0" rIns="0" bIns="0" rtlCol="0" anchor="t">
            <a:noAutofit/>
          </a:bodyPr>
          <a:lstStyle/>
          <a:p>
            <a:pPr marL="431800" lvl="1" indent="-215900" algn="l">
              <a:lnSpc>
                <a:spcPts val="2400"/>
              </a:lnSpc>
              <a:buFont typeface="Arial" panose="020B0604020202020204"/>
              <a:buChar char="•"/>
            </a:pPr>
            <a:r>
              <a:rPr lang="zh-CN" altLang="en-US" sz="2000" spc="39">
                <a:solidFill>
                  <a:srgbClr val="FFFFFF"/>
                </a:solidFill>
                <a:latin typeface="微软雅黑" panose="020B0503020204020204" charset="-122"/>
                <a:ea typeface="微软雅黑" panose="020B0503020204020204" charset="-122"/>
                <a:cs typeface="微软雅黑" panose="020B0503020204020204" charset="-122"/>
                <a:sym typeface="思源黑体" panose="020B0500000000000000" charset="-122"/>
              </a:rPr>
              <a:t>集成</a:t>
            </a:r>
            <a:r>
              <a:rPr lang="en-US" altLang="zh-CN" sz="2000" spc="39">
                <a:solidFill>
                  <a:srgbClr val="FFFFFF"/>
                </a:solidFill>
                <a:latin typeface="微软雅黑" panose="020B0503020204020204" charset="-122"/>
                <a:ea typeface="微软雅黑" panose="020B0503020204020204" charset="-122"/>
                <a:cs typeface="微软雅黑" panose="020B0503020204020204" charset="-122"/>
                <a:sym typeface="思源黑体" panose="020B0500000000000000" charset="-122"/>
              </a:rPr>
              <a:t> stats (</a:t>
            </a:r>
            <a:r>
              <a:rPr lang="zh-CN" altLang="en-US" sz="2000" spc="39">
                <a:solidFill>
                  <a:srgbClr val="FFFFFF"/>
                </a:solidFill>
                <a:latin typeface="微软雅黑" panose="020B0503020204020204" charset="-122"/>
                <a:ea typeface="微软雅黑" panose="020B0503020204020204" charset="-122"/>
                <a:cs typeface="微软雅黑" panose="020B0503020204020204" charset="-122"/>
                <a:sym typeface="思源黑体" panose="020B0500000000000000" charset="-122"/>
              </a:rPr>
              <a:t>基础统计</a:t>
            </a:r>
            <a:r>
              <a:rPr lang="en-US" altLang="zh-CN" sz="2000" spc="39">
                <a:solidFill>
                  <a:srgbClr val="FFFFFF"/>
                </a:solidFill>
                <a:latin typeface="微软雅黑" panose="020B0503020204020204" charset="-122"/>
                <a:ea typeface="微软雅黑" panose="020B0503020204020204" charset="-122"/>
                <a:cs typeface="微软雅黑" panose="020B0503020204020204" charset="-122"/>
                <a:sym typeface="思源黑体" panose="020B0500000000000000" charset="-122"/>
              </a:rPr>
              <a:t>) </a:t>
            </a:r>
            <a:r>
              <a:rPr lang="zh-CN" altLang="en-US" sz="2000" spc="39">
                <a:solidFill>
                  <a:srgbClr val="FFFFFF"/>
                </a:solidFill>
                <a:latin typeface="微软雅黑" panose="020B0503020204020204" charset="-122"/>
                <a:ea typeface="微软雅黑" panose="020B0503020204020204" charset="-122"/>
                <a:cs typeface="微软雅黑" panose="020B0503020204020204" charset="-122"/>
                <a:sym typeface="思源黑体" panose="020B0500000000000000" charset="-122"/>
              </a:rPr>
              <a:t>与</a:t>
            </a:r>
            <a:r>
              <a:rPr lang="en-US" altLang="zh-CN" sz="2000" spc="39">
                <a:solidFill>
                  <a:srgbClr val="FFFFFF"/>
                </a:solidFill>
                <a:latin typeface="微软雅黑" panose="020B0503020204020204" charset="-122"/>
                <a:ea typeface="微软雅黑" panose="020B0503020204020204" charset="-122"/>
                <a:cs typeface="微软雅黑" panose="020B0503020204020204" charset="-122"/>
                <a:sym typeface="思源黑体" panose="020B0500000000000000" charset="-122"/>
              </a:rPr>
              <a:t> ml (</a:t>
            </a:r>
            <a:r>
              <a:rPr lang="zh-CN" altLang="en-US" sz="2000" spc="39">
                <a:solidFill>
                  <a:srgbClr val="FFFFFF"/>
                </a:solidFill>
                <a:latin typeface="微软雅黑" panose="020B0503020204020204" charset="-122"/>
                <a:ea typeface="微软雅黑" panose="020B0503020204020204" charset="-122"/>
                <a:cs typeface="微软雅黑" panose="020B0503020204020204" charset="-122"/>
                <a:sym typeface="思源黑体" panose="020B0500000000000000" charset="-122"/>
              </a:rPr>
              <a:t>机器学习</a:t>
            </a:r>
            <a:r>
              <a:rPr lang="en-US" altLang="zh-CN" sz="2000" spc="39">
                <a:solidFill>
                  <a:srgbClr val="FFFFFF"/>
                </a:solidFill>
                <a:latin typeface="微软雅黑" panose="020B0503020204020204" charset="-122"/>
                <a:ea typeface="微软雅黑" panose="020B0503020204020204" charset="-122"/>
                <a:cs typeface="微软雅黑" panose="020B0503020204020204" charset="-122"/>
                <a:sym typeface="思源黑体" panose="020B0500000000000000" charset="-122"/>
              </a:rPr>
              <a:t>) </a:t>
            </a:r>
            <a:r>
              <a:rPr lang="zh-CN" altLang="en-US" sz="2000" spc="39">
                <a:solidFill>
                  <a:srgbClr val="FFFFFF"/>
                </a:solidFill>
                <a:latin typeface="微软雅黑" panose="020B0503020204020204" charset="-122"/>
                <a:ea typeface="微软雅黑" panose="020B0503020204020204" charset="-122"/>
                <a:cs typeface="微软雅黑" panose="020B0503020204020204" charset="-122"/>
                <a:sym typeface="思源黑体" panose="020B0500000000000000" charset="-122"/>
              </a:rPr>
              <a:t>核心算力，将自适应清洗与预测引擎封装为底层</a:t>
            </a:r>
            <a:r>
              <a:rPr lang="en-US" altLang="zh-CN" sz="2000" spc="39">
                <a:solidFill>
                  <a:srgbClr val="FFFFFF"/>
                </a:solidFill>
                <a:latin typeface="微软雅黑" panose="020B0503020204020204" charset="-122"/>
                <a:ea typeface="微软雅黑" panose="020B0503020204020204" charset="-122"/>
                <a:cs typeface="微软雅黑" panose="020B0503020204020204" charset="-122"/>
                <a:sym typeface="思源黑体" panose="020B0500000000000000" charset="-122"/>
              </a:rPr>
              <a:t> API</a:t>
            </a:r>
            <a:r>
              <a:rPr lang="zh-CN" altLang="en-US" sz="2000" spc="39">
                <a:solidFill>
                  <a:srgbClr val="FFFFFF"/>
                </a:solidFill>
                <a:latin typeface="微软雅黑" panose="020B0503020204020204" charset="-122"/>
                <a:ea typeface="微软雅黑" panose="020B0503020204020204" charset="-122"/>
                <a:cs typeface="微软雅黑" panose="020B0503020204020204" charset="-122"/>
                <a:sym typeface="思源黑体" panose="020B0500000000000000" charset="-122"/>
              </a:rPr>
              <a:t>。</a:t>
            </a:r>
            <a:endParaRPr lang="zh-CN" altLang="en-US" sz="2000" spc="39">
              <a:solidFill>
                <a:srgbClr val="FFFFFF"/>
              </a:solidFill>
              <a:latin typeface="微软雅黑" panose="020B0503020204020204" charset="-122"/>
              <a:ea typeface="微软雅黑" panose="020B0503020204020204" charset="-122"/>
              <a:cs typeface="微软雅黑" panose="020B0503020204020204" charset="-122"/>
              <a:sym typeface="思源黑体" panose="020B0500000000000000" charset="-122"/>
            </a:endParaRPr>
          </a:p>
        </p:txBody>
      </p:sp>
      <p:pic>
        <p:nvPicPr>
          <p:cNvPr id="76" name="图片 1"/>
          <p:cNvPicPr>
            <a:picLocks noChangeAspect="1"/>
          </p:cNvPicPr>
          <p:nvPr/>
        </p:nvPicPr>
        <p:blipFill>
          <a:blip r:embed="rId6"/>
          <a:stretch>
            <a:fillRect/>
          </a:stretch>
        </p:blipFill>
        <p:spPr>
          <a:xfrm>
            <a:off x="13639800" y="2282825"/>
            <a:ext cx="4595495" cy="2382520"/>
          </a:xfrm>
          <a:prstGeom prst="rect">
            <a:avLst/>
          </a:prstGeom>
          <a:noFill/>
          <a:ln>
            <a:noFill/>
          </a:ln>
        </p:spPr>
      </p:pic>
      <p:pic>
        <p:nvPicPr>
          <p:cNvPr id="77" name="图片 2"/>
          <p:cNvPicPr>
            <a:picLocks noChangeAspect="1"/>
          </p:cNvPicPr>
          <p:nvPr/>
        </p:nvPicPr>
        <p:blipFill>
          <a:blip r:embed="rId7"/>
          <a:stretch>
            <a:fillRect/>
          </a:stretch>
        </p:blipFill>
        <p:spPr>
          <a:xfrm>
            <a:off x="228600" y="2429510"/>
            <a:ext cx="4487545" cy="223583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76200" y="3810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3" name="Freeform 3"/>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4" name="Freeform 4"/>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sp>
        <p:nvSpPr>
          <p:cNvPr id="5" name="TextBox 5"/>
          <p:cNvSpPr txBox="1"/>
          <p:nvPr/>
        </p:nvSpPr>
        <p:spPr>
          <a:xfrm>
            <a:off x="1028700" y="457200"/>
            <a:ext cx="6804660" cy="1076960"/>
          </a:xfrm>
          <a:prstGeom prst="rect">
            <a:avLst/>
          </a:prstGeom>
        </p:spPr>
        <p:txBody>
          <a:bodyPr wrap="square" lIns="0" tIns="0" rIns="0" bIns="0" rtlCol="0" anchor="t">
            <a:spAutoFit/>
          </a:bodyPr>
          <a:lstStyle/>
          <a:p>
            <a:pPr algn="l">
              <a:lnSpc>
                <a:spcPts val="8400"/>
              </a:lnSpc>
            </a:pPr>
            <a:r>
              <a:rPr 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02.</a:t>
            </a:r>
            <a:r>
              <a:rPr lang="zh-CN" alt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统计分析基础</a:t>
            </a:r>
            <a:endParaRPr lang="zh-CN" alt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6" name="TextBox 6"/>
          <p:cNvSpPr txBox="1"/>
          <p:nvPr/>
        </p:nvSpPr>
        <p:spPr>
          <a:xfrm>
            <a:off x="13753946" y="872490"/>
            <a:ext cx="3505354" cy="613410"/>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ONE</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grpSp>
        <p:nvGrpSpPr>
          <p:cNvPr id="203" name="组合 202"/>
          <p:cNvGrpSpPr/>
          <p:nvPr/>
        </p:nvGrpSpPr>
        <p:grpSpPr>
          <a:xfrm>
            <a:off x="3117215" y="1638300"/>
            <a:ext cx="12876277" cy="8312150"/>
            <a:chOff x="5358" y="3228"/>
            <a:chExt cx="12663" cy="6900"/>
          </a:xfrm>
        </p:grpSpPr>
        <p:sp>
          <p:nvSpPr>
            <p:cNvPr id="204" name="Text 5"/>
            <p:cNvSpPr/>
            <p:nvPr/>
          </p:nvSpPr>
          <p:spPr>
            <a:xfrm>
              <a:off x="5358" y="3228"/>
              <a:ext cx="1953" cy="244"/>
            </a:xfrm>
            <a:prstGeom prst="rect">
              <a:avLst/>
            </a:prstGeom>
            <a:noFill/>
          </p:spPr>
          <p:txBody>
            <a:bodyPr wrap="none" lIns="0" tIns="0" rIns="0" bIns="0" rtlCol="0" anchor="t"/>
            <a:lstStyle/>
            <a:p>
              <a:pPr marL="0" indent="0" algn="l">
                <a:lnSpc>
                  <a:spcPct val="100000"/>
                </a:lnSpc>
                <a:buNone/>
              </a:pPr>
              <a:r>
                <a:rPr lang="en-US" sz="1600" dirty="0">
                  <a:solidFill>
                    <a:srgbClr val="3257B8"/>
                  </a:solidFill>
                  <a:latin typeface="微软雅黑" panose="020B0503020204020204" charset="-122"/>
                  <a:ea typeface="微软雅黑" panose="020B0503020204020204" charset="-122"/>
                  <a:cs typeface="Roboto Slab" pitchFamily="34" charset="-120"/>
                </a:rPr>
                <a:t>三阶段数据清洗算法</a:t>
              </a:r>
              <a:endParaRPr lang="en-US" sz="1600" dirty="0">
                <a:solidFill>
                  <a:srgbClr val="3257B8"/>
                </a:solidFill>
                <a:latin typeface="微软雅黑" panose="020B0503020204020204" charset="-122"/>
                <a:ea typeface="微软雅黑" panose="020B0503020204020204" charset="-122"/>
                <a:cs typeface="Roboto Slab" pitchFamily="34" charset="-120"/>
              </a:endParaRPr>
            </a:p>
          </p:txBody>
        </p:sp>
        <p:sp>
          <p:nvSpPr>
            <p:cNvPr id="205" name="Text 6"/>
            <p:cNvSpPr/>
            <p:nvPr/>
          </p:nvSpPr>
          <p:spPr>
            <a:xfrm>
              <a:off x="5358" y="3550"/>
              <a:ext cx="4066" cy="375"/>
            </a:xfrm>
            <a:prstGeom prst="rect">
              <a:avLst/>
            </a:prstGeom>
            <a:noFill/>
          </p:spPr>
          <p:txBody>
            <a:bodyPr wrap="square" lIns="0" tIns="0" rIns="0" bIns="0" rtlCol="0" anchor="t"/>
            <a:lstStyle/>
            <a:p>
              <a:pPr marL="0" indent="0" algn="l">
                <a:lnSpc>
                  <a:spcPct val="100000"/>
                </a:lnSpc>
                <a:buNone/>
              </a:pPr>
              <a:r>
                <a:rPr lang="en-US" sz="1200" dirty="0">
                  <a:solidFill>
                    <a:srgbClr val="15213F"/>
                  </a:solidFill>
                  <a:latin typeface="微软雅黑" panose="020B0503020204020204" charset="-122"/>
                  <a:ea typeface="微软雅黑" panose="020B0503020204020204" charset="-122"/>
                  <a:cs typeface="Roboto" panose="02000000000000000000" pitchFamily="34" charset="-120"/>
                </a:rPr>
                <a:t>为确保数据质量，系统采用自适应三阶段清洗策略，根据数据特征智能选择离群值检测方法。</a:t>
              </a:r>
              <a:endParaRPr lang="en-US" sz="1200" dirty="0">
                <a:solidFill>
                  <a:srgbClr val="15213F"/>
                </a:solidFill>
                <a:latin typeface="微软雅黑" panose="020B0503020204020204" charset="-122"/>
                <a:ea typeface="微软雅黑" panose="020B0503020204020204" charset="-122"/>
                <a:cs typeface="Roboto" panose="02000000000000000000" pitchFamily="34" charset="-120"/>
              </a:endParaRPr>
            </a:p>
          </p:txBody>
        </p:sp>
        <p:pic>
          <p:nvPicPr>
            <p:cNvPr id="206" name="Image 0" descr="preencoded.png"/>
            <p:cNvPicPr>
              <a:picLocks noChangeAspect="1"/>
            </p:cNvPicPr>
            <p:nvPr/>
          </p:nvPicPr>
          <p:blipFill>
            <a:blip r:embed="rId4"/>
            <a:stretch>
              <a:fillRect/>
            </a:stretch>
          </p:blipFill>
          <p:spPr>
            <a:xfrm>
              <a:off x="5358" y="4012"/>
              <a:ext cx="4066" cy="1999"/>
            </a:xfrm>
            <a:prstGeom prst="rect">
              <a:avLst/>
            </a:prstGeom>
          </p:spPr>
        </p:pic>
        <p:sp>
          <p:nvSpPr>
            <p:cNvPr id="207" name="Text 7"/>
            <p:cNvSpPr/>
            <p:nvPr/>
          </p:nvSpPr>
          <p:spPr>
            <a:xfrm>
              <a:off x="7348" y="4199"/>
              <a:ext cx="930" cy="116"/>
            </a:xfrm>
            <a:prstGeom prst="rect">
              <a:avLst/>
            </a:prstGeom>
            <a:noFill/>
          </p:spPr>
          <p:txBody>
            <a:bodyPr wrap="none" lIns="0" tIns="0" rIns="0" bIns="0" rtlCol="0" anchor="t"/>
            <a:lstStyle/>
            <a:p>
              <a:pPr marL="0" indent="0" algn="l">
                <a:lnSpc>
                  <a:spcPct val="100000"/>
                </a:lnSpc>
                <a:buNone/>
              </a:pPr>
              <a:r>
                <a:rPr lang="en-US" sz="850" dirty="0">
                  <a:solidFill>
                    <a:srgbClr val="15213F"/>
                  </a:solidFill>
                  <a:latin typeface="微软雅黑" panose="020B0503020204020204" charset="-122"/>
                  <a:ea typeface="微软雅黑" panose="020B0503020204020204" charset="-122"/>
                  <a:cs typeface="Roboto Slab" pitchFamily="34" charset="-120"/>
                </a:rPr>
                <a:t>其他情况</a:t>
              </a:r>
              <a:endParaRPr lang="en-US" sz="850" dirty="0">
                <a:solidFill>
                  <a:srgbClr val="15213F"/>
                </a:solidFill>
                <a:latin typeface="微软雅黑" panose="020B0503020204020204" charset="-122"/>
                <a:ea typeface="微软雅黑" panose="020B0503020204020204" charset="-122"/>
                <a:cs typeface="Roboto Slab" pitchFamily="34" charset="-120"/>
              </a:endParaRPr>
            </a:p>
          </p:txBody>
        </p:sp>
        <p:sp>
          <p:nvSpPr>
            <p:cNvPr id="208" name="Text 8"/>
            <p:cNvSpPr/>
            <p:nvPr/>
          </p:nvSpPr>
          <p:spPr>
            <a:xfrm>
              <a:off x="7348" y="4349"/>
              <a:ext cx="1880" cy="70"/>
            </a:xfrm>
            <a:prstGeom prst="rect">
              <a:avLst/>
            </a:prstGeom>
            <a:noFill/>
          </p:spPr>
          <p:txBody>
            <a:bodyPr wrap="none" lIns="0" tIns="0" rIns="0" bIns="0" rtlCol="0" anchor="t"/>
            <a:lstStyle/>
            <a:p>
              <a:pPr marL="0" indent="0" algn="l">
                <a:lnSpc>
                  <a:spcPct val="100000"/>
                </a:lnSpc>
                <a:buNone/>
              </a:pPr>
              <a:r>
                <a:rPr lang="en-US" sz="750" dirty="0">
                  <a:solidFill>
                    <a:srgbClr val="15213F"/>
                  </a:solidFill>
                  <a:latin typeface="微软雅黑" panose="020B0503020204020204" charset="-122"/>
                  <a:ea typeface="微软雅黑" panose="020B0503020204020204" charset="-122"/>
                  <a:cs typeface="微软雅黑" panose="020B0503020204020204" charset="-122"/>
                </a:rPr>
                <a:t>使用IQR四分位法</a:t>
              </a:r>
              <a:endParaRPr lang="en-US" sz="750" dirty="0">
                <a:solidFill>
                  <a:srgbClr val="15213F"/>
                </a:solidFill>
                <a:latin typeface="微软雅黑" panose="020B0503020204020204" charset="-122"/>
                <a:ea typeface="微软雅黑" panose="020B0503020204020204" charset="-122"/>
                <a:cs typeface="微软雅黑" panose="020B0503020204020204" charset="-122"/>
              </a:endParaRPr>
            </a:p>
          </p:txBody>
        </p:sp>
        <p:pic>
          <p:nvPicPr>
            <p:cNvPr id="209"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88" y="4243"/>
              <a:ext cx="132" cy="132"/>
            </a:xfrm>
            <a:prstGeom prst="rect">
              <a:avLst/>
            </a:prstGeom>
          </p:spPr>
        </p:pic>
        <p:sp>
          <p:nvSpPr>
            <p:cNvPr id="210" name="Text 9"/>
            <p:cNvSpPr/>
            <p:nvPr/>
          </p:nvSpPr>
          <p:spPr>
            <a:xfrm>
              <a:off x="7348" y="4666"/>
              <a:ext cx="930" cy="116"/>
            </a:xfrm>
            <a:prstGeom prst="rect">
              <a:avLst/>
            </a:prstGeom>
            <a:noFill/>
          </p:spPr>
          <p:txBody>
            <a:bodyPr wrap="none" lIns="0" tIns="0" rIns="0" bIns="0" rtlCol="0" anchor="t"/>
            <a:lstStyle/>
            <a:p>
              <a:pPr marL="0" indent="0" algn="l">
                <a:lnSpc>
                  <a:spcPct val="100000"/>
                </a:lnSpc>
                <a:buNone/>
              </a:pPr>
              <a:r>
                <a:rPr lang="en-US" sz="850" dirty="0">
                  <a:solidFill>
                    <a:srgbClr val="15213F"/>
                  </a:solidFill>
                  <a:latin typeface="微软雅黑" panose="020B0503020204020204" charset="-122"/>
                  <a:ea typeface="微软雅黑" panose="020B0503020204020204" charset="-122"/>
                  <a:cs typeface="微软雅黑" panose="020B0503020204020204" charset="-122"/>
                </a:rPr>
                <a:t>N ≥ 30 且偏度≤1</a:t>
              </a:r>
              <a:endParaRPr lang="en-US" sz="850" dirty="0">
                <a:solidFill>
                  <a:srgbClr val="15213F"/>
                </a:solidFill>
                <a:latin typeface="微软雅黑" panose="020B0503020204020204" charset="-122"/>
                <a:ea typeface="微软雅黑" panose="020B0503020204020204" charset="-122"/>
                <a:cs typeface="微软雅黑" panose="020B0503020204020204" charset="-122"/>
              </a:endParaRPr>
            </a:p>
          </p:txBody>
        </p:sp>
        <p:sp>
          <p:nvSpPr>
            <p:cNvPr id="211" name="Text 10"/>
            <p:cNvSpPr/>
            <p:nvPr/>
          </p:nvSpPr>
          <p:spPr>
            <a:xfrm>
              <a:off x="7348" y="4816"/>
              <a:ext cx="1880" cy="70"/>
            </a:xfrm>
            <a:prstGeom prst="rect">
              <a:avLst/>
            </a:prstGeom>
            <a:noFill/>
          </p:spPr>
          <p:txBody>
            <a:bodyPr wrap="none" lIns="0" tIns="0" rIns="0" bIns="0" rtlCol="0" anchor="t"/>
            <a:lstStyle/>
            <a:p>
              <a:pPr marL="0" indent="0" algn="l">
                <a:lnSpc>
                  <a:spcPct val="100000"/>
                </a:lnSpc>
                <a:buNone/>
              </a:pPr>
              <a:r>
                <a:rPr lang="en-US" sz="750" dirty="0">
                  <a:solidFill>
                    <a:srgbClr val="15213F"/>
                  </a:solidFill>
                  <a:latin typeface="微软雅黑" panose="020B0503020204020204" charset="-122"/>
                  <a:ea typeface="微软雅黑" panose="020B0503020204020204" charset="-122"/>
                  <a:cs typeface="微软雅黑" panose="020B0503020204020204" charset="-122"/>
                </a:rPr>
                <a:t>使用3σ判定法</a:t>
              </a:r>
              <a:endParaRPr lang="en-US" sz="750" dirty="0">
                <a:solidFill>
                  <a:srgbClr val="15213F"/>
                </a:solidFill>
                <a:latin typeface="微软雅黑" panose="020B0503020204020204" charset="-122"/>
                <a:ea typeface="微软雅黑" panose="020B0503020204020204" charset="-122"/>
                <a:cs typeface="微软雅黑" panose="020B0503020204020204" charset="-122"/>
              </a:endParaRPr>
            </a:p>
          </p:txBody>
        </p:sp>
        <p:pic>
          <p:nvPicPr>
            <p:cNvPr id="21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88" y="4648"/>
              <a:ext cx="132" cy="132"/>
            </a:xfrm>
            <a:prstGeom prst="rect">
              <a:avLst/>
            </a:prstGeom>
          </p:spPr>
        </p:pic>
        <p:sp>
          <p:nvSpPr>
            <p:cNvPr id="213" name="Text 11"/>
            <p:cNvSpPr/>
            <p:nvPr/>
          </p:nvSpPr>
          <p:spPr>
            <a:xfrm>
              <a:off x="7348" y="5133"/>
              <a:ext cx="930" cy="116"/>
            </a:xfrm>
            <a:prstGeom prst="rect">
              <a:avLst/>
            </a:prstGeom>
            <a:noFill/>
          </p:spPr>
          <p:txBody>
            <a:bodyPr wrap="none" lIns="0" tIns="0" rIns="0" bIns="0" rtlCol="0" anchor="t"/>
            <a:lstStyle/>
            <a:p>
              <a:pPr marL="0" indent="0" algn="l">
                <a:lnSpc>
                  <a:spcPct val="100000"/>
                </a:lnSpc>
                <a:buNone/>
              </a:pPr>
              <a:r>
                <a:rPr lang="en-US" sz="850" dirty="0">
                  <a:solidFill>
                    <a:srgbClr val="15213F"/>
                  </a:solidFill>
                  <a:latin typeface="微软雅黑" panose="020B0503020204020204" charset="-122"/>
                  <a:ea typeface="微软雅黑" panose="020B0503020204020204" charset="-122"/>
                  <a:cs typeface="Roboto Slab" pitchFamily="34" charset="-120"/>
                </a:rPr>
                <a:t>N &lt; 30</a:t>
              </a:r>
              <a:endParaRPr lang="en-US" sz="850" dirty="0">
                <a:solidFill>
                  <a:srgbClr val="15213F"/>
                </a:solidFill>
                <a:latin typeface="微软雅黑" panose="020B0503020204020204" charset="-122"/>
                <a:ea typeface="微软雅黑" panose="020B0503020204020204" charset="-122"/>
                <a:cs typeface="Roboto Slab" pitchFamily="34" charset="-120"/>
              </a:endParaRPr>
            </a:p>
          </p:txBody>
        </p:sp>
        <p:sp>
          <p:nvSpPr>
            <p:cNvPr id="214" name="Text 12"/>
            <p:cNvSpPr/>
            <p:nvPr/>
          </p:nvSpPr>
          <p:spPr>
            <a:xfrm>
              <a:off x="7348" y="5283"/>
              <a:ext cx="1880" cy="70"/>
            </a:xfrm>
            <a:prstGeom prst="rect">
              <a:avLst/>
            </a:prstGeom>
            <a:noFill/>
          </p:spPr>
          <p:txBody>
            <a:bodyPr wrap="none" lIns="0" tIns="0" rIns="0" bIns="0" rtlCol="0" anchor="t"/>
            <a:lstStyle/>
            <a:p>
              <a:pPr marL="0" indent="0" algn="l">
                <a:lnSpc>
                  <a:spcPct val="100000"/>
                </a:lnSpc>
                <a:buNone/>
              </a:pPr>
              <a:r>
                <a:rPr lang="en-US" sz="750" dirty="0">
                  <a:solidFill>
                    <a:srgbClr val="15213F"/>
                  </a:solidFill>
                  <a:latin typeface="微软雅黑" panose="020B0503020204020204" charset="-122"/>
                  <a:ea typeface="微软雅黑" panose="020B0503020204020204" charset="-122"/>
                  <a:cs typeface="微软雅黑" panose="020B0503020204020204" charset="-122"/>
                </a:rPr>
                <a:t>使用Dixon's Q检验</a:t>
              </a:r>
              <a:endParaRPr lang="en-US" sz="750" dirty="0">
                <a:solidFill>
                  <a:srgbClr val="15213F"/>
                </a:solidFill>
                <a:latin typeface="微软雅黑" panose="020B0503020204020204" charset="-122"/>
                <a:ea typeface="微软雅黑" panose="020B0503020204020204" charset="-122"/>
                <a:cs typeface="微软雅黑" panose="020B0503020204020204" charset="-122"/>
              </a:endParaRPr>
            </a:p>
          </p:txBody>
        </p:sp>
        <p:pic>
          <p:nvPicPr>
            <p:cNvPr id="215"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288" y="5049"/>
              <a:ext cx="132" cy="132"/>
            </a:xfrm>
            <a:prstGeom prst="rect">
              <a:avLst/>
            </a:prstGeom>
          </p:spPr>
        </p:pic>
        <p:sp>
          <p:nvSpPr>
            <p:cNvPr id="216" name="Text 13"/>
            <p:cNvSpPr/>
            <p:nvPr/>
          </p:nvSpPr>
          <p:spPr>
            <a:xfrm>
              <a:off x="7352" y="5600"/>
              <a:ext cx="930" cy="116"/>
            </a:xfrm>
            <a:prstGeom prst="rect">
              <a:avLst/>
            </a:prstGeom>
            <a:noFill/>
          </p:spPr>
          <p:txBody>
            <a:bodyPr wrap="none" lIns="0" tIns="0" rIns="0" bIns="0" rtlCol="0" anchor="t"/>
            <a:lstStyle/>
            <a:p>
              <a:pPr marL="0" indent="0" algn="l">
                <a:lnSpc>
                  <a:spcPct val="100000"/>
                </a:lnSpc>
                <a:buNone/>
              </a:pPr>
              <a:r>
                <a:rPr lang="en-US" sz="850" dirty="0">
                  <a:solidFill>
                    <a:srgbClr val="15213F"/>
                  </a:solidFill>
                  <a:latin typeface="微软雅黑" panose="020B0503020204020204" charset="-122"/>
                  <a:ea typeface="微软雅黑" panose="020B0503020204020204" charset="-122"/>
                  <a:cs typeface="微软雅黑" panose="020B0503020204020204" charset="-122"/>
                </a:rPr>
                <a:t>样本规模 N</a:t>
              </a:r>
              <a:endParaRPr lang="en-US" sz="850" dirty="0">
                <a:solidFill>
                  <a:srgbClr val="15213F"/>
                </a:solidFill>
                <a:latin typeface="微软雅黑" panose="020B0503020204020204" charset="-122"/>
                <a:ea typeface="微软雅黑" panose="020B0503020204020204" charset="-122"/>
                <a:cs typeface="微软雅黑" panose="020B0503020204020204" charset="-122"/>
              </a:endParaRPr>
            </a:p>
          </p:txBody>
        </p:sp>
        <p:sp>
          <p:nvSpPr>
            <p:cNvPr id="217" name="Text 14"/>
            <p:cNvSpPr/>
            <p:nvPr/>
          </p:nvSpPr>
          <p:spPr>
            <a:xfrm>
              <a:off x="7352" y="5750"/>
              <a:ext cx="1880" cy="70"/>
            </a:xfrm>
            <a:prstGeom prst="rect">
              <a:avLst/>
            </a:prstGeom>
            <a:noFill/>
          </p:spPr>
          <p:txBody>
            <a:bodyPr wrap="none" lIns="0" tIns="0" rIns="0" bIns="0" rtlCol="0" anchor="t"/>
            <a:lstStyle/>
            <a:p>
              <a:pPr marL="0" indent="0" algn="l">
                <a:lnSpc>
                  <a:spcPct val="100000"/>
                </a:lnSpc>
                <a:buNone/>
              </a:pPr>
              <a:r>
                <a:rPr lang="en-US" sz="750" dirty="0">
                  <a:solidFill>
                    <a:srgbClr val="15213F"/>
                  </a:solidFill>
                  <a:latin typeface="微软雅黑" panose="020B0503020204020204" charset="-122"/>
                  <a:ea typeface="微软雅黑" panose="020B0503020204020204" charset="-122"/>
                  <a:cs typeface="Roboto" panose="02000000000000000000" pitchFamily="34" charset="-120"/>
                </a:rPr>
                <a:t>检查样本大小</a:t>
              </a:r>
              <a:endParaRPr lang="en-US" sz="750" dirty="0">
                <a:solidFill>
                  <a:srgbClr val="15213F"/>
                </a:solidFill>
                <a:latin typeface="微软雅黑" panose="020B0503020204020204" charset="-122"/>
                <a:ea typeface="微软雅黑" panose="020B0503020204020204" charset="-122"/>
                <a:cs typeface="Roboto" panose="02000000000000000000" pitchFamily="34" charset="-120"/>
              </a:endParaRPr>
            </a:p>
          </p:txBody>
        </p:sp>
        <p:pic>
          <p:nvPicPr>
            <p:cNvPr id="218"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88" y="5516"/>
              <a:ext cx="132" cy="132"/>
            </a:xfrm>
            <a:prstGeom prst="rect">
              <a:avLst/>
            </a:prstGeom>
          </p:spPr>
        </p:pic>
        <p:sp>
          <p:nvSpPr>
            <p:cNvPr id="219" name="Text 15"/>
            <p:cNvSpPr/>
            <p:nvPr/>
          </p:nvSpPr>
          <p:spPr>
            <a:xfrm>
              <a:off x="5358" y="6098"/>
              <a:ext cx="4066" cy="562"/>
            </a:xfrm>
            <a:prstGeom prst="rect">
              <a:avLst/>
            </a:prstGeom>
            <a:noFill/>
          </p:spPr>
          <p:txBody>
            <a:bodyPr wrap="square" lIns="0" tIns="0" rIns="0" bIns="0" rtlCol="0" anchor="t"/>
            <a:lstStyle/>
            <a:p>
              <a:pPr marL="0" indent="0" algn="l">
                <a:lnSpc>
                  <a:spcPct val="100000"/>
                </a:lnSpc>
                <a:buNone/>
              </a:pPr>
              <a:r>
                <a:rPr lang="en-US" sz="1200" b="1" dirty="0">
                  <a:solidFill>
                    <a:srgbClr val="15213F"/>
                  </a:solidFill>
                  <a:latin typeface="微软雅黑" panose="020B0503020204020204" charset="-122"/>
                  <a:ea typeface="微软雅黑" panose="020B0503020204020204" charset="-122"/>
                  <a:cs typeface="微软雅黑" panose="020B0503020204020204" charset="-122"/>
                </a:rPr>
                <a:t>Dixon's Q检验（小样本）</a:t>
              </a:r>
              <a:r>
                <a:rPr lang="en-US" sz="1200" dirty="0">
                  <a:solidFill>
                    <a:srgbClr val="15213F"/>
                  </a:solidFill>
                  <a:latin typeface="微软雅黑" panose="020B0503020204020204" charset="-122"/>
                  <a:ea typeface="微软雅黑" panose="020B0503020204020204" charset="-122"/>
                  <a:cs typeface="微软雅黑" panose="020B0503020204020204" charset="-122"/>
                </a:rPr>
                <a:t>：适用于N &lt; 30的有限小样本数据集，通过比较可疑值与最接近值的差值与极差的比值来判断离群点。</a:t>
              </a:r>
              <a:endParaRPr lang="en-US" sz="1200" dirty="0">
                <a:solidFill>
                  <a:srgbClr val="15213F"/>
                </a:solidFill>
                <a:latin typeface="微软雅黑" panose="020B0503020204020204" charset="-122"/>
                <a:ea typeface="微软雅黑" panose="020B0503020204020204" charset="-122"/>
                <a:cs typeface="微软雅黑" panose="020B0503020204020204" charset="-122"/>
              </a:endParaRPr>
            </a:p>
          </p:txBody>
        </p:sp>
        <p:sp>
          <p:nvSpPr>
            <p:cNvPr id="220" name="Text 16"/>
            <p:cNvSpPr/>
            <p:nvPr/>
          </p:nvSpPr>
          <p:spPr>
            <a:xfrm>
              <a:off x="5358" y="6759"/>
              <a:ext cx="4066" cy="491"/>
            </a:xfrm>
            <a:prstGeom prst="rect">
              <a:avLst/>
            </a:prstGeom>
            <a:noFill/>
          </p:spPr>
          <p:txBody>
            <a:bodyPr wrap="square" lIns="0" tIns="0" rIns="0" bIns="0" rtlCol="0" anchor="t"/>
            <a:lstStyle/>
            <a:p>
              <a:pPr marL="0" indent="0" algn="l">
                <a:lnSpc>
                  <a:spcPct val="100000"/>
                </a:lnSpc>
                <a:buNone/>
              </a:pPr>
              <a:endParaRPr lang="en-US" sz="1400" dirty="0">
                <a:latin typeface="微软雅黑" panose="020B0503020204020204" charset="-122"/>
                <a:ea typeface="微软雅黑" panose="020B0503020204020204" charset="-122"/>
              </a:endParaRPr>
            </a:p>
          </p:txBody>
        </p:sp>
        <p:pic>
          <p:nvPicPr>
            <p:cNvPr id="221" name="Image 5" descr="preencoded.png"/>
            <p:cNvPicPr>
              <a:picLocks noChangeAspect="1"/>
            </p:cNvPicPr>
            <p:nvPr/>
          </p:nvPicPr>
          <p:blipFill>
            <a:blip r:embed="rId13"/>
            <a:stretch>
              <a:fillRect/>
            </a:stretch>
          </p:blipFill>
          <p:spPr>
            <a:xfrm>
              <a:off x="5358" y="6759"/>
              <a:ext cx="4066" cy="491"/>
            </a:xfrm>
            <a:prstGeom prst="rect">
              <a:avLst/>
            </a:prstGeom>
          </p:spPr>
        </p:pic>
        <p:sp>
          <p:nvSpPr>
            <p:cNvPr id="222" name="Text 17"/>
            <p:cNvSpPr/>
            <p:nvPr/>
          </p:nvSpPr>
          <p:spPr>
            <a:xfrm>
              <a:off x="5358" y="7349"/>
              <a:ext cx="4066" cy="562"/>
            </a:xfrm>
            <a:prstGeom prst="rect">
              <a:avLst/>
            </a:prstGeom>
            <a:noFill/>
          </p:spPr>
          <p:txBody>
            <a:bodyPr wrap="square" lIns="0" tIns="0" rIns="0" bIns="0" rtlCol="0" anchor="t"/>
            <a:lstStyle/>
            <a:p>
              <a:pPr marL="0" indent="0" algn="l">
                <a:lnSpc>
                  <a:spcPct val="100000"/>
                </a:lnSpc>
                <a:buNone/>
              </a:pPr>
              <a:r>
                <a:rPr lang="en-US" sz="1200" b="1" dirty="0">
                  <a:solidFill>
                    <a:srgbClr val="15213F"/>
                  </a:solidFill>
                  <a:latin typeface="微软雅黑" panose="020B0503020204020204" charset="-122"/>
                  <a:ea typeface="微软雅黑" panose="020B0503020204020204" charset="-122"/>
                  <a:cs typeface="微软雅黑" panose="020B0503020204020204" charset="-122"/>
                </a:rPr>
                <a:t>3σ原则（正态分布）</a:t>
              </a:r>
              <a:r>
                <a:rPr lang="en-US" sz="1200" dirty="0">
                  <a:solidFill>
                    <a:srgbClr val="15213F"/>
                  </a:solidFill>
                  <a:latin typeface="微软雅黑" panose="020B0503020204020204" charset="-122"/>
                  <a:ea typeface="微软雅黑" panose="020B0503020204020204" charset="-122"/>
                  <a:cs typeface="微软雅黑" panose="020B0503020204020204" charset="-122"/>
                </a:rPr>
                <a:t>：当N ≥ 30且数据近似正态分布（|偏度| ≤ 1）时，基于标准差的经典方法，将超出±3个标准差范围的数据视为异常。</a:t>
              </a:r>
              <a:endParaRPr lang="en-US" sz="1200" dirty="0">
                <a:solidFill>
                  <a:srgbClr val="15213F"/>
                </a:solidFill>
                <a:latin typeface="微软雅黑" panose="020B0503020204020204" charset="-122"/>
                <a:ea typeface="微软雅黑" panose="020B0503020204020204" charset="-122"/>
                <a:cs typeface="微软雅黑" panose="020B0503020204020204" charset="-122"/>
              </a:endParaRPr>
            </a:p>
          </p:txBody>
        </p:sp>
        <p:sp>
          <p:nvSpPr>
            <p:cNvPr id="223" name="Text 18"/>
            <p:cNvSpPr/>
            <p:nvPr/>
          </p:nvSpPr>
          <p:spPr>
            <a:xfrm>
              <a:off x="5358" y="8009"/>
              <a:ext cx="4066" cy="267"/>
            </a:xfrm>
            <a:prstGeom prst="rect">
              <a:avLst/>
            </a:prstGeom>
            <a:noFill/>
          </p:spPr>
          <p:txBody>
            <a:bodyPr wrap="none" lIns="0" tIns="0" rIns="0" bIns="0" rtlCol="0" anchor="t"/>
            <a:lstStyle/>
            <a:p>
              <a:pPr marL="0" indent="0" algn="l">
                <a:lnSpc>
                  <a:spcPct val="100000"/>
                </a:lnSpc>
                <a:buNone/>
              </a:pPr>
              <a:endParaRPr lang="en-US" sz="1400" dirty="0">
                <a:latin typeface="微软雅黑" panose="020B0503020204020204" charset="-122"/>
                <a:ea typeface="微软雅黑" panose="020B0503020204020204" charset="-122"/>
              </a:endParaRPr>
            </a:p>
          </p:txBody>
        </p:sp>
        <p:pic>
          <p:nvPicPr>
            <p:cNvPr id="224" name="Image 6" descr="preencoded.png"/>
            <p:cNvPicPr>
              <a:picLocks noChangeAspect="1"/>
            </p:cNvPicPr>
            <p:nvPr/>
          </p:nvPicPr>
          <p:blipFill>
            <a:blip r:embed="rId14"/>
            <a:stretch>
              <a:fillRect/>
            </a:stretch>
          </p:blipFill>
          <p:spPr>
            <a:xfrm>
              <a:off x="5440" y="8009"/>
              <a:ext cx="4066" cy="267"/>
            </a:xfrm>
            <a:prstGeom prst="rect">
              <a:avLst/>
            </a:prstGeom>
          </p:spPr>
        </p:pic>
        <p:sp>
          <p:nvSpPr>
            <p:cNvPr id="225" name="Text 19"/>
            <p:cNvSpPr/>
            <p:nvPr/>
          </p:nvSpPr>
          <p:spPr>
            <a:xfrm>
              <a:off x="5358" y="8376"/>
              <a:ext cx="4066" cy="562"/>
            </a:xfrm>
            <a:prstGeom prst="rect">
              <a:avLst/>
            </a:prstGeom>
            <a:noFill/>
          </p:spPr>
          <p:txBody>
            <a:bodyPr wrap="square" lIns="0" tIns="0" rIns="0" bIns="0" rtlCol="0" anchor="t"/>
            <a:lstStyle/>
            <a:p>
              <a:pPr marL="0" indent="0" algn="l">
                <a:lnSpc>
                  <a:spcPct val="100000"/>
                </a:lnSpc>
                <a:buNone/>
              </a:pPr>
              <a:r>
                <a:rPr lang="en-US" sz="1200" b="1" dirty="0">
                  <a:solidFill>
                    <a:srgbClr val="15213F"/>
                  </a:solidFill>
                  <a:latin typeface="微软雅黑" panose="020B0503020204020204" charset="-122"/>
                  <a:ea typeface="微软雅黑" panose="020B0503020204020204" charset="-122"/>
                  <a:cs typeface="微软雅黑" panose="020B0503020204020204" charset="-122"/>
                </a:rPr>
                <a:t>IQR箱线图法（非正态分布）</a:t>
              </a:r>
              <a:r>
                <a:rPr lang="en-US" sz="1200" dirty="0">
                  <a:solidFill>
                    <a:srgbClr val="15213F"/>
                  </a:solidFill>
                  <a:latin typeface="微软雅黑" panose="020B0503020204020204" charset="-122"/>
                  <a:ea typeface="微软雅黑" panose="020B0503020204020204" charset="-122"/>
                  <a:cs typeface="微软雅黑" panose="020B0503020204020204" charset="-122"/>
                </a:rPr>
                <a:t>：对于非正态分布或大样本中存在偏斜的数据，利用四分位距（IQR）定义异常值范围，具有更强的鲁棒性。</a:t>
              </a:r>
              <a:endParaRPr lang="en-US" sz="1200" dirty="0">
                <a:solidFill>
                  <a:srgbClr val="15213F"/>
                </a:solidFill>
                <a:latin typeface="微软雅黑" panose="020B0503020204020204" charset="-122"/>
                <a:ea typeface="微软雅黑" panose="020B0503020204020204" charset="-122"/>
                <a:cs typeface="微软雅黑" panose="020B0503020204020204" charset="-122"/>
              </a:endParaRPr>
            </a:p>
          </p:txBody>
        </p:sp>
        <p:sp>
          <p:nvSpPr>
            <p:cNvPr id="226" name="Text 20"/>
            <p:cNvSpPr/>
            <p:nvPr/>
          </p:nvSpPr>
          <p:spPr>
            <a:xfrm>
              <a:off x="5358" y="9036"/>
              <a:ext cx="4066" cy="535"/>
            </a:xfrm>
            <a:prstGeom prst="rect">
              <a:avLst/>
            </a:prstGeom>
            <a:noFill/>
          </p:spPr>
          <p:txBody>
            <a:bodyPr wrap="square" lIns="0" tIns="0" rIns="0" bIns="0" rtlCol="0" anchor="t"/>
            <a:lstStyle/>
            <a:p>
              <a:pPr marL="0" indent="0" algn="l">
                <a:lnSpc>
                  <a:spcPct val="100000"/>
                </a:lnSpc>
                <a:buNone/>
              </a:pPr>
              <a:endParaRPr lang="en-US" sz="1400" dirty="0">
                <a:latin typeface="微软雅黑" panose="020B0503020204020204" charset="-122"/>
                <a:ea typeface="微软雅黑" panose="020B0503020204020204" charset="-122"/>
              </a:endParaRPr>
            </a:p>
          </p:txBody>
        </p:sp>
        <p:pic>
          <p:nvPicPr>
            <p:cNvPr id="227" name="Image 7" descr="preencoded.png"/>
            <p:cNvPicPr>
              <a:picLocks noChangeAspect="1"/>
            </p:cNvPicPr>
            <p:nvPr/>
          </p:nvPicPr>
          <p:blipFill>
            <a:blip r:embed="rId15"/>
            <a:stretch>
              <a:fillRect/>
            </a:stretch>
          </p:blipFill>
          <p:spPr>
            <a:xfrm>
              <a:off x="5358" y="9036"/>
              <a:ext cx="4066" cy="535"/>
            </a:xfrm>
            <a:prstGeom prst="rect">
              <a:avLst/>
            </a:prstGeom>
          </p:spPr>
        </p:pic>
        <p:sp>
          <p:nvSpPr>
            <p:cNvPr id="228" name="Text 21"/>
            <p:cNvSpPr/>
            <p:nvPr/>
          </p:nvSpPr>
          <p:spPr>
            <a:xfrm>
              <a:off x="9817" y="3228"/>
              <a:ext cx="1953" cy="244"/>
            </a:xfrm>
            <a:prstGeom prst="rect">
              <a:avLst/>
            </a:prstGeom>
            <a:noFill/>
          </p:spPr>
          <p:txBody>
            <a:bodyPr wrap="none" lIns="0" tIns="0" rIns="0" bIns="0" rtlCol="0" anchor="t"/>
            <a:lstStyle/>
            <a:p>
              <a:pPr marL="0" indent="0" algn="l">
                <a:lnSpc>
                  <a:spcPct val="100000"/>
                </a:lnSpc>
                <a:buNone/>
              </a:pPr>
              <a:r>
                <a:rPr lang="en-US" sz="1600" dirty="0">
                  <a:solidFill>
                    <a:srgbClr val="3257B8"/>
                  </a:solidFill>
                  <a:latin typeface="微软雅黑" panose="020B0503020204020204" charset="-122"/>
                  <a:ea typeface="微软雅黑" panose="020B0503020204020204" charset="-122"/>
                  <a:cs typeface="Roboto Slab" pitchFamily="34" charset="-120"/>
                </a:rPr>
                <a:t>假设检验与统计推断</a:t>
              </a:r>
              <a:endParaRPr lang="en-US" sz="1600" dirty="0">
                <a:solidFill>
                  <a:srgbClr val="3257B8"/>
                </a:solidFill>
                <a:latin typeface="微软雅黑" panose="020B0503020204020204" charset="-122"/>
                <a:ea typeface="微软雅黑" panose="020B0503020204020204" charset="-122"/>
                <a:cs typeface="Roboto Slab" pitchFamily="34" charset="-120"/>
              </a:endParaRPr>
            </a:p>
          </p:txBody>
        </p:sp>
        <p:sp>
          <p:nvSpPr>
            <p:cNvPr id="229" name="Text 22"/>
            <p:cNvSpPr/>
            <p:nvPr/>
          </p:nvSpPr>
          <p:spPr>
            <a:xfrm>
              <a:off x="9817" y="3550"/>
              <a:ext cx="3430" cy="375"/>
            </a:xfrm>
            <a:prstGeom prst="rect">
              <a:avLst/>
            </a:prstGeom>
            <a:noFill/>
          </p:spPr>
          <p:txBody>
            <a:bodyPr wrap="square" lIns="0" tIns="0" rIns="0" bIns="0" rtlCol="0" anchor="t"/>
            <a:lstStyle/>
            <a:p>
              <a:pPr marL="0" indent="0" algn="l">
                <a:lnSpc>
                  <a:spcPct val="100000"/>
                </a:lnSpc>
                <a:buNone/>
              </a:pPr>
              <a:r>
                <a:rPr lang="en-US" sz="1200" dirty="0">
                  <a:solidFill>
                    <a:srgbClr val="15213F"/>
                  </a:solidFill>
                  <a:latin typeface="微软雅黑" panose="020B0503020204020204" charset="-122"/>
                  <a:ea typeface="微软雅黑" panose="020B0503020204020204" charset="-122"/>
                  <a:cs typeface="Roboto" panose="02000000000000000000" pitchFamily="34" charset="-120"/>
                </a:rPr>
                <a:t>系统内置多种统计检验方法，用于评估数据差异的显著性，辅助用户进行科学决策。</a:t>
              </a:r>
              <a:endParaRPr lang="en-US" sz="1200" dirty="0">
                <a:solidFill>
                  <a:srgbClr val="15213F"/>
                </a:solidFill>
                <a:latin typeface="微软雅黑" panose="020B0503020204020204" charset="-122"/>
                <a:ea typeface="微软雅黑" panose="020B0503020204020204" charset="-122"/>
                <a:cs typeface="Roboto" panose="02000000000000000000" pitchFamily="34" charset="-120"/>
              </a:endParaRPr>
            </a:p>
          </p:txBody>
        </p:sp>
        <p:sp>
          <p:nvSpPr>
            <p:cNvPr id="230" name="Text 23"/>
            <p:cNvSpPr/>
            <p:nvPr/>
          </p:nvSpPr>
          <p:spPr>
            <a:xfrm>
              <a:off x="9817" y="3995"/>
              <a:ext cx="3430" cy="375"/>
            </a:xfrm>
            <a:prstGeom prst="rect">
              <a:avLst/>
            </a:prstGeom>
            <a:noFill/>
          </p:spPr>
          <p:txBody>
            <a:bodyPr wrap="square" lIns="0" tIns="0" rIns="0" bIns="0" rtlCol="0" anchor="t"/>
            <a:lstStyle/>
            <a:p>
              <a:pPr marL="0" indent="0" algn="l">
                <a:lnSpc>
                  <a:spcPct val="100000"/>
                </a:lnSpc>
                <a:buNone/>
              </a:pPr>
              <a:r>
                <a:rPr lang="en-US" sz="1200" b="1" dirty="0">
                  <a:solidFill>
                    <a:srgbClr val="15213F"/>
                  </a:solidFill>
                  <a:latin typeface="微软雅黑" panose="020B0503020204020204" charset="-122"/>
                  <a:ea typeface="微软雅黑" panose="020B0503020204020204" charset="-122"/>
                  <a:cs typeface="微软雅黑" panose="020B0503020204020204" charset="-122"/>
                </a:rPr>
                <a:t>Welch's t检验</a:t>
              </a:r>
              <a:r>
                <a:rPr lang="en-US" sz="1200" dirty="0">
                  <a:solidFill>
                    <a:srgbClr val="15213F"/>
                  </a:solidFill>
                  <a:latin typeface="微软雅黑" panose="020B0503020204020204" charset="-122"/>
                  <a:ea typeface="微软雅黑" panose="020B0503020204020204" charset="-122"/>
                  <a:cs typeface="微软雅黑" panose="020B0503020204020204" charset="-122"/>
                </a:rPr>
                <a:t>：在两组数据方差不齐时，提供比传统学生t检验更稳健的均值差异评估。</a:t>
              </a:r>
              <a:endParaRPr lang="en-US" sz="1200" dirty="0">
                <a:solidFill>
                  <a:srgbClr val="15213F"/>
                </a:solidFill>
                <a:latin typeface="微软雅黑" panose="020B0503020204020204" charset="-122"/>
                <a:ea typeface="微软雅黑" panose="020B0503020204020204" charset="-122"/>
                <a:cs typeface="微软雅黑" panose="020B0503020204020204" charset="-122"/>
              </a:endParaRPr>
            </a:p>
          </p:txBody>
        </p:sp>
        <p:sp>
          <p:nvSpPr>
            <p:cNvPr id="231" name="Text 24"/>
            <p:cNvSpPr/>
            <p:nvPr/>
          </p:nvSpPr>
          <p:spPr>
            <a:xfrm>
              <a:off x="9817" y="4468"/>
              <a:ext cx="3430" cy="686"/>
            </a:xfrm>
            <a:prstGeom prst="rect">
              <a:avLst/>
            </a:prstGeom>
            <a:noFill/>
          </p:spPr>
          <p:txBody>
            <a:bodyPr wrap="square" lIns="0" tIns="0" rIns="0" bIns="0" rtlCol="0" anchor="t"/>
            <a:lstStyle/>
            <a:p>
              <a:pPr marL="0" indent="0" algn="l">
                <a:lnSpc>
                  <a:spcPct val="100000"/>
                </a:lnSpc>
                <a:buNone/>
              </a:pPr>
              <a:endParaRPr lang="en-US" sz="1400" dirty="0">
                <a:latin typeface="微软雅黑" panose="020B0503020204020204" charset="-122"/>
                <a:ea typeface="微软雅黑" panose="020B0503020204020204" charset="-122"/>
              </a:endParaRPr>
            </a:p>
          </p:txBody>
        </p:sp>
        <p:pic>
          <p:nvPicPr>
            <p:cNvPr id="232" name="Image 8" descr="preencoded.png"/>
            <p:cNvPicPr>
              <a:picLocks noChangeAspect="1"/>
            </p:cNvPicPr>
            <p:nvPr/>
          </p:nvPicPr>
          <p:blipFill>
            <a:blip r:embed="rId16"/>
            <a:stretch>
              <a:fillRect/>
            </a:stretch>
          </p:blipFill>
          <p:spPr>
            <a:xfrm>
              <a:off x="9817" y="4468"/>
              <a:ext cx="3430" cy="686"/>
            </a:xfrm>
            <a:prstGeom prst="rect">
              <a:avLst/>
            </a:prstGeom>
          </p:spPr>
        </p:pic>
        <p:sp>
          <p:nvSpPr>
            <p:cNvPr id="233" name="Text 25"/>
            <p:cNvSpPr/>
            <p:nvPr/>
          </p:nvSpPr>
          <p:spPr>
            <a:xfrm>
              <a:off x="9817" y="5253"/>
              <a:ext cx="3430" cy="375"/>
            </a:xfrm>
            <a:prstGeom prst="rect">
              <a:avLst/>
            </a:prstGeom>
            <a:noFill/>
          </p:spPr>
          <p:txBody>
            <a:bodyPr wrap="square" lIns="0" tIns="0" rIns="0" bIns="0" rtlCol="0" anchor="t"/>
            <a:lstStyle/>
            <a:p>
              <a:pPr marL="0" indent="0" algn="l">
                <a:lnSpc>
                  <a:spcPct val="100000"/>
                </a:lnSpc>
                <a:buNone/>
              </a:pPr>
              <a:r>
                <a:rPr lang="en-US" sz="1200" b="1" dirty="0">
                  <a:solidFill>
                    <a:srgbClr val="15213F"/>
                  </a:solidFill>
                  <a:latin typeface="微软雅黑" panose="020B0503020204020204" charset="-122"/>
                  <a:ea typeface="微软雅黑" panose="020B0503020204020204" charset="-122"/>
                  <a:cs typeface="微软雅黑" panose="020B0503020204020204" charset="-122"/>
                </a:rPr>
                <a:t>Shapiro-Wilk正态性检验</a:t>
              </a:r>
              <a:r>
                <a:rPr lang="en-US" sz="1200" dirty="0">
                  <a:solidFill>
                    <a:srgbClr val="15213F"/>
                  </a:solidFill>
                  <a:latin typeface="微软雅黑" panose="020B0503020204020204" charset="-122"/>
                  <a:ea typeface="微软雅黑" panose="020B0503020204020204" charset="-122"/>
                  <a:cs typeface="微软雅黑" panose="020B0503020204020204" charset="-122"/>
                </a:rPr>
                <a:t>：用于判断样本数据是否来自正态分布总体，是许多参数检验的前提。</a:t>
              </a:r>
              <a:endParaRPr lang="en-US" sz="1200" dirty="0">
                <a:solidFill>
                  <a:srgbClr val="15213F"/>
                </a:solidFill>
                <a:latin typeface="微软雅黑" panose="020B0503020204020204" charset="-122"/>
                <a:ea typeface="微软雅黑" panose="020B0503020204020204" charset="-122"/>
                <a:cs typeface="微软雅黑" panose="020B0503020204020204" charset="-122"/>
              </a:endParaRPr>
            </a:p>
          </p:txBody>
        </p:sp>
        <p:sp>
          <p:nvSpPr>
            <p:cNvPr id="234" name="Text 26"/>
            <p:cNvSpPr/>
            <p:nvPr/>
          </p:nvSpPr>
          <p:spPr>
            <a:xfrm>
              <a:off x="9817" y="5698"/>
              <a:ext cx="3430" cy="562"/>
            </a:xfrm>
            <a:prstGeom prst="rect">
              <a:avLst/>
            </a:prstGeom>
            <a:noFill/>
          </p:spPr>
          <p:txBody>
            <a:bodyPr wrap="square" lIns="0" tIns="0" rIns="0" bIns="0" rtlCol="0" anchor="t"/>
            <a:lstStyle/>
            <a:p>
              <a:pPr marL="0" indent="0" algn="l">
                <a:lnSpc>
                  <a:spcPct val="100000"/>
                </a:lnSpc>
                <a:buNone/>
              </a:pPr>
              <a:r>
                <a:rPr lang="en-US" sz="1200" b="1" dirty="0">
                  <a:solidFill>
                    <a:srgbClr val="15213F"/>
                  </a:solidFill>
                  <a:latin typeface="微软雅黑" panose="020B0503020204020204" charset="-122"/>
                  <a:ea typeface="微软雅黑" panose="020B0503020204020204" charset="-122"/>
                  <a:cs typeface="微软雅黑" panose="020B0503020204020204" charset="-122"/>
                </a:rPr>
                <a:t>Bootstrap重抽样</a:t>
              </a:r>
              <a:r>
                <a:rPr lang="en-US" sz="1200" dirty="0">
                  <a:solidFill>
                    <a:srgbClr val="15213F"/>
                  </a:solidFill>
                  <a:latin typeface="微软雅黑" panose="020B0503020204020204" charset="-122"/>
                  <a:ea typeface="微软雅黑" panose="020B0503020204020204" charset="-122"/>
                  <a:cs typeface="微软雅黑" panose="020B0503020204020204" charset="-122"/>
                </a:rPr>
                <a:t>：通过有放回地重复抽样构建经验分布，用于估计参数的置信区间或进行假设检验，尤其适用于小样本或复杂分布。</a:t>
              </a:r>
              <a:endParaRPr lang="en-US" sz="1200" dirty="0">
                <a:solidFill>
                  <a:srgbClr val="15213F"/>
                </a:solidFill>
                <a:latin typeface="微软雅黑" panose="020B0503020204020204" charset="-122"/>
                <a:ea typeface="微软雅黑" panose="020B0503020204020204" charset="-122"/>
                <a:cs typeface="微软雅黑" panose="020B0503020204020204" charset="-122"/>
              </a:endParaRPr>
            </a:p>
          </p:txBody>
        </p:sp>
        <p:sp>
          <p:nvSpPr>
            <p:cNvPr id="235" name="Shape 27"/>
            <p:cNvSpPr/>
            <p:nvPr/>
          </p:nvSpPr>
          <p:spPr>
            <a:xfrm>
              <a:off x="9817" y="6348"/>
              <a:ext cx="899" cy="249"/>
            </a:xfrm>
            <a:prstGeom prst="roundRect">
              <a:avLst>
                <a:gd name="adj" fmla="val 77608"/>
              </a:avLst>
            </a:prstGeom>
            <a:solidFill>
              <a:srgbClr val="FFFFFF">
                <a:alpha val="20000"/>
              </a:srgbClr>
            </a:solidFill>
            <a:ln w="7620">
              <a:solidFill>
                <a:srgbClr val="000000"/>
              </a:solidFill>
              <a:prstDash val="solid"/>
            </a:ln>
          </p:spPr>
          <p:txBody>
            <a:bodyPr/>
            <a:lstStyle/>
            <a:p>
              <a:pPr>
                <a:lnSpc>
                  <a:spcPct val="100000"/>
                </a:lnSpc>
              </a:pPr>
              <a:endParaRPr lang="zh-CN" altLang="en-US" sz="3200">
                <a:latin typeface="微软雅黑" panose="020B0503020204020204" charset="-122"/>
                <a:ea typeface="微软雅黑" panose="020B0503020204020204" charset="-122"/>
              </a:endParaRPr>
            </a:p>
          </p:txBody>
        </p:sp>
        <p:pic>
          <p:nvPicPr>
            <p:cNvPr id="236" name="Image 9" descr="preencoded.png"/>
            <p:cNvPicPr>
              <a:picLocks noChangeAspect="1"/>
            </p:cNvPicPr>
            <p:nvPr/>
          </p:nvPicPr>
          <p:blipFill>
            <a:blip r:embed="rId17"/>
            <a:stretch>
              <a:fillRect/>
            </a:stretch>
          </p:blipFill>
          <p:spPr>
            <a:xfrm>
              <a:off x="9898" y="6403"/>
              <a:ext cx="138" cy="138"/>
            </a:xfrm>
            <a:prstGeom prst="rect">
              <a:avLst/>
            </a:prstGeom>
          </p:spPr>
        </p:pic>
        <p:sp>
          <p:nvSpPr>
            <p:cNvPr id="237" name="Text 28"/>
            <p:cNvSpPr/>
            <p:nvPr/>
          </p:nvSpPr>
          <p:spPr>
            <a:xfrm>
              <a:off x="10082" y="6383"/>
              <a:ext cx="553" cy="180"/>
            </a:xfrm>
            <a:prstGeom prst="rect">
              <a:avLst/>
            </a:prstGeom>
            <a:noFill/>
          </p:spPr>
          <p:txBody>
            <a:bodyPr wrap="none" lIns="0" tIns="0" rIns="0" bIns="0" rtlCol="0" anchor="t"/>
            <a:lstStyle/>
            <a:p>
              <a:pPr marL="0" indent="0" algn="l">
                <a:lnSpc>
                  <a:spcPct val="100000"/>
                </a:lnSpc>
                <a:buNone/>
              </a:pPr>
              <a:r>
                <a:rPr lang="en-US" sz="1200" dirty="0">
                  <a:solidFill>
                    <a:srgbClr val="15213F"/>
                  </a:solidFill>
                  <a:latin typeface="微软雅黑" panose="020B0503020204020204" charset="-122"/>
                  <a:ea typeface="微软雅黑" panose="020B0503020204020204" charset="-122"/>
                </a:rPr>
                <a:t>偏态分布</a:t>
              </a:r>
              <a:endParaRPr lang="en-US" sz="1200" dirty="0">
                <a:solidFill>
                  <a:srgbClr val="15213F"/>
                </a:solidFill>
                <a:latin typeface="微软雅黑" panose="020B0503020204020204" charset="-122"/>
                <a:ea typeface="微软雅黑" panose="020B0503020204020204" charset="-122"/>
              </a:endParaRPr>
            </a:p>
          </p:txBody>
        </p:sp>
        <p:sp>
          <p:nvSpPr>
            <p:cNvPr id="238" name="Shape 29"/>
            <p:cNvSpPr/>
            <p:nvPr/>
          </p:nvSpPr>
          <p:spPr>
            <a:xfrm>
              <a:off x="10812" y="6348"/>
              <a:ext cx="899" cy="249"/>
            </a:xfrm>
            <a:prstGeom prst="roundRect">
              <a:avLst>
                <a:gd name="adj" fmla="val 77608"/>
              </a:avLst>
            </a:prstGeom>
            <a:solidFill>
              <a:srgbClr val="FFFFFF">
                <a:alpha val="20000"/>
              </a:srgbClr>
            </a:solidFill>
            <a:ln w="7620">
              <a:solidFill>
                <a:srgbClr val="000000"/>
              </a:solidFill>
              <a:prstDash val="solid"/>
            </a:ln>
          </p:spPr>
          <p:txBody>
            <a:bodyPr/>
            <a:lstStyle/>
            <a:p>
              <a:pPr>
                <a:lnSpc>
                  <a:spcPct val="100000"/>
                </a:lnSpc>
              </a:pPr>
              <a:endParaRPr lang="zh-CN" altLang="en-US" sz="3200">
                <a:latin typeface="微软雅黑" panose="020B0503020204020204" charset="-122"/>
                <a:ea typeface="微软雅黑" panose="020B0503020204020204" charset="-122"/>
              </a:endParaRPr>
            </a:p>
          </p:txBody>
        </p:sp>
        <p:pic>
          <p:nvPicPr>
            <p:cNvPr id="239" name="Image 10" descr="preencoded.png"/>
            <p:cNvPicPr>
              <a:picLocks noChangeAspect="1"/>
            </p:cNvPicPr>
            <p:nvPr/>
          </p:nvPicPr>
          <p:blipFill>
            <a:blip r:embed="rId18"/>
            <a:stretch>
              <a:fillRect/>
            </a:stretch>
          </p:blipFill>
          <p:spPr>
            <a:xfrm>
              <a:off x="10893" y="6403"/>
              <a:ext cx="138" cy="138"/>
            </a:xfrm>
            <a:prstGeom prst="rect">
              <a:avLst/>
            </a:prstGeom>
          </p:spPr>
        </p:pic>
        <p:sp>
          <p:nvSpPr>
            <p:cNvPr id="240" name="Text 30"/>
            <p:cNvSpPr/>
            <p:nvPr/>
          </p:nvSpPr>
          <p:spPr>
            <a:xfrm>
              <a:off x="11077" y="6383"/>
              <a:ext cx="553" cy="180"/>
            </a:xfrm>
            <a:prstGeom prst="rect">
              <a:avLst/>
            </a:prstGeom>
            <a:noFill/>
          </p:spPr>
          <p:txBody>
            <a:bodyPr wrap="none" lIns="0" tIns="0" rIns="0" bIns="0" rtlCol="0" anchor="t"/>
            <a:lstStyle/>
            <a:p>
              <a:pPr marL="0" indent="0" algn="l">
                <a:lnSpc>
                  <a:spcPct val="100000"/>
                </a:lnSpc>
                <a:buNone/>
              </a:pPr>
              <a:r>
                <a:rPr lang="en-US" sz="1200" dirty="0">
                  <a:solidFill>
                    <a:srgbClr val="15213F"/>
                  </a:solidFill>
                  <a:latin typeface="微软雅黑" panose="020B0503020204020204" charset="-122"/>
                  <a:ea typeface="微软雅黑" panose="020B0503020204020204" charset="-122"/>
                </a:rPr>
                <a:t>正态分布</a:t>
              </a:r>
              <a:endParaRPr lang="en-US" sz="1200" dirty="0">
                <a:solidFill>
                  <a:srgbClr val="15213F"/>
                </a:solidFill>
                <a:latin typeface="微软雅黑" panose="020B0503020204020204" charset="-122"/>
                <a:ea typeface="微软雅黑" panose="020B0503020204020204" charset="-122"/>
              </a:endParaRPr>
            </a:p>
          </p:txBody>
        </p:sp>
        <p:pic>
          <p:nvPicPr>
            <p:cNvPr id="241" name="Image 11" descr="preencoded.png"/>
            <p:cNvPicPr>
              <a:picLocks noChangeAspect="1"/>
            </p:cNvPicPr>
            <p:nvPr/>
          </p:nvPicPr>
          <p:blipFill>
            <a:blip r:embed="rId19"/>
            <a:stretch>
              <a:fillRect/>
            </a:stretch>
          </p:blipFill>
          <p:spPr>
            <a:xfrm>
              <a:off x="9745" y="6634"/>
              <a:ext cx="3381" cy="1742"/>
            </a:xfrm>
            <a:prstGeom prst="rect">
              <a:avLst/>
            </a:prstGeom>
          </p:spPr>
        </p:pic>
        <p:sp>
          <p:nvSpPr>
            <p:cNvPr id="242" name="Text 31"/>
            <p:cNvSpPr/>
            <p:nvPr/>
          </p:nvSpPr>
          <p:spPr>
            <a:xfrm>
              <a:off x="9817" y="8357"/>
              <a:ext cx="3430" cy="375"/>
            </a:xfrm>
            <a:prstGeom prst="rect">
              <a:avLst/>
            </a:prstGeom>
            <a:noFill/>
          </p:spPr>
          <p:txBody>
            <a:bodyPr wrap="square" lIns="0" tIns="0" rIns="0" bIns="0" rtlCol="0" anchor="t"/>
            <a:lstStyle/>
            <a:p>
              <a:pPr marL="0" indent="0" algn="l">
                <a:lnSpc>
                  <a:spcPct val="100000"/>
                </a:lnSpc>
                <a:buNone/>
              </a:pPr>
              <a:r>
                <a:rPr lang="en-US" sz="1200" dirty="0">
                  <a:solidFill>
                    <a:srgbClr val="15213F"/>
                  </a:solidFill>
                  <a:latin typeface="微软雅黑" panose="020B0503020204020204" charset="-122"/>
                  <a:ea typeface="微软雅黑" panose="020B0503020204020204" charset="-122"/>
                  <a:cs typeface="Roboto" panose="02000000000000000000" pitchFamily="34" charset="-120"/>
                </a:rPr>
                <a:t>上图对比了理想的正态分布与常见的偏态分布，直观展示了数据分布对统计推断的影响。</a:t>
              </a:r>
              <a:endParaRPr lang="en-US" sz="1200" dirty="0">
                <a:solidFill>
                  <a:srgbClr val="15213F"/>
                </a:solidFill>
                <a:latin typeface="微软雅黑" panose="020B0503020204020204" charset="-122"/>
                <a:ea typeface="微软雅黑" panose="020B0503020204020204" charset="-122"/>
                <a:cs typeface="Roboto" panose="02000000000000000000" pitchFamily="34" charset="-120"/>
              </a:endParaRPr>
            </a:p>
          </p:txBody>
        </p:sp>
        <p:sp>
          <p:nvSpPr>
            <p:cNvPr id="243" name="Text 32"/>
            <p:cNvSpPr/>
            <p:nvPr/>
          </p:nvSpPr>
          <p:spPr>
            <a:xfrm>
              <a:off x="13640" y="3228"/>
              <a:ext cx="1953" cy="244"/>
            </a:xfrm>
            <a:prstGeom prst="rect">
              <a:avLst/>
            </a:prstGeom>
            <a:noFill/>
          </p:spPr>
          <p:txBody>
            <a:bodyPr wrap="none" lIns="0" tIns="0" rIns="0" bIns="0" rtlCol="0" anchor="t"/>
            <a:lstStyle/>
            <a:p>
              <a:pPr marL="0" indent="0" algn="l">
                <a:lnSpc>
                  <a:spcPct val="100000"/>
                </a:lnSpc>
                <a:buNone/>
              </a:pPr>
              <a:r>
                <a:rPr lang="en-US" sz="1600" dirty="0">
                  <a:solidFill>
                    <a:srgbClr val="3257B8"/>
                  </a:solidFill>
                  <a:latin typeface="微软雅黑" panose="020B0503020204020204" charset="-122"/>
                  <a:ea typeface="微软雅黑" panose="020B0503020204020204" charset="-122"/>
                  <a:cs typeface="Roboto Slab" pitchFamily="34" charset="-120"/>
                </a:rPr>
                <a:t>机器学习与模型评估</a:t>
              </a:r>
              <a:endParaRPr lang="en-US" sz="1600" dirty="0">
                <a:solidFill>
                  <a:srgbClr val="3257B8"/>
                </a:solidFill>
                <a:latin typeface="微软雅黑" panose="020B0503020204020204" charset="-122"/>
                <a:ea typeface="微软雅黑" panose="020B0503020204020204" charset="-122"/>
                <a:cs typeface="Roboto Slab" pitchFamily="34" charset="-120"/>
              </a:endParaRPr>
            </a:p>
          </p:txBody>
        </p:sp>
        <p:sp>
          <p:nvSpPr>
            <p:cNvPr id="244" name="Text 33"/>
            <p:cNvSpPr/>
            <p:nvPr/>
          </p:nvSpPr>
          <p:spPr>
            <a:xfrm>
              <a:off x="13640" y="3550"/>
              <a:ext cx="4066" cy="375"/>
            </a:xfrm>
            <a:prstGeom prst="rect">
              <a:avLst/>
            </a:prstGeom>
            <a:noFill/>
          </p:spPr>
          <p:txBody>
            <a:bodyPr wrap="square" lIns="0" tIns="0" rIns="0" bIns="0" rtlCol="0" anchor="t"/>
            <a:lstStyle/>
            <a:p>
              <a:pPr marL="0" indent="0" algn="l">
                <a:lnSpc>
                  <a:spcPct val="100000"/>
                </a:lnSpc>
                <a:buNone/>
              </a:pPr>
              <a:r>
                <a:rPr lang="en-US" sz="1200" dirty="0">
                  <a:solidFill>
                    <a:srgbClr val="15213F"/>
                  </a:solidFill>
                  <a:latin typeface="微软雅黑" panose="020B0503020204020204" charset="-122"/>
                  <a:ea typeface="微软雅黑" panose="020B0503020204020204" charset="-122"/>
                  <a:cs typeface="Roboto" panose="02000000000000000000" pitchFamily="34" charset="-120"/>
                </a:rPr>
                <a:t>系统整合机器学习能力，支持数据间的关系探索、趋势预测与智能诊断。</a:t>
              </a:r>
              <a:endParaRPr lang="en-US" sz="1200" dirty="0">
                <a:solidFill>
                  <a:srgbClr val="15213F"/>
                </a:solidFill>
                <a:latin typeface="微软雅黑" panose="020B0503020204020204" charset="-122"/>
                <a:ea typeface="微软雅黑" panose="020B0503020204020204" charset="-122"/>
                <a:cs typeface="Roboto" panose="02000000000000000000" pitchFamily="34" charset="-120"/>
              </a:endParaRPr>
            </a:p>
          </p:txBody>
        </p:sp>
        <p:sp>
          <p:nvSpPr>
            <p:cNvPr id="245" name="Text 34"/>
            <p:cNvSpPr/>
            <p:nvPr/>
          </p:nvSpPr>
          <p:spPr>
            <a:xfrm>
              <a:off x="13640" y="3995"/>
              <a:ext cx="4066" cy="375"/>
            </a:xfrm>
            <a:prstGeom prst="rect">
              <a:avLst/>
            </a:prstGeom>
            <a:noFill/>
          </p:spPr>
          <p:txBody>
            <a:bodyPr wrap="square" lIns="0" tIns="0" rIns="0" bIns="0" rtlCol="0" anchor="t"/>
            <a:lstStyle/>
            <a:p>
              <a:pPr marL="0" indent="0" algn="l">
                <a:lnSpc>
                  <a:spcPct val="100000"/>
                </a:lnSpc>
                <a:buNone/>
              </a:pPr>
              <a:r>
                <a:rPr lang="en-US" sz="1200" b="1" dirty="0">
                  <a:solidFill>
                    <a:srgbClr val="15213F"/>
                  </a:solidFill>
                  <a:latin typeface="微软雅黑" panose="020B0503020204020204" charset="-122"/>
                  <a:ea typeface="微软雅黑" panose="020B0503020204020204" charset="-122"/>
                  <a:cs typeface="微软雅黑" panose="020B0503020204020204" charset="-122"/>
                </a:rPr>
                <a:t>Pearson相关系数</a:t>
              </a:r>
              <a:r>
                <a:rPr lang="en-US" sz="1200" dirty="0">
                  <a:solidFill>
                    <a:srgbClr val="15213F"/>
                  </a:solidFill>
                  <a:latin typeface="微软雅黑" panose="020B0503020204020204" charset="-122"/>
                  <a:ea typeface="微软雅黑" panose="020B0503020204020204" charset="-122"/>
                  <a:cs typeface="微软雅黑" panose="020B0503020204020204" charset="-122"/>
                </a:rPr>
                <a:t>：衡量两个连续变量之间线性相关程度的指标，数值范围在-1到1之间。</a:t>
              </a:r>
              <a:endParaRPr lang="en-US" sz="1200" dirty="0">
                <a:solidFill>
                  <a:srgbClr val="15213F"/>
                </a:solidFill>
                <a:latin typeface="微软雅黑" panose="020B0503020204020204" charset="-122"/>
                <a:ea typeface="微软雅黑" panose="020B0503020204020204" charset="-122"/>
                <a:cs typeface="微软雅黑" panose="020B0503020204020204" charset="-122"/>
              </a:endParaRPr>
            </a:p>
          </p:txBody>
        </p:sp>
        <p:sp>
          <p:nvSpPr>
            <p:cNvPr id="246" name="Text 35"/>
            <p:cNvSpPr/>
            <p:nvPr/>
          </p:nvSpPr>
          <p:spPr>
            <a:xfrm>
              <a:off x="13640" y="4468"/>
              <a:ext cx="4066" cy="558"/>
            </a:xfrm>
            <a:prstGeom prst="rect">
              <a:avLst/>
            </a:prstGeom>
            <a:noFill/>
          </p:spPr>
          <p:txBody>
            <a:bodyPr wrap="square" lIns="0" tIns="0" rIns="0" bIns="0" rtlCol="0" anchor="t"/>
            <a:lstStyle/>
            <a:p>
              <a:pPr marL="0" indent="0" algn="l">
                <a:lnSpc>
                  <a:spcPct val="100000"/>
                </a:lnSpc>
                <a:buNone/>
              </a:pPr>
              <a:endParaRPr lang="en-US" sz="1400" dirty="0">
                <a:latin typeface="微软雅黑" panose="020B0503020204020204" charset="-122"/>
                <a:ea typeface="微软雅黑" panose="020B0503020204020204" charset="-122"/>
              </a:endParaRPr>
            </a:p>
          </p:txBody>
        </p:sp>
        <p:pic>
          <p:nvPicPr>
            <p:cNvPr id="247" name="Image 12" descr="preencoded.png"/>
            <p:cNvPicPr>
              <a:picLocks noChangeAspect="1"/>
            </p:cNvPicPr>
            <p:nvPr/>
          </p:nvPicPr>
          <p:blipFill>
            <a:blip r:embed="rId20"/>
            <a:stretch>
              <a:fillRect/>
            </a:stretch>
          </p:blipFill>
          <p:spPr>
            <a:xfrm>
              <a:off x="13640" y="4468"/>
              <a:ext cx="4066" cy="558"/>
            </a:xfrm>
            <a:prstGeom prst="rect">
              <a:avLst/>
            </a:prstGeom>
          </p:spPr>
        </p:pic>
        <p:sp>
          <p:nvSpPr>
            <p:cNvPr id="248" name="Text 36"/>
            <p:cNvSpPr/>
            <p:nvPr/>
          </p:nvSpPr>
          <p:spPr>
            <a:xfrm>
              <a:off x="13640" y="5125"/>
              <a:ext cx="4066" cy="375"/>
            </a:xfrm>
            <a:prstGeom prst="rect">
              <a:avLst/>
            </a:prstGeom>
            <a:noFill/>
          </p:spPr>
          <p:txBody>
            <a:bodyPr wrap="square" lIns="0" tIns="0" rIns="0" bIns="0" rtlCol="0" anchor="t"/>
            <a:lstStyle/>
            <a:p>
              <a:pPr marL="0" indent="0" algn="l">
                <a:lnSpc>
                  <a:spcPct val="100000"/>
                </a:lnSpc>
                <a:buNone/>
              </a:pPr>
              <a:r>
                <a:rPr lang="en-US" sz="1200" b="1" dirty="0">
                  <a:solidFill>
                    <a:srgbClr val="15213F"/>
                  </a:solidFill>
                  <a:latin typeface="微软雅黑" panose="020B0503020204020204" charset="-122"/>
                  <a:ea typeface="微软雅黑" panose="020B0503020204020204" charset="-122"/>
                  <a:cs typeface="微软雅黑" panose="020B0503020204020204" charset="-122"/>
                </a:rPr>
                <a:t>R²决定系数</a:t>
              </a:r>
              <a:r>
                <a:rPr lang="en-US" sz="1200" dirty="0">
                  <a:solidFill>
                    <a:srgbClr val="15213F"/>
                  </a:solidFill>
                  <a:latin typeface="微软雅黑" panose="020B0503020204020204" charset="-122"/>
                  <a:ea typeface="微软雅黑" panose="020B0503020204020204" charset="-122"/>
                  <a:cs typeface="微软雅黑" panose="020B0503020204020204" charset="-122"/>
                </a:rPr>
                <a:t>：评估回归模型拟合优度，表示因变量方差中能被自变量解释的比例，数值越接近1表示拟合效果越好。</a:t>
              </a:r>
              <a:endParaRPr lang="en-US" sz="1200" dirty="0">
                <a:solidFill>
                  <a:srgbClr val="15213F"/>
                </a:solidFill>
                <a:latin typeface="微软雅黑" panose="020B0503020204020204" charset="-122"/>
                <a:ea typeface="微软雅黑" panose="020B0503020204020204" charset="-122"/>
                <a:cs typeface="微软雅黑" panose="020B0503020204020204" charset="-122"/>
              </a:endParaRPr>
            </a:p>
          </p:txBody>
        </p:sp>
        <p:sp>
          <p:nvSpPr>
            <p:cNvPr id="249" name="Text 37"/>
            <p:cNvSpPr/>
            <p:nvPr/>
          </p:nvSpPr>
          <p:spPr>
            <a:xfrm>
              <a:off x="13640" y="5599"/>
              <a:ext cx="4066" cy="516"/>
            </a:xfrm>
            <a:prstGeom prst="rect">
              <a:avLst/>
            </a:prstGeom>
            <a:noFill/>
          </p:spPr>
          <p:txBody>
            <a:bodyPr wrap="square" lIns="0" tIns="0" rIns="0" bIns="0" rtlCol="0" anchor="t"/>
            <a:lstStyle/>
            <a:p>
              <a:pPr marL="0" indent="0" algn="l">
                <a:lnSpc>
                  <a:spcPct val="100000"/>
                </a:lnSpc>
                <a:buNone/>
              </a:pPr>
              <a:endParaRPr lang="en-US" sz="1400" dirty="0">
                <a:latin typeface="微软雅黑" panose="020B0503020204020204" charset="-122"/>
                <a:ea typeface="微软雅黑" panose="020B0503020204020204" charset="-122"/>
              </a:endParaRPr>
            </a:p>
          </p:txBody>
        </p:sp>
        <p:pic>
          <p:nvPicPr>
            <p:cNvPr id="250" name="Image 13" descr="preencoded.png"/>
            <p:cNvPicPr>
              <a:picLocks noChangeAspect="1"/>
            </p:cNvPicPr>
            <p:nvPr/>
          </p:nvPicPr>
          <p:blipFill>
            <a:blip r:embed="rId21"/>
            <a:stretch>
              <a:fillRect/>
            </a:stretch>
          </p:blipFill>
          <p:spPr>
            <a:xfrm>
              <a:off x="13640" y="5599"/>
              <a:ext cx="4066" cy="516"/>
            </a:xfrm>
            <a:prstGeom prst="rect">
              <a:avLst/>
            </a:prstGeom>
          </p:spPr>
        </p:pic>
        <p:sp>
          <p:nvSpPr>
            <p:cNvPr id="251" name="Text 38"/>
            <p:cNvSpPr/>
            <p:nvPr/>
          </p:nvSpPr>
          <p:spPr>
            <a:xfrm>
              <a:off x="13640" y="6214"/>
              <a:ext cx="4066" cy="375"/>
            </a:xfrm>
            <a:prstGeom prst="rect">
              <a:avLst/>
            </a:prstGeom>
            <a:noFill/>
          </p:spPr>
          <p:txBody>
            <a:bodyPr wrap="square" lIns="0" tIns="0" rIns="0" bIns="0" rtlCol="0" anchor="t"/>
            <a:lstStyle/>
            <a:p>
              <a:pPr marL="0" indent="0" algn="l">
                <a:lnSpc>
                  <a:spcPct val="100000"/>
                </a:lnSpc>
                <a:buNone/>
              </a:pPr>
              <a:r>
                <a:rPr lang="en-US" sz="1200" b="1" dirty="0">
                  <a:solidFill>
                    <a:srgbClr val="15213F"/>
                  </a:solidFill>
                  <a:latin typeface="微软雅黑" panose="020B0503020204020204" charset="-122"/>
                  <a:ea typeface="微软雅黑" panose="020B0503020204020204" charset="-122"/>
                  <a:cs typeface="Roboto" panose="02000000000000000000" pitchFamily="34" charset="-120"/>
                </a:rPr>
                <a:t>置信度惩罚损失函数</a:t>
              </a:r>
              <a:r>
                <a:rPr lang="en-US" sz="1200" dirty="0">
                  <a:solidFill>
                    <a:srgbClr val="15213F"/>
                  </a:solidFill>
                  <a:latin typeface="微软雅黑" panose="020B0503020204020204" charset="-122"/>
                  <a:ea typeface="微软雅黑" panose="020B0503020204020204" charset="-122"/>
                  <a:cs typeface="Roboto" panose="02000000000000000000" pitchFamily="34" charset="-120"/>
                </a:rPr>
                <a:t>：在模型训练中引入对置信度过高的预测的惩罚，避免过拟合，提升模型泛化能力。</a:t>
              </a:r>
              <a:endParaRPr lang="en-US" sz="1200" dirty="0">
                <a:solidFill>
                  <a:srgbClr val="15213F"/>
                </a:solidFill>
                <a:latin typeface="微软雅黑" panose="020B0503020204020204" charset="-122"/>
                <a:ea typeface="微软雅黑" panose="020B0503020204020204" charset="-122"/>
                <a:cs typeface="Roboto" panose="02000000000000000000" pitchFamily="34" charset="-120"/>
              </a:endParaRPr>
            </a:p>
          </p:txBody>
        </p:sp>
        <p:sp>
          <p:nvSpPr>
            <p:cNvPr id="252" name="Text 39"/>
            <p:cNvSpPr/>
            <p:nvPr/>
          </p:nvSpPr>
          <p:spPr>
            <a:xfrm>
              <a:off x="13640" y="6659"/>
              <a:ext cx="4066" cy="187"/>
            </a:xfrm>
            <a:prstGeom prst="rect">
              <a:avLst/>
            </a:prstGeom>
            <a:noFill/>
          </p:spPr>
          <p:txBody>
            <a:bodyPr wrap="none" lIns="0" tIns="0" rIns="0" bIns="0" rtlCol="0" anchor="t"/>
            <a:lstStyle/>
            <a:p>
              <a:pPr marL="0" indent="0" algn="l">
                <a:lnSpc>
                  <a:spcPct val="100000"/>
                </a:lnSpc>
                <a:buNone/>
              </a:pPr>
              <a:r>
                <a:rPr lang="en-US" sz="1200" b="1" dirty="0">
                  <a:solidFill>
                    <a:srgbClr val="15213F"/>
                  </a:solidFill>
                  <a:latin typeface="微软雅黑" panose="020B0503020204020204" charset="-122"/>
                  <a:ea typeface="微软雅黑" panose="020B0503020204020204" charset="-122"/>
                  <a:cs typeface="Roboto" panose="02000000000000000000" pitchFamily="34" charset="-120"/>
                </a:rPr>
                <a:t>过拟合示意图</a:t>
              </a:r>
              <a:r>
                <a:rPr lang="en-US" sz="1200" dirty="0">
                  <a:solidFill>
                    <a:srgbClr val="15213F"/>
                  </a:solidFill>
                  <a:latin typeface="微软雅黑" panose="020B0503020204020204" charset="-122"/>
                  <a:ea typeface="微软雅黑" panose="020B0503020204020204" charset="-122"/>
                  <a:cs typeface="Roboto" panose="02000000000000000000" pitchFamily="34" charset="-120"/>
                </a:rPr>
                <a:t>：</a:t>
              </a:r>
              <a:endParaRPr lang="en-US" sz="1200" dirty="0">
                <a:solidFill>
                  <a:srgbClr val="15213F"/>
                </a:solidFill>
                <a:latin typeface="微软雅黑" panose="020B0503020204020204" charset="-122"/>
                <a:ea typeface="微软雅黑" panose="020B0503020204020204" charset="-122"/>
                <a:cs typeface="Roboto" panose="02000000000000000000" pitchFamily="34" charset="-120"/>
              </a:endParaRPr>
            </a:p>
          </p:txBody>
        </p:sp>
        <p:pic>
          <p:nvPicPr>
            <p:cNvPr id="253" name="Image 14" descr="preencoded.png"/>
            <p:cNvPicPr>
              <a:picLocks noChangeAspect="1"/>
            </p:cNvPicPr>
            <p:nvPr/>
          </p:nvPicPr>
          <p:blipFill>
            <a:blip r:embed="rId22"/>
            <a:stretch>
              <a:fillRect/>
            </a:stretch>
          </p:blipFill>
          <p:spPr>
            <a:xfrm>
              <a:off x="13616" y="7015"/>
              <a:ext cx="4405" cy="2283"/>
            </a:xfrm>
            <a:prstGeom prst="rect">
              <a:avLst/>
            </a:prstGeom>
          </p:spPr>
        </p:pic>
        <p:sp>
          <p:nvSpPr>
            <p:cNvPr id="254" name="Text 40"/>
            <p:cNvSpPr/>
            <p:nvPr/>
          </p:nvSpPr>
          <p:spPr>
            <a:xfrm>
              <a:off x="13640" y="9298"/>
              <a:ext cx="4066" cy="562"/>
            </a:xfrm>
            <a:prstGeom prst="rect">
              <a:avLst/>
            </a:prstGeom>
            <a:noFill/>
          </p:spPr>
          <p:txBody>
            <a:bodyPr wrap="square" lIns="0" tIns="0" rIns="0" bIns="0" rtlCol="0" anchor="t"/>
            <a:lstStyle/>
            <a:p>
              <a:pPr marL="0" indent="0" algn="l">
                <a:lnSpc>
                  <a:spcPct val="100000"/>
                </a:lnSpc>
                <a:buNone/>
              </a:pPr>
              <a:r>
                <a:rPr lang="en-US" sz="1200" dirty="0">
                  <a:solidFill>
                    <a:srgbClr val="15213F"/>
                  </a:solidFill>
                  <a:latin typeface="微软雅黑" panose="020B0503020204020204" charset="-122"/>
                  <a:ea typeface="微软雅黑" panose="020B0503020204020204" charset="-122"/>
                  <a:cs typeface="Roboto" panose="02000000000000000000" pitchFamily="34" charset="-120"/>
                </a:rPr>
                <a:t>此图展示了过拟合模型在训练数据上表现良好，但在未见过的数据上可能泛化能力差；而良好拟合模型则能更好地捕捉数据趋势。</a:t>
              </a:r>
              <a:endParaRPr lang="en-US" sz="1200" dirty="0">
                <a:solidFill>
                  <a:srgbClr val="15213F"/>
                </a:solidFill>
                <a:latin typeface="微软雅黑" panose="020B0503020204020204" charset="-122"/>
                <a:ea typeface="微软雅黑" panose="020B0503020204020204" charset="-122"/>
                <a:cs typeface="Roboto" panose="02000000000000000000" pitchFamily="34" charset="-120"/>
              </a:endParaRPr>
            </a:p>
          </p:txBody>
        </p:sp>
        <p:sp>
          <p:nvSpPr>
            <p:cNvPr id="255" name="Shape 41"/>
            <p:cNvSpPr/>
            <p:nvPr/>
          </p:nvSpPr>
          <p:spPr>
            <a:xfrm>
              <a:off x="5358" y="10096"/>
              <a:ext cx="12324" cy="32"/>
            </a:xfrm>
            <a:prstGeom prst="rect">
              <a:avLst/>
            </a:prstGeom>
            <a:solidFill>
              <a:srgbClr val="15213F">
                <a:alpha val="50000"/>
              </a:srgbClr>
            </a:solidFill>
          </p:spPr>
          <p:txBody>
            <a:bodyPr/>
            <a:lstStyle/>
            <a:p>
              <a:pPr>
                <a:lnSpc>
                  <a:spcPct val="100000"/>
                </a:lnSpc>
              </a:pPr>
              <a:endParaRPr lang="zh-CN" altLang="en-US" sz="3200">
                <a:latin typeface="微软雅黑" panose="020B0503020204020204" charset="-122"/>
                <a:ea typeface="微软雅黑" panose="020B0503020204020204" charset="-122"/>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3" name="Freeform 3"/>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4" name="Freeform 4"/>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grpSp>
        <p:nvGrpSpPr>
          <p:cNvPr id="5" name="Group 5"/>
          <p:cNvGrpSpPr/>
          <p:nvPr>
            <p:custDataLst>
              <p:tags r:id="rId4"/>
            </p:custDataLst>
          </p:nvPr>
        </p:nvGrpSpPr>
        <p:grpSpPr>
          <a:xfrm rot="0">
            <a:off x="3962592" y="2173446"/>
            <a:ext cx="1263578" cy="1263578"/>
            <a:chOff x="0" y="0"/>
            <a:chExt cx="812800" cy="812800"/>
          </a:xfrm>
        </p:grpSpPr>
        <p:sp>
          <p:nvSpPr>
            <p:cNvPr id="6" name="Freeform 6"/>
            <p:cNvSpPr/>
            <p:nvPr>
              <p:custDataLst>
                <p:tags r:id="rId5"/>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3B64C9"/>
              </a:solidFill>
              <a:prstDash val="solid"/>
              <a:miter/>
            </a:ln>
          </p:spPr>
        </p:sp>
        <p:sp>
          <p:nvSpPr>
            <p:cNvPr id="7" name="TextBox 7"/>
            <p:cNvSpPr txBox="1"/>
            <p:nvPr/>
          </p:nvSpPr>
          <p:spPr>
            <a:xfrm>
              <a:off x="76200" y="38100"/>
              <a:ext cx="660400" cy="698500"/>
            </a:xfrm>
            <a:prstGeom prst="rect">
              <a:avLst/>
            </a:prstGeom>
          </p:spPr>
          <p:txBody>
            <a:bodyPr lIns="50800" tIns="50800" rIns="50800" bIns="50800" rtlCol="0" anchor="ctr"/>
            <a:lstStyle/>
            <a:p>
              <a:pPr algn="ctr">
                <a:lnSpc>
                  <a:spcPts val="2520"/>
                </a:lnSpc>
              </a:pPr>
            </a:p>
          </p:txBody>
        </p:sp>
      </p:grpSp>
      <p:sp>
        <p:nvSpPr>
          <p:cNvPr id="8" name="Freeform 8"/>
          <p:cNvSpPr/>
          <p:nvPr>
            <p:custDataLst>
              <p:tags r:id="rId6"/>
            </p:custDataLst>
          </p:nvPr>
        </p:nvSpPr>
        <p:spPr>
          <a:xfrm>
            <a:off x="4289857" y="2465502"/>
            <a:ext cx="609049" cy="679466"/>
          </a:xfrm>
          <a:custGeom>
            <a:avLst/>
            <a:gdLst/>
            <a:ahLst/>
            <a:cxnLst/>
            <a:rect l="l" t="t" r="r" b="b"/>
            <a:pathLst>
              <a:path w="609049" h="679466">
                <a:moveTo>
                  <a:pt x="0" y="0"/>
                </a:moveTo>
                <a:lnTo>
                  <a:pt x="609049" y="0"/>
                </a:lnTo>
                <a:lnTo>
                  <a:pt x="609049" y="679466"/>
                </a:lnTo>
                <a:lnTo>
                  <a:pt x="0" y="67946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9" name="TextBox 9"/>
          <p:cNvSpPr txBox="1"/>
          <p:nvPr>
            <p:custDataLst>
              <p:tags r:id="rId9"/>
            </p:custDataLst>
          </p:nvPr>
        </p:nvSpPr>
        <p:spPr>
          <a:xfrm>
            <a:off x="3164991" y="3611432"/>
            <a:ext cx="2858781" cy="645795"/>
          </a:xfrm>
          <a:prstGeom prst="rect">
            <a:avLst/>
          </a:prstGeom>
        </p:spPr>
        <p:txBody>
          <a:bodyPr lIns="0" tIns="0" rIns="0" bIns="0" rtlCol="0" anchor="t">
            <a:spAutoFit/>
          </a:bodyPr>
          <a:lstStyle/>
          <a:p>
            <a:pPr algn="ctr">
              <a:lnSpc>
                <a:spcPts val="5040"/>
              </a:lnSpc>
            </a:pPr>
            <a:r>
              <a:rPr lang="en-US" altLang="zh-CN"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Vue.js</a:t>
            </a:r>
            <a:endParaRPr lang="en-US" altLang="zh-CN"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10" name="TextBox 10"/>
          <p:cNvSpPr txBox="1"/>
          <p:nvPr>
            <p:custDataLst>
              <p:tags r:id="rId10"/>
            </p:custDataLst>
          </p:nvPr>
        </p:nvSpPr>
        <p:spPr>
          <a:xfrm>
            <a:off x="3164991" y="4427826"/>
            <a:ext cx="2858781" cy="322580"/>
          </a:xfrm>
          <a:prstGeom prst="rect">
            <a:avLst/>
          </a:prstGeom>
        </p:spPr>
        <p:txBody>
          <a:bodyPr lIns="0" tIns="0" rIns="0" bIns="0" rtlCol="0" anchor="t">
            <a:spAutoFit/>
          </a:bodyPr>
          <a:lstStyle/>
          <a:p>
            <a:pPr algn="ctr">
              <a:lnSpc>
                <a:spcPts val="2520"/>
              </a:lnSpc>
              <a:spcBef>
                <a:spcPct val="0"/>
              </a:spcBef>
            </a:pPr>
            <a:r>
              <a:rPr lang="zh-CN" altLang="en-US" sz="1800">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rPr>
              <a:t>渐进式响应式前端框架</a:t>
            </a:r>
            <a:endParaRPr lang="zh-CN" altLang="en-US" sz="1800">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endParaRPr>
          </a:p>
        </p:txBody>
      </p:sp>
      <p:grpSp>
        <p:nvGrpSpPr>
          <p:cNvPr id="11" name="Group 11"/>
          <p:cNvGrpSpPr/>
          <p:nvPr>
            <p:custDataLst>
              <p:tags r:id="rId11"/>
            </p:custDataLst>
          </p:nvPr>
        </p:nvGrpSpPr>
        <p:grpSpPr>
          <a:xfrm rot="0">
            <a:off x="9144114" y="2189043"/>
            <a:ext cx="1263578" cy="1263578"/>
            <a:chOff x="0" y="0"/>
            <a:chExt cx="812800" cy="812800"/>
          </a:xfrm>
        </p:grpSpPr>
        <p:sp>
          <p:nvSpPr>
            <p:cNvPr id="12" name="Freeform 12"/>
            <p:cNvSpPr/>
            <p:nvPr>
              <p:custDataLst>
                <p:tags r:id="rId12"/>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3B64C9"/>
              </a:solidFill>
              <a:prstDash val="solid"/>
              <a:miter/>
            </a:ln>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520"/>
                </a:lnSpc>
              </a:pPr>
            </a:p>
          </p:txBody>
        </p:sp>
      </p:grpSp>
      <p:sp>
        <p:nvSpPr>
          <p:cNvPr id="14" name="Freeform 14"/>
          <p:cNvSpPr/>
          <p:nvPr>
            <p:custDataLst>
              <p:tags r:id="rId13"/>
            </p:custDataLst>
          </p:nvPr>
        </p:nvSpPr>
        <p:spPr>
          <a:xfrm>
            <a:off x="9471379" y="2481099"/>
            <a:ext cx="609049" cy="679466"/>
          </a:xfrm>
          <a:custGeom>
            <a:avLst/>
            <a:gdLst/>
            <a:ahLst/>
            <a:cxnLst/>
            <a:rect l="l" t="t" r="r" b="b"/>
            <a:pathLst>
              <a:path w="609049" h="679466">
                <a:moveTo>
                  <a:pt x="0" y="0"/>
                </a:moveTo>
                <a:lnTo>
                  <a:pt x="609048" y="0"/>
                </a:lnTo>
                <a:lnTo>
                  <a:pt x="609048" y="679466"/>
                </a:lnTo>
                <a:lnTo>
                  <a:pt x="0" y="67946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5" name="TextBox 15"/>
          <p:cNvSpPr txBox="1"/>
          <p:nvPr>
            <p:custDataLst>
              <p:tags r:id="rId14"/>
            </p:custDataLst>
          </p:nvPr>
        </p:nvSpPr>
        <p:spPr>
          <a:xfrm>
            <a:off x="8346513" y="3627030"/>
            <a:ext cx="2858781" cy="645795"/>
          </a:xfrm>
          <a:prstGeom prst="rect">
            <a:avLst/>
          </a:prstGeom>
        </p:spPr>
        <p:txBody>
          <a:bodyPr lIns="0" tIns="0" rIns="0" bIns="0" rtlCol="0" anchor="t">
            <a:spAutoFit/>
          </a:bodyPr>
          <a:lstStyle/>
          <a:p>
            <a:pPr algn="ctr">
              <a:lnSpc>
                <a:spcPts val="5040"/>
              </a:lnSpc>
            </a:pPr>
            <a:r>
              <a:rPr lang="en-US" altLang="zh-CN"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Vite</a:t>
            </a:r>
            <a:endParaRPr lang="en-US" altLang="zh-CN"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16" name="TextBox 16"/>
          <p:cNvSpPr txBox="1"/>
          <p:nvPr>
            <p:custDataLst>
              <p:tags r:id="rId15"/>
            </p:custDataLst>
          </p:nvPr>
        </p:nvSpPr>
        <p:spPr>
          <a:xfrm>
            <a:off x="8082915" y="4424045"/>
            <a:ext cx="3350260" cy="342265"/>
          </a:xfrm>
          <a:prstGeom prst="rect">
            <a:avLst/>
          </a:prstGeom>
        </p:spPr>
        <p:txBody>
          <a:bodyPr wrap="square" lIns="0" tIns="0" rIns="0" bIns="0" rtlCol="0" anchor="t">
            <a:noAutofit/>
          </a:bodyPr>
          <a:lstStyle/>
          <a:p>
            <a:pPr algn="ctr">
              <a:lnSpc>
                <a:spcPts val="2520"/>
              </a:lnSpc>
              <a:spcBef>
                <a:spcPct val="0"/>
              </a:spcBef>
            </a:pPr>
            <a:r>
              <a:rPr lang="zh-CN" altLang="en-US" sz="1800">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rPr>
              <a:t>次世代前端构建与热更新工具</a:t>
            </a:r>
            <a:endParaRPr lang="zh-CN" altLang="en-US" sz="1800">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endParaRPr>
          </a:p>
        </p:txBody>
      </p:sp>
      <p:grpSp>
        <p:nvGrpSpPr>
          <p:cNvPr id="17" name="Group 17"/>
          <p:cNvGrpSpPr/>
          <p:nvPr>
            <p:custDataLst>
              <p:tags r:id="rId16"/>
            </p:custDataLst>
          </p:nvPr>
        </p:nvGrpSpPr>
        <p:grpSpPr>
          <a:xfrm rot="0">
            <a:off x="14554236" y="2188686"/>
            <a:ext cx="1263578" cy="1263578"/>
            <a:chOff x="0" y="0"/>
            <a:chExt cx="812800" cy="812800"/>
          </a:xfrm>
        </p:grpSpPr>
        <p:sp>
          <p:nvSpPr>
            <p:cNvPr id="18" name="Freeform 18"/>
            <p:cNvSpPr/>
            <p:nvPr>
              <p:custDataLst>
                <p:tags r:id="rId17"/>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3B64C9"/>
              </a:solidFill>
              <a:prstDash val="solid"/>
              <a:miter/>
            </a:ln>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520"/>
                </a:lnSpc>
              </a:pPr>
            </a:p>
          </p:txBody>
        </p:sp>
      </p:grpSp>
      <p:sp>
        <p:nvSpPr>
          <p:cNvPr id="20" name="Freeform 20"/>
          <p:cNvSpPr/>
          <p:nvPr>
            <p:custDataLst>
              <p:tags r:id="rId18"/>
            </p:custDataLst>
          </p:nvPr>
        </p:nvSpPr>
        <p:spPr>
          <a:xfrm>
            <a:off x="14881501" y="2480742"/>
            <a:ext cx="609049" cy="679466"/>
          </a:xfrm>
          <a:custGeom>
            <a:avLst/>
            <a:gdLst/>
            <a:ahLst/>
            <a:cxnLst/>
            <a:rect l="l" t="t" r="r" b="b"/>
            <a:pathLst>
              <a:path w="609049" h="679466">
                <a:moveTo>
                  <a:pt x="0" y="0"/>
                </a:moveTo>
                <a:lnTo>
                  <a:pt x="609048" y="0"/>
                </a:lnTo>
                <a:lnTo>
                  <a:pt x="609048" y="679466"/>
                </a:lnTo>
                <a:lnTo>
                  <a:pt x="0" y="67946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1" name="TextBox 21"/>
          <p:cNvSpPr txBox="1"/>
          <p:nvPr>
            <p:custDataLst>
              <p:tags r:id="rId19"/>
            </p:custDataLst>
          </p:nvPr>
        </p:nvSpPr>
        <p:spPr>
          <a:xfrm>
            <a:off x="13756635" y="3626672"/>
            <a:ext cx="2858781" cy="645795"/>
          </a:xfrm>
          <a:prstGeom prst="rect">
            <a:avLst/>
          </a:prstGeom>
        </p:spPr>
        <p:txBody>
          <a:bodyPr lIns="0" tIns="0" rIns="0" bIns="0" rtlCol="0" anchor="t">
            <a:spAutoFit/>
          </a:bodyPr>
          <a:lstStyle/>
          <a:p>
            <a:pPr algn="ctr">
              <a:lnSpc>
                <a:spcPts val="5040"/>
              </a:lnSpc>
            </a:pPr>
            <a:r>
              <a:rPr lang="en-US" altLang="zh-CN"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ECharts</a:t>
            </a:r>
            <a:endParaRPr lang="en-US" altLang="zh-CN"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22" name="TextBox 22"/>
          <p:cNvSpPr txBox="1"/>
          <p:nvPr>
            <p:custDataLst>
              <p:tags r:id="rId20"/>
            </p:custDataLst>
          </p:nvPr>
        </p:nvSpPr>
        <p:spPr>
          <a:xfrm>
            <a:off x="13756635" y="4443066"/>
            <a:ext cx="2858781" cy="645795"/>
          </a:xfrm>
          <a:prstGeom prst="rect">
            <a:avLst/>
          </a:prstGeom>
        </p:spPr>
        <p:txBody>
          <a:bodyPr lIns="0" tIns="0" rIns="0" bIns="0" rtlCol="0" anchor="t">
            <a:spAutoFit/>
          </a:bodyPr>
          <a:lstStyle/>
          <a:p>
            <a:pPr algn="ctr">
              <a:lnSpc>
                <a:spcPts val="2520"/>
              </a:lnSpc>
              <a:spcBef>
                <a:spcPct val="0"/>
              </a:spcBef>
            </a:pPr>
            <a:r>
              <a:rPr lang="zh-CN" altLang="en-US" sz="18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高性能</a:t>
            </a:r>
            <a:r>
              <a:rPr lang="en-US" altLang="zh-CN" sz="18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 Canvas </a:t>
            </a:r>
            <a:r>
              <a:rPr lang="zh-CN" altLang="en-US" sz="18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数据可视化引擎</a:t>
            </a:r>
            <a:endParaRPr lang="zh-CN" altLang="en-US" sz="18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p:txBody>
      </p:sp>
      <p:sp>
        <p:nvSpPr>
          <p:cNvPr id="35" name="TextBox 35"/>
          <p:cNvSpPr txBox="1"/>
          <p:nvPr/>
        </p:nvSpPr>
        <p:spPr>
          <a:xfrm>
            <a:off x="1028700" y="457200"/>
            <a:ext cx="6387465" cy="1076960"/>
          </a:xfrm>
          <a:prstGeom prst="rect">
            <a:avLst/>
          </a:prstGeom>
        </p:spPr>
        <p:txBody>
          <a:bodyPr wrap="square" lIns="0" tIns="0" rIns="0" bIns="0" rtlCol="0" anchor="t">
            <a:spAutoFit/>
          </a:bodyPr>
          <a:lstStyle/>
          <a:p>
            <a:pPr algn="l">
              <a:lnSpc>
                <a:spcPts val="8400"/>
              </a:lnSpc>
            </a:pPr>
            <a:r>
              <a:rPr lang="en-US" sz="6000" spc="300">
                <a:solidFill>
                  <a:srgbClr val="3B64C9"/>
                </a:solidFill>
                <a:latin typeface="思源宋体-超粗体" panose="02020900000000000000" charset="-122"/>
                <a:ea typeface="思源宋体-超粗体" panose="02020900000000000000" charset="-122"/>
                <a:cs typeface="思源宋体-超粗体" panose="02020900000000000000" charset="-122"/>
                <a:sym typeface="思源宋体-超粗体" panose="02020900000000000000" charset="-122"/>
              </a:rPr>
              <a:t>02.</a:t>
            </a:r>
            <a:r>
              <a:rPr lang="zh-CN" altLang="en-US" sz="6000" spc="300">
                <a:solidFill>
                  <a:srgbClr val="3B64C9"/>
                </a:solidFill>
                <a:latin typeface="思源宋体-超粗体" panose="02020900000000000000" charset="-122"/>
                <a:ea typeface="思源宋体-超粗体" panose="02020900000000000000" charset="-122"/>
                <a:cs typeface="思源宋体-超粗体" panose="02020900000000000000" charset="-122"/>
                <a:sym typeface="思源宋体-超粗体" panose="02020900000000000000" charset="-122"/>
              </a:rPr>
              <a:t>技术栈</a:t>
            </a:r>
            <a:endParaRPr lang="zh-CN" altLang="en-US" sz="6000" spc="300">
              <a:solidFill>
                <a:srgbClr val="3B64C9"/>
              </a:solidFill>
              <a:latin typeface="思源宋体-超粗体" panose="02020900000000000000" charset="-122"/>
              <a:ea typeface="思源宋体-超粗体" panose="02020900000000000000" charset="-122"/>
              <a:cs typeface="思源宋体-超粗体" panose="02020900000000000000" charset="-122"/>
              <a:sym typeface="思源宋体-超粗体" panose="02020900000000000000" charset="-122"/>
            </a:endParaRPr>
          </a:p>
        </p:txBody>
      </p:sp>
      <p:sp>
        <p:nvSpPr>
          <p:cNvPr id="36" name="TextBox 36"/>
          <p:cNvSpPr txBox="1"/>
          <p:nvPr/>
        </p:nvSpPr>
        <p:spPr>
          <a:xfrm>
            <a:off x="13753946" y="872490"/>
            <a:ext cx="3505354" cy="645795"/>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TWO</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grpSp>
        <p:nvGrpSpPr>
          <p:cNvPr id="38" name="Group 5"/>
          <p:cNvGrpSpPr/>
          <p:nvPr>
            <p:custDataLst>
              <p:tags r:id="rId21"/>
            </p:custDataLst>
          </p:nvPr>
        </p:nvGrpSpPr>
        <p:grpSpPr>
          <a:xfrm rot="0">
            <a:off x="3962592" y="6013291"/>
            <a:ext cx="1263578" cy="1263578"/>
            <a:chOff x="0" y="0"/>
            <a:chExt cx="812800" cy="812800"/>
          </a:xfrm>
        </p:grpSpPr>
        <p:sp>
          <p:nvSpPr>
            <p:cNvPr id="39" name="Freeform 6"/>
            <p:cNvSpPr/>
            <p:nvPr>
              <p:custDataLst>
                <p:tags r:id="rId22"/>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3B64C9"/>
              </a:solidFill>
              <a:prstDash val="solid"/>
              <a:miter/>
            </a:ln>
          </p:spPr>
        </p:sp>
        <p:sp>
          <p:nvSpPr>
            <p:cNvPr id="40" name="TextBox 7"/>
            <p:cNvSpPr txBox="1"/>
            <p:nvPr/>
          </p:nvSpPr>
          <p:spPr>
            <a:xfrm>
              <a:off x="76200" y="38100"/>
              <a:ext cx="660400" cy="698500"/>
            </a:xfrm>
            <a:prstGeom prst="rect">
              <a:avLst/>
            </a:prstGeom>
          </p:spPr>
          <p:txBody>
            <a:bodyPr lIns="50800" tIns="50800" rIns="50800" bIns="50800" rtlCol="0" anchor="ctr"/>
            <a:lstStyle/>
            <a:p>
              <a:pPr algn="ctr">
                <a:lnSpc>
                  <a:spcPts val="2520"/>
                </a:lnSpc>
              </a:pPr>
            </a:p>
          </p:txBody>
        </p:sp>
      </p:grpSp>
      <p:sp>
        <p:nvSpPr>
          <p:cNvPr id="41" name="Freeform 8"/>
          <p:cNvSpPr/>
          <p:nvPr>
            <p:custDataLst>
              <p:tags r:id="rId23"/>
            </p:custDataLst>
          </p:nvPr>
        </p:nvSpPr>
        <p:spPr>
          <a:xfrm>
            <a:off x="4289857" y="6305347"/>
            <a:ext cx="609049" cy="679466"/>
          </a:xfrm>
          <a:custGeom>
            <a:avLst/>
            <a:gdLst/>
            <a:ahLst/>
            <a:cxnLst/>
            <a:rect l="l" t="t" r="r" b="b"/>
            <a:pathLst>
              <a:path w="609049" h="679466">
                <a:moveTo>
                  <a:pt x="0" y="0"/>
                </a:moveTo>
                <a:lnTo>
                  <a:pt x="609049" y="0"/>
                </a:lnTo>
                <a:lnTo>
                  <a:pt x="609049" y="679466"/>
                </a:lnTo>
                <a:lnTo>
                  <a:pt x="0" y="67946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42" name="TextBox 9"/>
          <p:cNvSpPr txBox="1"/>
          <p:nvPr>
            <p:custDataLst>
              <p:tags r:id="rId24"/>
            </p:custDataLst>
          </p:nvPr>
        </p:nvSpPr>
        <p:spPr>
          <a:xfrm>
            <a:off x="2346960" y="7451090"/>
            <a:ext cx="4464050" cy="645795"/>
          </a:xfrm>
          <a:prstGeom prst="rect">
            <a:avLst/>
          </a:prstGeom>
        </p:spPr>
        <p:txBody>
          <a:bodyPr wrap="square" lIns="0" tIns="0" rIns="0" bIns="0" rtlCol="0" anchor="t">
            <a:spAutoFit/>
          </a:bodyPr>
          <a:lstStyle/>
          <a:p>
            <a:pPr algn="ctr">
              <a:lnSpc>
                <a:spcPts val="5040"/>
              </a:lnSpc>
            </a:pPr>
            <a:r>
              <a:rPr lang="en-US" altLang="zh-CN"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Python &amp; Flask</a:t>
            </a:r>
            <a:endParaRPr lang="en-US" altLang="zh-CN"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43" name="TextBox 10"/>
          <p:cNvSpPr txBox="1"/>
          <p:nvPr>
            <p:custDataLst>
              <p:tags r:id="rId25"/>
            </p:custDataLst>
          </p:nvPr>
        </p:nvSpPr>
        <p:spPr>
          <a:xfrm>
            <a:off x="3164991" y="8267671"/>
            <a:ext cx="2858781" cy="322580"/>
          </a:xfrm>
          <a:prstGeom prst="rect">
            <a:avLst/>
          </a:prstGeom>
        </p:spPr>
        <p:txBody>
          <a:bodyPr lIns="0" tIns="0" rIns="0" bIns="0" rtlCol="0" anchor="t">
            <a:spAutoFit/>
          </a:bodyPr>
          <a:lstStyle/>
          <a:p>
            <a:pPr algn="ctr">
              <a:lnSpc>
                <a:spcPts val="2520"/>
              </a:lnSpc>
              <a:spcBef>
                <a:spcPct val="0"/>
              </a:spcBef>
            </a:pPr>
            <a:r>
              <a:rPr lang="zh-CN" altLang="en-US" sz="1800">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rPr>
              <a:t>轻量级敏捷微服务后端</a:t>
            </a:r>
            <a:endParaRPr lang="zh-CN" altLang="en-US" sz="1800">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endParaRPr>
          </a:p>
        </p:txBody>
      </p:sp>
      <p:grpSp>
        <p:nvGrpSpPr>
          <p:cNvPr id="44" name="Group 11"/>
          <p:cNvGrpSpPr/>
          <p:nvPr>
            <p:custDataLst>
              <p:tags r:id="rId26"/>
            </p:custDataLst>
          </p:nvPr>
        </p:nvGrpSpPr>
        <p:grpSpPr>
          <a:xfrm rot="0">
            <a:off x="9144114" y="6028888"/>
            <a:ext cx="1263578" cy="1263578"/>
            <a:chOff x="0" y="0"/>
            <a:chExt cx="812800" cy="812800"/>
          </a:xfrm>
        </p:grpSpPr>
        <p:sp>
          <p:nvSpPr>
            <p:cNvPr id="45" name="Freeform 12"/>
            <p:cNvSpPr/>
            <p:nvPr>
              <p:custDataLst>
                <p:tags r:id="rId27"/>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3B64C9"/>
              </a:solidFill>
              <a:prstDash val="solid"/>
              <a:miter/>
            </a:ln>
          </p:spPr>
        </p:sp>
        <p:sp>
          <p:nvSpPr>
            <p:cNvPr id="46" name="TextBox 13"/>
            <p:cNvSpPr txBox="1"/>
            <p:nvPr/>
          </p:nvSpPr>
          <p:spPr>
            <a:xfrm>
              <a:off x="76200" y="38100"/>
              <a:ext cx="660400" cy="698500"/>
            </a:xfrm>
            <a:prstGeom prst="rect">
              <a:avLst/>
            </a:prstGeom>
          </p:spPr>
          <p:txBody>
            <a:bodyPr lIns="50800" tIns="50800" rIns="50800" bIns="50800" rtlCol="0" anchor="ctr"/>
            <a:lstStyle/>
            <a:p>
              <a:pPr algn="ctr">
                <a:lnSpc>
                  <a:spcPts val="2520"/>
                </a:lnSpc>
              </a:pPr>
            </a:p>
          </p:txBody>
        </p:sp>
      </p:grpSp>
      <p:sp>
        <p:nvSpPr>
          <p:cNvPr id="47" name="Freeform 14"/>
          <p:cNvSpPr/>
          <p:nvPr>
            <p:custDataLst>
              <p:tags r:id="rId28"/>
            </p:custDataLst>
          </p:nvPr>
        </p:nvSpPr>
        <p:spPr>
          <a:xfrm>
            <a:off x="9471379" y="6320944"/>
            <a:ext cx="609049" cy="679466"/>
          </a:xfrm>
          <a:custGeom>
            <a:avLst/>
            <a:gdLst/>
            <a:ahLst/>
            <a:cxnLst/>
            <a:rect l="l" t="t" r="r" b="b"/>
            <a:pathLst>
              <a:path w="609049" h="679466">
                <a:moveTo>
                  <a:pt x="0" y="0"/>
                </a:moveTo>
                <a:lnTo>
                  <a:pt x="609048" y="0"/>
                </a:lnTo>
                <a:lnTo>
                  <a:pt x="609048" y="679466"/>
                </a:lnTo>
                <a:lnTo>
                  <a:pt x="0" y="67946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48" name="TextBox 15"/>
          <p:cNvSpPr txBox="1"/>
          <p:nvPr>
            <p:custDataLst>
              <p:tags r:id="rId29"/>
            </p:custDataLst>
          </p:nvPr>
        </p:nvSpPr>
        <p:spPr>
          <a:xfrm>
            <a:off x="7683500" y="7466965"/>
            <a:ext cx="4139565" cy="645795"/>
          </a:xfrm>
          <a:prstGeom prst="rect">
            <a:avLst/>
          </a:prstGeom>
        </p:spPr>
        <p:txBody>
          <a:bodyPr wrap="square" lIns="0" tIns="0" rIns="0" bIns="0" rtlCol="0" anchor="t">
            <a:spAutoFit/>
          </a:bodyPr>
          <a:lstStyle/>
          <a:p>
            <a:pPr algn="ctr">
              <a:lnSpc>
                <a:spcPts val="5040"/>
              </a:lnSpc>
            </a:pPr>
            <a:r>
              <a:rPr lang="en-US" altLang="zh-CN"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Pandas </a:t>
            </a:r>
            <a:r>
              <a:rPr lang="en-US" altLang="zh-CN"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&amp; NumPy</a:t>
            </a:r>
            <a:endParaRPr lang="en-US" altLang="zh-CN"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49" name="TextBox 16"/>
          <p:cNvSpPr txBox="1"/>
          <p:nvPr>
            <p:custDataLst>
              <p:tags r:id="rId30"/>
            </p:custDataLst>
          </p:nvPr>
        </p:nvSpPr>
        <p:spPr>
          <a:xfrm>
            <a:off x="7463790" y="8283575"/>
            <a:ext cx="4587240" cy="312420"/>
          </a:xfrm>
          <a:prstGeom prst="rect">
            <a:avLst/>
          </a:prstGeom>
        </p:spPr>
        <p:txBody>
          <a:bodyPr wrap="square" lIns="0" tIns="0" rIns="0" bIns="0" rtlCol="0" anchor="t">
            <a:noAutofit/>
          </a:bodyPr>
          <a:lstStyle/>
          <a:p>
            <a:pPr algn="ctr">
              <a:lnSpc>
                <a:spcPts val="2520"/>
              </a:lnSpc>
              <a:spcBef>
                <a:spcPct val="0"/>
              </a:spcBef>
            </a:pPr>
            <a:r>
              <a:rPr lang="zh-CN" altLang="en-US" sz="1800">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rPr>
              <a:t>全链路数据清洗、特征切片与底层向量化计算</a:t>
            </a:r>
            <a:endParaRPr lang="zh-CN" altLang="en-US" sz="1800">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endParaRPr>
          </a:p>
        </p:txBody>
      </p:sp>
      <p:grpSp>
        <p:nvGrpSpPr>
          <p:cNvPr id="50" name="Group 17"/>
          <p:cNvGrpSpPr/>
          <p:nvPr>
            <p:custDataLst>
              <p:tags r:id="rId31"/>
            </p:custDataLst>
          </p:nvPr>
        </p:nvGrpSpPr>
        <p:grpSpPr>
          <a:xfrm rot="0">
            <a:off x="14554236" y="6028531"/>
            <a:ext cx="1263578" cy="1263578"/>
            <a:chOff x="0" y="0"/>
            <a:chExt cx="812800" cy="812800"/>
          </a:xfrm>
        </p:grpSpPr>
        <p:sp>
          <p:nvSpPr>
            <p:cNvPr id="51" name="Freeform 18"/>
            <p:cNvSpPr/>
            <p:nvPr>
              <p:custDataLst>
                <p:tags r:id="rId32"/>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3B64C9"/>
              </a:solidFill>
              <a:prstDash val="solid"/>
              <a:miter/>
            </a:ln>
          </p:spPr>
        </p:sp>
        <p:sp>
          <p:nvSpPr>
            <p:cNvPr id="52" name="TextBox 19"/>
            <p:cNvSpPr txBox="1"/>
            <p:nvPr/>
          </p:nvSpPr>
          <p:spPr>
            <a:xfrm>
              <a:off x="76200" y="38100"/>
              <a:ext cx="660400" cy="698500"/>
            </a:xfrm>
            <a:prstGeom prst="rect">
              <a:avLst/>
            </a:prstGeom>
          </p:spPr>
          <p:txBody>
            <a:bodyPr lIns="50800" tIns="50800" rIns="50800" bIns="50800" rtlCol="0" anchor="ctr"/>
            <a:lstStyle/>
            <a:p>
              <a:pPr algn="ctr">
                <a:lnSpc>
                  <a:spcPts val="2520"/>
                </a:lnSpc>
              </a:pPr>
            </a:p>
          </p:txBody>
        </p:sp>
      </p:grpSp>
      <p:sp>
        <p:nvSpPr>
          <p:cNvPr id="53" name="Freeform 20"/>
          <p:cNvSpPr/>
          <p:nvPr>
            <p:custDataLst>
              <p:tags r:id="rId33"/>
            </p:custDataLst>
          </p:nvPr>
        </p:nvSpPr>
        <p:spPr>
          <a:xfrm>
            <a:off x="14881501" y="6320587"/>
            <a:ext cx="609049" cy="679466"/>
          </a:xfrm>
          <a:custGeom>
            <a:avLst/>
            <a:gdLst/>
            <a:ahLst/>
            <a:cxnLst/>
            <a:rect l="l" t="t" r="r" b="b"/>
            <a:pathLst>
              <a:path w="609049" h="679466">
                <a:moveTo>
                  <a:pt x="0" y="0"/>
                </a:moveTo>
                <a:lnTo>
                  <a:pt x="609048" y="0"/>
                </a:lnTo>
                <a:lnTo>
                  <a:pt x="609048" y="679466"/>
                </a:lnTo>
                <a:lnTo>
                  <a:pt x="0" y="67946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54" name="TextBox 21"/>
          <p:cNvSpPr txBox="1"/>
          <p:nvPr>
            <p:custDataLst>
              <p:tags r:id="rId34"/>
            </p:custDataLst>
          </p:nvPr>
        </p:nvSpPr>
        <p:spPr>
          <a:xfrm>
            <a:off x="13134340" y="7466330"/>
            <a:ext cx="3886835" cy="645795"/>
          </a:xfrm>
          <a:prstGeom prst="rect">
            <a:avLst/>
          </a:prstGeom>
        </p:spPr>
        <p:txBody>
          <a:bodyPr wrap="square" lIns="0" tIns="0" rIns="0" bIns="0" rtlCol="0" anchor="t">
            <a:spAutoFit/>
          </a:bodyPr>
          <a:lstStyle/>
          <a:p>
            <a:pPr algn="ctr">
              <a:lnSpc>
                <a:spcPts val="5040"/>
              </a:lnSpc>
            </a:pPr>
            <a:r>
              <a:rPr lang="en-US" altLang="zh-CN"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Scikit-learn</a:t>
            </a:r>
            <a:endParaRPr lang="en-US" altLang="zh-CN"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55" name="TextBox 22"/>
          <p:cNvSpPr txBox="1"/>
          <p:nvPr>
            <p:custDataLst>
              <p:tags r:id="rId35"/>
            </p:custDataLst>
          </p:nvPr>
        </p:nvSpPr>
        <p:spPr>
          <a:xfrm>
            <a:off x="13485495" y="8282940"/>
            <a:ext cx="3243580" cy="294640"/>
          </a:xfrm>
          <a:prstGeom prst="rect">
            <a:avLst/>
          </a:prstGeom>
        </p:spPr>
        <p:txBody>
          <a:bodyPr wrap="square" lIns="0" tIns="0" rIns="0" bIns="0" rtlCol="0" anchor="t">
            <a:noAutofit/>
          </a:bodyPr>
          <a:lstStyle/>
          <a:p>
            <a:pPr algn="ctr">
              <a:lnSpc>
                <a:spcPts val="2520"/>
              </a:lnSpc>
              <a:spcBef>
                <a:spcPct val="0"/>
              </a:spcBef>
            </a:pPr>
            <a:r>
              <a:rPr lang="zh-CN" altLang="en-US" sz="1800">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rPr>
              <a:t>高阶机器学习与推断算法模块</a:t>
            </a:r>
            <a:endParaRPr lang="zh-CN" altLang="en-US" sz="1800">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l="-13372" t="-8763" r="-16502" b="-45065"/>
            </a:stretch>
          </a:blipFill>
        </p:spPr>
      </p:sp>
      <p:sp>
        <p:nvSpPr>
          <p:cNvPr id="3" name="Freeform 3"/>
          <p:cNvSpPr/>
          <p:nvPr/>
        </p:nvSpPr>
        <p:spPr>
          <a:xfrm rot="1295584" flipV="1">
            <a:off x="9951402" y="-2805887"/>
            <a:ext cx="13085169" cy="5743161"/>
          </a:xfrm>
          <a:custGeom>
            <a:avLst/>
            <a:gdLst/>
            <a:ahLst/>
            <a:cxnLst/>
            <a:rect l="l" t="t" r="r" b="b"/>
            <a:pathLst>
              <a:path w="13085169" h="5743161">
                <a:moveTo>
                  <a:pt x="0" y="5743161"/>
                </a:moveTo>
                <a:lnTo>
                  <a:pt x="13085169" y="5743161"/>
                </a:lnTo>
                <a:lnTo>
                  <a:pt x="13085169" y="0"/>
                </a:lnTo>
                <a:lnTo>
                  <a:pt x="0" y="0"/>
                </a:lnTo>
                <a:lnTo>
                  <a:pt x="0" y="5743161"/>
                </a:lnTo>
                <a:close/>
              </a:path>
            </a:pathLst>
          </a:custGeom>
          <a:blipFill>
            <a:blip r:embed="rId2">
              <a:alphaModFix amt="94000"/>
            </a:blip>
            <a:stretch>
              <a:fillRect l="-2095" r="-2095"/>
            </a:stretch>
          </a:blipFill>
        </p:spPr>
      </p:sp>
      <p:sp>
        <p:nvSpPr>
          <p:cNvPr id="4" name="Freeform 4"/>
          <p:cNvSpPr/>
          <p:nvPr/>
        </p:nvSpPr>
        <p:spPr>
          <a:xfrm rot="1295584" flipV="1">
            <a:off x="-5707593" y="7349726"/>
            <a:ext cx="13085169" cy="5743161"/>
          </a:xfrm>
          <a:custGeom>
            <a:avLst/>
            <a:gdLst/>
            <a:ahLst/>
            <a:cxnLst/>
            <a:rect l="l" t="t" r="r" b="b"/>
            <a:pathLst>
              <a:path w="13085169" h="5743161">
                <a:moveTo>
                  <a:pt x="0" y="5743161"/>
                </a:moveTo>
                <a:lnTo>
                  <a:pt x="13085169" y="5743161"/>
                </a:lnTo>
                <a:lnTo>
                  <a:pt x="13085169" y="0"/>
                </a:lnTo>
                <a:lnTo>
                  <a:pt x="0" y="0"/>
                </a:lnTo>
                <a:lnTo>
                  <a:pt x="0" y="5743161"/>
                </a:lnTo>
                <a:close/>
              </a:path>
            </a:pathLst>
          </a:custGeom>
          <a:blipFill>
            <a:blip r:embed="rId2">
              <a:alphaModFix amt="94000"/>
            </a:blip>
            <a:stretch>
              <a:fillRect l="-2095" r="-2095"/>
            </a:stretch>
          </a:blipFill>
        </p:spPr>
      </p:sp>
      <p:sp>
        <p:nvSpPr>
          <p:cNvPr id="5" name="TextBox 5"/>
          <p:cNvSpPr txBox="1"/>
          <p:nvPr/>
        </p:nvSpPr>
        <p:spPr>
          <a:xfrm>
            <a:off x="3453957" y="3005520"/>
            <a:ext cx="11380086" cy="2402205"/>
          </a:xfrm>
          <a:prstGeom prst="rect">
            <a:avLst/>
          </a:prstGeom>
        </p:spPr>
        <p:txBody>
          <a:bodyPr lIns="0" tIns="0" rIns="0" bIns="0" rtlCol="0" anchor="t">
            <a:spAutoFit/>
          </a:bodyPr>
          <a:lstStyle/>
          <a:p>
            <a:pPr algn="ctr">
              <a:lnSpc>
                <a:spcPts val="18735"/>
              </a:lnSpc>
            </a:pPr>
            <a:r>
              <a:rPr lang="zh-CN" altLang="en-US" sz="13385" spc="66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系统设计</a:t>
            </a:r>
            <a:endParaRPr lang="zh-CN" altLang="en-US" sz="13385" spc="66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grpSp>
        <p:nvGrpSpPr>
          <p:cNvPr id="8" name="Group 8"/>
          <p:cNvGrpSpPr/>
          <p:nvPr/>
        </p:nvGrpSpPr>
        <p:grpSpPr>
          <a:xfrm rot="0">
            <a:off x="7486382" y="7347201"/>
            <a:ext cx="3315236" cy="641186"/>
            <a:chOff x="0" y="0"/>
            <a:chExt cx="1328788" cy="256995"/>
          </a:xfrm>
        </p:grpSpPr>
        <p:sp>
          <p:nvSpPr>
            <p:cNvPr id="9" name="Freeform 9"/>
            <p:cNvSpPr/>
            <p:nvPr/>
          </p:nvSpPr>
          <p:spPr>
            <a:xfrm>
              <a:off x="0" y="0"/>
              <a:ext cx="1328788" cy="256995"/>
            </a:xfrm>
            <a:custGeom>
              <a:avLst/>
              <a:gdLst/>
              <a:ahLst/>
              <a:cxnLst/>
              <a:rect l="l" t="t" r="r" b="b"/>
              <a:pathLst>
                <a:path w="1328788" h="256995">
                  <a:moveTo>
                    <a:pt x="91075" y="0"/>
                  </a:moveTo>
                  <a:lnTo>
                    <a:pt x="1237713" y="0"/>
                  </a:lnTo>
                  <a:cubicBezTo>
                    <a:pt x="1261868" y="0"/>
                    <a:pt x="1285033" y="9595"/>
                    <a:pt x="1302113" y="26675"/>
                  </a:cubicBezTo>
                  <a:cubicBezTo>
                    <a:pt x="1319193" y="43755"/>
                    <a:pt x="1328788" y="66920"/>
                    <a:pt x="1328788" y="91075"/>
                  </a:cubicBezTo>
                  <a:lnTo>
                    <a:pt x="1328788" y="165920"/>
                  </a:lnTo>
                  <a:cubicBezTo>
                    <a:pt x="1328788" y="216219"/>
                    <a:pt x="1288012" y="256995"/>
                    <a:pt x="1237713" y="256995"/>
                  </a:cubicBezTo>
                  <a:lnTo>
                    <a:pt x="91075" y="256995"/>
                  </a:lnTo>
                  <a:cubicBezTo>
                    <a:pt x="40776" y="256995"/>
                    <a:pt x="0" y="216219"/>
                    <a:pt x="0" y="165920"/>
                  </a:cubicBezTo>
                  <a:lnTo>
                    <a:pt x="0" y="91075"/>
                  </a:lnTo>
                  <a:cubicBezTo>
                    <a:pt x="0" y="40776"/>
                    <a:pt x="40776" y="0"/>
                    <a:pt x="91075" y="0"/>
                  </a:cubicBezTo>
                  <a:close/>
                </a:path>
              </a:pathLst>
            </a:custGeom>
            <a:solidFill>
              <a:srgbClr val="3B64C9"/>
            </a:solidFill>
          </p:spPr>
        </p:sp>
        <p:sp>
          <p:nvSpPr>
            <p:cNvPr id="10" name="TextBox 10"/>
            <p:cNvSpPr txBox="1"/>
            <p:nvPr/>
          </p:nvSpPr>
          <p:spPr>
            <a:xfrm>
              <a:off x="0" y="-47625"/>
              <a:ext cx="1328788" cy="304620"/>
            </a:xfrm>
            <a:prstGeom prst="rect">
              <a:avLst/>
            </a:prstGeom>
          </p:spPr>
          <p:txBody>
            <a:bodyPr lIns="33381" tIns="33381" rIns="33381" bIns="33381" rtlCol="0" anchor="ctr"/>
            <a:lstStyle/>
            <a:p>
              <a:pPr algn="ctr">
                <a:lnSpc>
                  <a:spcPts val="3660"/>
                </a:lnSpc>
              </a:pPr>
            </a:p>
          </p:txBody>
        </p:sp>
      </p:grpSp>
      <p:sp>
        <p:nvSpPr>
          <p:cNvPr id="11" name="TextBox 11"/>
          <p:cNvSpPr txBox="1"/>
          <p:nvPr/>
        </p:nvSpPr>
        <p:spPr>
          <a:xfrm>
            <a:off x="7486382" y="7386686"/>
            <a:ext cx="3315236" cy="505064"/>
          </a:xfrm>
          <a:prstGeom prst="rect">
            <a:avLst/>
          </a:prstGeom>
        </p:spPr>
        <p:txBody>
          <a:bodyPr lIns="0" tIns="0" rIns="0" bIns="0" rtlCol="0" anchor="t">
            <a:spAutoFit/>
          </a:bodyPr>
          <a:lstStyle/>
          <a:p>
            <a:pPr marL="0" lvl="0" indent="0" algn="ctr">
              <a:lnSpc>
                <a:spcPts val="4185"/>
              </a:lnSpc>
              <a:spcBef>
                <a:spcPct val="0"/>
              </a:spcBef>
            </a:pPr>
            <a:r>
              <a:rPr lang="en-US" sz="2990" spc="149">
                <a:solidFill>
                  <a:srgbClr val="FFFFFF"/>
                </a:solidFill>
                <a:latin typeface="思源宋体-超粗体" panose="02020900000000000000" charset="-122"/>
                <a:ea typeface="思源宋体-超粗体" panose="02020900000000000000" charset="-122"/>
                <a:cs typeface="思源宋体-超粗体" panose="02020900000000000000" charset="-122"/>
                <a:sym typeface="思源宋体-超粗体" panose="02020900000000000000" charset="-122"/>
              </a:rPr>
              <a:t>PART THREE</a:t>
            </a:r>
            <a:endParaRPr lang="en-US" sz="2990" spc="149">
              <a:solidFill>
                <a:srgbClr val="FFFFFF"/>
              </a:solidFill>
              <a:latin typeface="思源宋体-超粗体" panose="02020900000000000000" charset="-122"/>
              <a:ea typeface="思源宋体-超粗体" panose="02020900000000000000" charset="-122"/>
              <a:cs typeface="思源宋体-超粗体" panose="02020900000000000000" charset="-122"/>
              <a:sym typeface="思源宋体-超粗体" panose="02020900000000000000"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grpSp>
        <p:nvGrpSpPr>
          <p:cNvPr id="3" name="Group 3"/>
          <p:cNvGrpSpPr/>
          <p:nvPr/>
        </p:nvGrpSpPr>
        <p:grpSpPr>
          <a:xfrm rot="0">
            <a:off x="10427417" y="2472404"/>
            <a:ext cx="5738594" cy="6758566"/>
            <a:chOff x="0" y="0"/>
            <a:chExt cx="7651459" cy="9011421"/>
          </a:xfrm>
        </p:grpSpPr>
        <p:pic>
          <p:nvPicPr>
            <p:cNvPr id="4" name="Picture 4"/>
            <p:cNvPicPr>
              <a:picLocks noChangeAspect="1"/>
            </p:cNvPicPr>
            <p:nvPr/>
          </p:nvPicPr>
          <p:blipFill>
            <a:blip r:embed="rId2"/>
            <a:srcRect t="6429" b="6429"/>
            <a:stretch>
              <a:fillRect/>
            </a:stretch>
          </p:blipFill>
          <p:spPr>
            <a:xfrm>
              <a:off x="0" y="0"/>
              <a:ext cx="7651459" cy="4442211"/>
            </a:xfrm>
            <a:prstGeom prst="rect">
              <a:avLst/>
            </a:prstGeom>
          </p:spPr>
        </p:pic>
        <p:pic>
          <p:nvPicPr>
            <p:cNvPr id="5" name="Picture 5"/>
            <p:cNvPicPr>
              <a:picLocks noChangeAspect="1"/>
            </p:cNvPicPr>
            <p:nvPr/>
          </p:nvPicPr>
          <p:blipFill>
            <a:blip r:embed="rId3"/>
            <a:srcRect b="33731"/>
            <a:stretch>
              <a:fillRect/>
            </a:stretch>
          </p:blipFill>
          <p:spPr>
            <a:xfrm>
              <a:off x="0" y="4569211"/>
              <a:ext cx="3762229" cy="4442211"/>
            </a:xfrm>
            <a:prstGeom prst="rect">
              <a:avLst/>
            </a:prstGeom>
          </p:spPr>
        </p:pic>
        <p:pic>
          <p:nvPicPr>
            <p:cNvPr id="6" name="Picture 6"/>
            <p:cNvPicPr>
              <a:picLocks noChangeAspect="1"/>
            </p:cNvPicPr>
            <p:nvPr/>
          </p:nvPicPr>
          <p:blipFill>
            <a:blip r:embed="rId4"/>
            <a:srcRect l="21786" r="21786"/>
            <a:stretch>
              <a:fillRect/>
            </a:stretch>
          </p:blipFill>
          <p:spPr>
            <a:xfrm>
              <a:off x="3889229" y="4569211"/>
              <a:ext cx="3762229" cy="4442211"/>
            </a:xfrm>
            <a:prstGeom prst="rect">
              <a:avLst/>
            </a:prstGeom>
          </p:spPr>
        </p:pic>
      </p:grpSp>
      <p:sp>
        <p:nvSpPr>
          <p:cNvPr id="7" name="Freeform 7"/>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5">
              <a:alphaModFix amt="94000"/>
            </a:blip>
            <a:stretch>
              <a:fillRect l="-2401" r="-16997"/>
            </a:stretch>
          </a:blipFill>
        </p:spPr>
      </p:sp>
      <p:sp>
        <p:nvSpPr>
          <p:cNvPr id="8" name="Freeform 8"/>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6">
              <a:alphaModFix amt="13000"/>
            </a:blip>
            <a:stretch>
              <a:fillRect/>
            </a:stretch>
          </a:blipFill>
          <a:ln cap="sq">
            <a:noFill/>
            <a:prstDash val="solid"/>
            <a:miter/>
          </a:ln>
        </p:spPr>
      </p:sp>
      <p:sp>
        <p:nvSpPr>
          <p:cNvPr id="9" name="AutoShape 9"/>
          <p:cNvSpPr/>
          <p:nvPr>
            <p:custDataLst>
              <p:tags r:id="rId7"/>
            </p:custDataLst>
          </p:nvPr>
        </p:nvSpPr>
        <p:spPr>
          <a:xfrm>
            <a:off x="3147943" y="3484977"/>
            <a:ext cx="0" cy="7062766"/>
          </a:xfrm>
          <a:prstGeom prst="line">
            <a:avLst/>
          </a:prstGeom>
          <a:ln w="19050" cap="rnd">
            <a:solidFill>
              <a:srgbClr val="3B64C9">
                <a:alpha val="50980"/>
              </a:srgbClr>
            </a:solidFill>
            <a:prstDash val="solid"/>
            <a:headEnd type="oval" w="lg" len="lg"/>
            <a:tailEnd type="oval" w="lg" len="lg"/>
          </a:ln>
        </p:spPr>
      </p:sp>
      <p:grpSp>
        <p:nvGrpSpPr>
          <p:cNvPr id="10" name="Group 10"/>
          <p:cNvGrpSpPr/>
          <p:nvPr>
            <p:custDataLst>
              <p:tags r:id="rId8"/>
            </p:custDataLst>
          </p:nvPr>
        </p:nvGrpSpPr>
        <p:grpSpPr>
          <a:xfrm rot="0">
            <a:off x="2121989" y="3113574"/>
            <a:ext cx="808336" cy="808336"/>
            <a:chOff x="0" y="0"/>
            <a:chExt cx="812800" cy="812800"/>
          </a:xfrm>
        </p:grpSpPr>
        <p:sp>
          <p:nvSpPr>
            <p:cNvPr id="11" name="Freeform 11"/>
            <p:cNvSpPr/>
            <p:nvPr>
              <p:custDataLst>
                <p:tags r:id="rId9"/>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3B64C9"/>
              </a:solidFill>
              <a:prstDash val="solid"/>
              <a:miter/>
            </a:ln>
          </p:spPr>
        </p:sp>
        <p:sp>
          <p:nvSpPr>
            <p:cNvPr id="12" name="TextBox 12"/>
            <p:cNvSpPr txBox="1"/>
            <p:nvPr/>
          </p:nvSpPr>
          <p:spPr>
            <a:xfrm>
              <a:off x="76200" y="38100"/>
              <a:ext cx="660400" cy="698500"/>
            </a:xfrm>
            <a:prstGeom prst="rect">
              <a:avLst/>
            </a:prstGeom>
          </p:spPr>
          <p:txBody>
            <a:bodyPr lIns="50800" tIns="50800" rIns="50800" bIns="50800" rtlCol="0" anchor="ctr"/>
            <a:lstStyle/>
            <a:p>
              <a:pPr algn="ctr">
                <a:lnSpc>
                  <a:spcPts val="2520"/>
                </a:lnSpc>
              </a:pPr>
            </a:p>
          </p:txBody>
        </p:sp>
      </p:grpSp>
      <p:sp>
        <p:nvSpPr>
          <p:cNvPr id="13" name="Freeform 13"/>
          <p:cNvSpPr/>
          <p:nvPr>
            <p:custDataLst>
              <p:tags r:id="rId10"/>
            </p:custDataLst>
          </p:nvPr>
        </p:nvSpPr>
        <p:spPr>
          <a:xfrm>
            <a:off x="2331347" y="3300408"/>
            <a:ext cx="389621" cy="434668"/>
          </a:xfrm>
          <a:custGeom>
            <a:avLst/>
            <a:gdLst/>
            <a:ahLst/>
            <a:cxnLst/>
            <a:rect l="l" t="t" r="r" b="b"/>
            <a:pathLst>
              <a:path w="389621" h="434668">
                <a:moveTo>
                  <a:pt x="0" y="0"/>
                </a:moveTo>
                <a:lnTo>
                  <a:pt x="389621" y="0"/>
                </a:lnTo>
                <a:lnTo>
                  <a:pt x="389621" y="434668"/>
                </a:lnTo>
                <a:lnTo>
                  <a:pt x="0" y="43466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14" name="Group 14"/>
          <p:cNvGrpSpPr/>
          <p:nvPr>
            <p:custDataLst>
              <p:tags r:id="rId13"/>
            </p:custDataLst>
          </p:nvPr>
        </p:nvGrpSpPr>
        <p:grpSpPr>
          <a:xfrm rot="0">
            <a:off x="3072504" y="3442303"/>
            <a:ext cx="150878" cy="150878"/>
            <a:chOff x="0" y="0"/>
            <a:chExt cx="812800" cy="812800"/>
          </a:xfrm>
        </p:grpSpPr>
        <p:sp>
          <p:nvSpPr>
            <p:cNvPr id="15" name="Freeform 15"/>
            <p:cNvSpPr/>
            <p:nvPr>
              <p:custDataLst>
                <p:tags r:id="rId14"/>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593DD"/>
            </a:solidFill>
          </p:spPr>
        </p:sp>
        <p:sp>
          <p:nvSpPr>
            <p:cNvPr id="16" name="TextBox 16"/>
            <p:cNvSpPr txBox="1"/>
            <p:nvPr/>
          </p:nvSpPr>
          <p:spPr>
            <a:xfrm>
              <a:off x="76200" y="38100"/>
              <a:ext cx="660400" cy="698500"/>
            </a:xfrm>
            <a:prstGeom prst="rect">
              <a:avLst/>
            </a:prstGeom>
          </p:spPr>
          <p:txBody>
            <a:bodyPr lIns="50800" tIns="50800" rIns="50800" bIns="50800" rtlCol="0" anchor="ctr"/>
            <a:lstStyle/>
            <a:p>
              <a:pPr algn="ctr">
                <a:lnSpc>
                  <a:spcPts val="2520"/>
                </a:lnSpc>
              </a:pPr>
            </a:p>
          </p:txBody>
        </p:sp>
      </p:grpSp>
      <p:grpSp>
        <p:nvGrpSpPr>
          <p:cNvPr id="17" name="Group 17"/>
          <p:cNvGrpSpPr/>
          <p:nvPr>
            <p:custDataLst>
              <p:tags r:id="rId15"/>
            </p:custDataLst>
          </p:nvPr>
        </p:nvGrpSpPr>
        <p:grpSpPr>
          <a:xfrm rot="0">
            <a:off x="2121989" y="5177933"/>
            <a:ext cx="808336" cy="808336"/>
            <a:chOff x="0" y="0"/>
            <a:chExt cx="812800" cy="812800"/>
          </a:xfrm>
        </p:grpSpPr>
        <p:sp>
          <p:nvSpPr>
            <p:cNvPr id="18" name="Freeform 18"/>
            <p:cNvSpPr/>
            <p:nvPr>
              <p:custDataLst>
                <p:tags r:id="rId16"/>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3B64C9"/>
              </a:solidFill>
              <a:prstDash val="solid"/>
              <a:miter/>
            </a:ln>
          </p:spPr>
        </p:sp>
        <p:sp>
          <p:nvSpPr>
            <p:cNvPr id="19" name="TextBox 19"/>
            <p:cNvSpPr txBox="1"/>
            <p:nvPr/>
          </p:nvSpPr>
          <p:spPr>
            <a:xfrm>
              <a:off x="76200" y="38100"/>
              <a:ext cx="660400" cy="698500"/>
            </a:xfrm>
            <a:prstGeom prst="rect">
              <a:avLst/>
            </a:prstGeom>
          </p:spPr>
          <p:txBody>
            <a:bodyPr lIns="50800" tIns="50800" rIns="50800" bIns="50800" rtlCol="0" anchor="ctr"/>
            <a:lstStyle/>
            <a:p>
              <a:pPr algn="ctr">
                <a:lnSpc>
                  <a:spcPts val="2520"/>
                </a:lnSpc>
              </a:pPr>
            </a:p>
          </p:txBody>
        </p:sp>
      </p:grpSp>
      <p:sp>
        <p:nvSpPr>
          <p:cNvPr id="20" name="Freeform 20"/>
          <p:cNvSpPr/>
          <p:nvPr>
            <p:custDataLst>
              <p:tags r:id="rId17"/>
            </p:custDataLst>
          </p:nvPr>
        </p:nvSpPr>
        <p:spPr>
          <a:xfrm>
            <a:off x="2331347" y="5364767"/>
            <a:ext cx="389621" cy="434668"/>
          </a:xfrm>
          <a:custGeom>
            <a:avLst/>
            <a:gdLst/>
            <a:ahLst/>
            <a:cxnLst/>
            <a:rect l="l" t="t" r="r" b="b"/>
            <a:pathLst>
              <a:path w="389621" h="434668">
                <a:moveTo>
                  <a:pt x="0" y="0"/>
                </a:moveTo>
                <a:lnTo>
                  <a:pt x="389621" y="0"/>
                </a:lnTo>
                <a:lnTo>
                  <a:pt x="389621" y="434669"/>
                </a:lnTo>
                <a:lnTo>
                  <a:pt x="0" y="434669"/>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21" name="Group 21"/>
          <p:cNvGrpSpPr/>
          <p:nvPr>
            <p:custDataLst>
              <p:tags r:id="rId18"/>
            </p:custDataLst>
          </p:nvPr>
        </p:nvGrpSpPr>
        <p:grpSpPr>
          <a:xfrm rot="0">
            <a:off x="3072504" y="5506662"/>
            <a:ext cx="150878" cy="150878"/>
            <a:chOff x="0" y="0"/>
            <a:chExt cx="812800" cy="812800"/>
          </a:xfrm>
        </p:grpSpPr>
        <p:sp>
          <p:nvSpPr>
            <p:cNvPr id="22" name="Freeform 22"/>
            <p:cNvSpPr/>
            <p:nvPr>
              <p:custDataLst>
                <p:tags r:id="rId19"/>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593DD"/>
            </a:solidFill>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520"/>
                </a:lnSpc>
              </a:pPr>
            </a:p>
          </p:txBody>
        </p:sp>
      </p:grpSp>
      <p:grpSp>
        <p:nvGrpSpPr>
          <p:cNvPr id="24" name="Group 24"/>
          <p:cNvGrpSpPr/>
          <p:nvPr>
            <p:custDataLst>
              <p:tags r:id="rId20"/>
            </p:custDataLst>
          </p:nvPr>
        </p:nvGrpSpPr>
        <p:grpSpPr>
          <a:xfrm rot="0">
            <a:off x="2121989" y="7242293"/>
            <a:ext cx="808336" cy="808336"/>
            <a:chOff x="0" y="0"/>
            <a:chExt cx="812800" cy="812800"/>
          </a:xfrm>
        </p:grpSpPr>
        <p:sp>
          <p:nvSpPr>
            <p:cNvPr id="25" name="Freeform 25"/>
            <p:cNvSpPr/>
            <p:nvPr>
              <p:custDataLst>
                <p:tags r:id="rId21"/>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3B64C9"/>
              </a:solidFill>
              <a:prstDash val="solid"/>
              <a:miter/>
            </a:ln>
          </p:spPr>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520"/>
                </a:lnSpc>
              </a:pPr>
            </a:p>
          </p:txBody>
        </p:sp>
      </p:grpSp>
      <p:sp>
        <p:nvSpPr>
          <p:cNvPr id="27" name="Freeform 27"/>
          <p:cNvSpPr/>
          <p:nvPr>
            <p:custDataLst>
              <p:tags r:id="rId22"/>
            </p:custDataLst>
          </p:nvPr>
        </p:nvSpPr>
        <p:spPr>
          <a:xfrm>
            <a:off x="2331347" y="7429127"/>
            <a:ext cx="389621" cy="434668"/>
          </a:xfrm>
          <a:custGeom>
            <a:avLst/>
            <a:gdLst/>
            <a:ahLst/>
            <a:cxnLst/>
            <a:rect l="l" t="t" r="r" b="b"/>
            <a:pathLst>
              <a:path w="389621" h="434668">
                <a:moveTo>
                  <a:pt x="0" y="0"/>
                </a:moveTo>
                <a:lnTo>
                  <a:pt x="389621" y="0"/>
                </a:lnTo>
                <a:lnTo>
                  <a:pt x="389621" y="434668"/>
                </a:lnTo>
                <a:lnTo>
                  <a:pt x="0" y="43466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28" name="Group 28"/>
          <p:cNvGrpSpPr/>
          <p:nvPr>
            <p:custDataLst>
              <p:tags r:id="rId23"/>
            </p:custDataLst>
          </p:nvPr>
        </p:nvGrpSpPr>
        <p:grpSpPr>
          <a:xfrm rot="0">
            <a:off x="3072504" y="7571022"/>
            <a:ext cx="150878" cy="150878"/>
            <a:chOff x="0" y="0"/>
            <a:chExt cx="812800" cy="812800"/>
          </a:xfrm>
        </p:grpSpPr>
        <p:sp>
          <p:nvSpPr>
            <p:cNvPr id="29" name="Freeform 29"/>
            <p:cNvSpPr/>
            <p:nvPr>
              <p:custDataLst>
                <p:tags r:id="rId24"/>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7593DD"/>
            </a:solidFill>
          </p:spPr>
        </p:sp>
        <p:sp>
          <p:nvSpPr>
            <p:cNvPr id="30" name="TextBox 30"/>
            <p:cNvSpPr txBox="1"/>
            <p:nvPr/>
          </p:nvSpPr>
          <p:spPr>
            <a:xfrm>
              <a:off x="76200" y="38100"/>
              <a:ext cx="660400" cy="698500"/>
            </a:xfrm>
            <a:prstGeom prst="rect">
              <a:avLst/>
            </a:prstGeom>
          </p:spPr>
          <p:txBody>
            <a:bodyPr lIns="50800" tIns="50800" rIns="50800" bIns="50800" rtlCol="0" anchor="ctr"/>
            <a:lstStyle/>
            <a:p>
              <a:pPr algn="ctr">
                <a:lnSpc>
                  <a:spcPts val="2520"/>
                </a:lnSpc>
              </a:pPr>
            </a:p>
          </p:txBody>
        </p:sp>
      </p:grpSp>
      <p:sp>
        <p:nvSpPr>
          <p:cNvPr id="31" name="TextBox 31"/>
          <p:cNvSpPr txBox="1"/>
          <p:nvPr>
            <p:custDataLst>
              <p:tags r:id="rId25"/>
            </p:custDataLst>
          </p:nvPr>
        </p:nvSpPr>
        <p:spPr>
          <a:xfrm>
            <a:off x="3365561" y="3046899"/>
            <a:ext cx="6845257" cy="645795"/>
          </a:xfrm>
          <a:prstGeom prst="rect">
            <a:avLst/>
          </a:prstGeom>
        </p:spPr>
        <p:txBody>
          <a:bodyPr lIns="0" tIns="0" rIns="0" bIns="0" rtlCol="0" anchor="t">
            <a:spAutoFit/>
          </a:bodyPr>
          <a:lstStyle/>
          <a:p>
            <a:pPr algn="l">
              <a:lnSpc>
                <a:spcPts val="5040"/>
              </a:lnSpc>
            </a:pPr>
            <a:r>
              <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功能设计</a:t>
            </a:r>
            <a:endPar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32" name="TextBox 32"/>
          <p:cNvSpPr txBox="1"/>
          <p:nvPr>
            <p:custDataLst>
              <p:tags r:id="rId26"/>
            </p:custDataLst>
          </p:nvPr>
        </p:nvSpPr>
        <p:spPr>
          <a:xfrm>
            <a:off x="3365561" y="3710893"/>
            <a:ext cx="6845257" cy="394970"/>
          </a:xfrm>
          <a:prstGeom prst="rect">
            <a:avLst/>
          </a:prstGeom>
        </p:spPr>
        <p:txBody>
          <a:bodyPr lIns="0" tIns="0" rIns="0" bIns="0" rtlCol="0" anchor="t">
            <a:spAutoFit/>
          </a:bodyPr>
          <a:lstStyle/>
          <a:p>
            <a:pPr algn="l">
              <a:lnSpc>
                <a:spcPts val="3080"/>
              </a:lnSpc>
            </a:pPr>
            <a:r>
              <a:rPr lang="zh-CN" altLang="en-US" sz="2800" b="1">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rPr>
              <a:t>旨在介绍系统实现了的详细功能</a:t>
            </a:r>
            <a:endParaRPr lang="zh-CN" altLang="en-US" sz="2800" b="1">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endParaRPr>
          </a:p>
        </p:txBody>
      </p:sp>
      <p:sp>
        <p:nvSpPr>
          <p:cNvPr id="33" name="TextBox 33"/>
          <p:cNvSpPr txBox="1"/>
          <p:nvPr>
            <p:custDataLst>
              <p:tags r:id="rId27"/>
            </p:custDataLst>
          </p:nvPr>
        </p:nvSpPr>
        <p:spPr>
          <a:xfrm>
            <a:off x="3365561" y="5111258"/>
            <a:ext cx="6845257" cy="645795"/>
          </a:xfrm>
          <a:prstGeom prst="rect">
            <a:avLst/>
          </a:prstGeom>
        </p:spPr>
        <p:txBody>
          <a:bodyPr lIns="0" tIns="0" rIns="0" bIns="0" rtlCol="0" anchor="t">
            <a:spAutoFit/>
          </a:bodyPr>
          <a:lstStyle/>
          <a:p>
            <a:pPr algn="l">
              <a:lnSpc>
                <a:spcPts val="5040"/>
              </a:lnSpc>
            </a:pPr>
            <a:r>
              <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界面设计</a:t>
            </a:r>
            <a:endPar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34" name="TextBox 34"/>
          <p:cNvSpPr txBox="1"/>
          <p:nvPr>
            <p:custDataLst>
              <p:tags r:id="rId28"/>
            </p:custDataLst>
          </p:nvPr>
        </p:nvSpPr>
        <p:spPr>
          <a:xfrm>
            <a:off x="3365561" y="5775252"/>
            <a:ext cx="6845257" cy="394970"/>
          </a:xfrm>
          <a:prstGeom prst="rect">
            <a:avLst/>
          </a:prstGeom>
        </p:spPr>
        <p:txBody>
          <a:bodyPr lIns="0" tIns="0" rIns="0" bIns="0" rtlCol="0" anchor="t">
            <a:spAutoFit/>
          </a:bodyPr>
          <a:lstStyle/>
          <a:p>
            <a:pPr algn="l">
              <a:lnSpc>
                <a:spcPts val="3080"/>
              </a:lnSpc>
            </a:pPr>
            <a:r>
              <a:rPr lang="zh-CN" altLang="en-US" sz="2800" b="1">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rPr>
              <a:t>旨在介绍系统使用的界面有什么特点</a:t>
            </a:r>
            <a:endParaRPr lang="zh-CN" altLang="en-US" sz="2800" b="1">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endParaRPr>
          </a:p>
        </p:txBody>
      </p:sp>
      <p:sp>
        <p:nvSpPr>
          <p:cNvPr id="35" name="TextBox 35"/>
          <p:cNvSpPr txBox="1"/>
          <p:nvPr>
            <p:custDataLst>
              <p:tags r:id="rId29"/>
            </p:custDataLst>
          </p:nvPr>
        </p:nvSpPr>
        <p:spPr>
          <a:xfrm>
            <a:off x="3365561" y="7175618"/>
            <a:ext cx="6845257" cy="645795"/>
          </a:xfrm>
          <a:prstGeom prst="rect">
            <a:avLst/>
          </a:prstGeom>
        </p:spPr>
        <p:txBody>
          <a:bodyPr lIns="0" tIns="0" rIns="0" bIns="0" rtlCol="0" anchor="t">
            <a:spAutoFit/>
          </a:bodyPr>
          <a:lstStyle/>
          <a:p>
            <a:pPr algn="l">
              <a:lnSpc>
                <a:spcPts val="5040"/>
              </a:lnSpc>
            </a:pPr>
            <a:r>
              <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部署</a:t>
            </a:r>
            <a:r>
              <a:rPr lang="zh-CN" altLang="en-US" sz="36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实现</a:t>
            </a:r>
            <a:endPar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36" name="TextBox 36"/>
          <p:cNvSpPr txBox="1"/>
          <p:nvPr>
            <p:custDataLst>
              <p:tags r:id="rId30"/>
            </p:custDataLst>
          </p:nvPr>
        </p:nvSpPr>
        <p:spPr>
          <a:xfrm>
            <a:off x="3365561" y="7839611"/>
            <a:ext cx="6845257" cy="394970"/>
          </a:xfrm>
          <a:prstGeom prst="rect">
            <a:avLst/>
          </a:prstGeom>
        </p:spPr>
        <p:txBody>
          <a:bodyPr lIns="0" tIns="0" rIns="0" bIns="0" rtlCol="0" anchor="t">
            <a:spAutoFit/>
          </a:bodyPr>
          <a:lstStyle/>
          <a:p>
            <a:pPr algn="l">
              <a:lnSpc>
                <a:spcPts val="3080"/>
              </a:lnSpc>
            </a:pPr>
            <a:r>
              <a:rPr lang="zh-CN" altLang="en-US" sz="2800" b="1">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rPr>
              <a:t>旨在介绍系统该如何使用</a:t>
            </a:r>
            <a:endParaRPr lang="zh-CN" altLang="en-US" sz="2800" b="1">
              <a:solidFill>
                <a:srgbClr val="A6A6A6"/>
              </a:solidFill>
              <a:latin typeface="微软雅黑" panose="020B0503020204020204" charset="-122"/>
              <a:ea typeface="微软雅黑" panose="020B0503020204020204" charset="-122"/>
              <a:cs typeface="思源宋体" panose="02020400000000000000" charset="-122"/>
              <a:sym typeface="思源宋体" panose="02020400000000000000" charset="-122"/>
            </a:endParaRPr>
          </a:p>
        </p:txBody>
      </p:sp>
      <p:sp>
        <p:nvSpPr>
          <p:cNvPr id="37" name="TextBox 37"/>
          <p:cNvSpPr txBox="1"/>
          <p:nvPr/>
        </p:nvSpPr>
        <p:spPr>
          <a:xfrm>
            <a:off x="1028700" y="457200"/>
            <a:ext cx="6310630" cy="1076960"/>
          </a:xfrm>
          <a:prstGeom prst="rect">
            <a:avLst/>
          </a:prstGeom>
        </p:spPr>
        <p:txBody>
          <a:bodyPr wrap="square" lIns="0" tIns="0" rIns="0" bIns="0" rtlCol="0" anchor="t">
            <a:spAutoFit/>
          </a:bodyPr>
          <a:lstStyle/>
          <a:p>
            <a:pPr algn="l">
              <a:lnSpc>
                <a:spcPts val="8400"/>
              </a:lnSpc>
            </a:pPr>
            <a:r>
              <a:rPr 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03.</a:t>
            </a:r>
            <a:r>
              <a:rPr lang="zh-CN" alt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多方面分析</a:t>
            </a:r>
            <a:endParaRPr lang="zh-CN" alt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38" name="TextBox 38"/>
          <p:cNvSpPr txBox="1"/>
          <p:nvPr/>
        </p:nvSpPr>
        <p:spPr>
          <a:xfrm>
            <a:off x="13753946" y="872490"/>
            <a:ext cx="3505354" cy="613410"/>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THREE</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7" name="Freeform 7"/>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8" name="Freeform 8"/>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sp>
        <p:nvSpPr>
          <p:cNvPr id="21" name="TextBox 21"/>
          <p:cNvSpPr txBox="1"/>
          <p:nvPr/>
        </p:nvSpPr>
        <p:spPr>
          <a:xfrm>
            <a:off x="1028700" y="457200"/>
            <a:ext cx="4776601" cy="1076960"/>
          </a:xfrm>
          <a:prstGeom prst="rect">
            <a:avLst/>
          </a:prstGeom>
        </p:spPr>
        <p:txBody>
          <a:bodyPr lIns="0" tIns="0" rIns="0" bIns="0" rtlCol="0" anchor="t">
            <a:spAutoFit/>
          </a:bodyPr>
          <a:lstStyle/>
          <a:p>
            <a:pPr algn="l">
              <a:lnSpc>
                <a:spcPts val="8400"/>
              </a:lnSpc>
            </a:pPr>
            <a:r>
              <a:rPr 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03.</a:t>
            </a:r>
            <a:r>
              <a:rPr lang="zh-CN" alt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功能设计</a:t>
            </a:r>
            <a:endParaRPr lang="en-US" altLang="zh-CN"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22" name="TextBox 22"/>
          <p:cNvSpPr txBox="1"/>
          <p:nvPr/>
        </p:nvSpPr>
        <p:spPr>
          <a:xfrm>
            <a:off x="13753946" y="872490"/>
            <a:ext cx="3505354" cy="645795"/>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THREE</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sp>
        <p:nvSpPr>
          <p:cNvPr id="32" name="Shape 23"/>
          <p:cNvSpPr/>
          <p:nvPr/>
        </p:nvSpPr>
        <p:spPr>
          <a:xfrm>
            <a:off x="533400" y="2857500"/>
            <a:ext cx="6071235" cy="4699000"/>
          </a:xfrm>
          <a:prstGeom prst="roundRect">
            <a:avLst>
              <a:gd name="adj" fmla="val 731"/>
            </a:avLst>
          </a:prstGeom>
          <a:solidFill>
            <a:srgbClr val="EEEFF1"/>
          </a:solidFill>
        </p:spPr>
        <p:txBody>
          <a:bodyPr/>
          <a:lstStyle/>
          <a:p>
            <a:endParaRPr lang="zh-CN" altLang="en-US"/>
          </a:p>
        </p:txBody>
      </p:sp>
      <p:sp>
        <p:nvSpPr>
          <p:cNvPr id="23" name="TextBox 23"/>
          <p:cNvSpPr txBox="1"/>
          <p:nvPr/>
        </p:nvSpPr>
        <p:spPr>
          <a:xfrm>
            <a:off x="-304920" y="2857559"/>
            <a:ext cx="7646136" cy="645795"/>
          </a:xfrm>
          <a:prstGeom prst="rect">
            <a:avLst/>
          </a:prstGeom>
        </p:spPr>
        <p:txBody>
          <a:bodyPr lIns="0" tIns="0" rIns="0" bIns="0" rtlCol="0" anchor="t">
            <a:spAutoFit/>
          </a:bodyPr>
          <a:lstStyle/>
          <a:p>
            <a:pPr algn="ctr">
              <a:lnSpc>
                <a:spcPts val="5040"/>
              </a:lnSpc>
            </a:pPr>
            <a:r>
              <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自适应三阶段数据清洗</a:t>
            </a:r>
            <a:endPar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24" name="TextBox 24"/>
          <p:cNvSpPr txBox="1"/>
          <p:nvPr/>
        </p:nvSpPr>
        <p:spPr>
          <a:xfrm>
            <a:off x="762000" y="3543300"/>
            <a:ext cx="5842635" cy="4293870"/>
          </a:xfrm>
          <a:prstGeom prst="rect">
            <a:avLst/>
          </a:prstGeom>
        </p:spPr>
        <p:txBody>
          <a:bodyPr lIns="0" tIns="0" rIns="0" bIns="0" rtlCol="0" anchor="t">
            <a:noAutofit/>
          </a:bodyPr>
          <a:lstStyle/>
          <a:p>
            <a:pPr algn="l">
              <a:lnSpc>
                <a:spcPct val="10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为应对复杂多变的数据源，系统摒弃了单一的清洗规则，设计了一套</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自适应智能清洗引擎</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系统会根据数据的规模与分布特征进行自动路由：当样本量较小（</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N&lt;30</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）时，调用</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Dixon's Q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检验；</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针对大样本且符合正态分布的数据，应用</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3σ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原则；</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而面对严重偏态的数据，则自动切换为鲁棒性更强的</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IQR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箱线图法。从而实现对各类数据异常值的科学、精准拦截。</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p:txBody>
      </p:sp>
      <p:grpSp>
        <p:nvGrpSpPr>
          <p:cNvPr id="31" name="组合 30"/>
          <p:cNvGrpSpPr/>
          <p:nvPr/>
        </p:nvGrpSpPr>
        <p:grpSpPr>
          <a:xfrm>
            <a:off x="761880" y="1724660"/>
            <a:ext cx="3465315" cy="677023"/>
            <a:chOff x="1560" y="3213"/>
            <a:chExt cx="5457" cy="1066"/>
          </a:xfrm>
        </p:grpSpPr>
        <p:grpSp>
          <p:nvGrpSpPr>
            <p:cNvPr id="9" name="Group 9"/>
            <p:cNvGrpSpPr/>
            <p:nvPr/>
          </p:nvGrpSpPr>
          <p:grpSpPr>
            <a:xfrm rot="0">
              <a:off x="1560" y="3217"/>
              <a:ext cx="5457" cy="1062"/>
              <a:chOff x="0" y="0"/>
              <a:chExt cx="912647" cy="177594"/>
            </a:xfrm>
          </p:grpSpPr>
          <p:sp>
            <p:nvSpPr>
              <p:cNvPr id="10" name="Freeform 10"/>
              <p:cNvSpPr/>
              <p:nvPr/>
            </p:nvSpPr>
            <p:spPr>
              <a:xfrm>
                <a:off x="0" y="0"/>
                <a:ext cx="912647" cy="177594"/>
              </a:xfrm>
              <a:custGeom>
                <a:avLst/>
                <a:gdLst/>
                <a:ahLst/>
                <a:cxnLst/>
                <a:rect l="l" t="t" r="r" b="b"/>
                <a:pathLst>
                  <a:path w="912647" h="177594">
                    <a:moveTo>
                      <a:pt x="88797" y="0"/>
                    </a:moveTo>
                    <a:lnTo>
                      <a:pt x="823850" y="0"/>
                    </a:lnTo>
                    <a:cubicBezTo>
                      <a:pt x="872891" y="0"/>
                      <a:pt x="912647" y="39756"/>
                      <a:pt x="912647" y="88797"/>
                    </a:cubicBezTo>
                    <a:lnTo>
                      <a:pt x="912647" y="88797"/>
                    </a:lnTo>
                    <a:cubicBezTo>
                      <a:pt x="912647" y="112348"/>
                      <a:pt x="903292" y="134934"/>
                      <a:pt x="886639" y="151586"/>
                    </a:cubicBezTo>
                    <a:cubicBezTo>
                      <a:pt x="869986" y="168239"/>
                      <a:pt x="847400" y="177594"/>
                      <a:pt x="823850" y="177594"/>
                    </a:cubicBezTo>
                    <a:lnTo>
                      <a:pt x="88797" y="177594"/>
                    </a:lnTo>
                    <a:cubicBezTo>
                      <a:pt x="65247" y="177594"/>
                      <a:pt x="42661" y="168239"/>
                      <a:pt x="26008" y="151586"/>
                    </a:cubicBezTo>
                    <a:cubicBezTo>
                      <a:pt x="9355" y="134934"/>
                      <a:pt x="0" y="112348"/>
                      <a:pt x="0" y="88797"/>
                    </a:cubicBezTo>
                    <a:lnTo>
                      <a:pt x="0" y="88797"/>
                    </a:lnTo>
                    <a:cubicBezTo>
                      <a:pt x="0" y="65247"/>
                      <a:pt x="9355" y="42661"/>
                      <a:pt x="26008" y="26008"/>
                    </a:cubicBezTo>
                    <a:cubicBezTo>
                      <a:pt x="42661" y="9355"/>
                      <a:pt x="65247" y="0"/>
                      <a:pt x="88797" y="0"/>
                    </a:cubicBezTo>
                    <a:close/>
                  </a:path>
                </a:pathLst>
              </a:custGeom>
              <a:solidFill>
                <a:srgbClr val="FFFFFF"/>
              </a:solidFill>
              <a:ln w="19050" cap="rnd">
                <a:solidFill>
                  <a:srgbClr val="3B64C9"/>
                </a:solidFill>
                <a:prstDash val="solid"/>
                <a:round/>
              </a:ln>
            </p:spPr>
          </p:sp>
          <p:sp>
            <p:nvSpPr>
              <p:cNvPr id="11" name="TextBox 11"/>
              <p:cNvSpPr txBox="1"/>
              <p:nvPr/>
            </p:nvSpPr>
            <p:spPr>
              <a:xfrm>
                <a:off x="0" y="-38100"/>
                <a:ext cx="912647" cy="215694"/>
              </a:xfrm>
              <a:prstGeom prst="rect">
                <a:avLst/>
              </a:prstGeom>
            </p:spPr>
            <p:txBody>
              <a:bodyPr lIns="50800" tIns="50800" rIns="50800" bIns="50800" rtlCol="0" anchor="ctr"/>
              <a:lstStyle/>
              <a:p>
                <a:pPr algn="ctr">
                  <a:lnSpc>
                    <a:spcPts val="2520"/>
                  </a:lnSpc>
                </a:pPr>
                <a:endParaRPr>
                  <a:latin typeface="微软雅黑" panose="020B0503020204020204" charset="-122"/>
                  <a:ea typeface="微软雅黑" panose="020B0503020204020204" charset="-122"/>
                </a:endParaRPr>
              </a:p>
            </p:txBody>
          </p:sp>
        </p:grpSp>
        <p:sp>
          <p:nvSpPr>
            <p:cNvPr id="25" name="TextBox 25"/>
            <p:cNvSpPr txBox="1"/>
            <p:nvPr/>
          </p:nvSpPr>
          <p:spPr>
            <a:xfrm>
              <a:off x="1560" y="3213"/>
              <a:ext cx="5457" cy="1017"/>
            </a:xfrm>
            <a:prstGeom prst="rect">
              <a:avLst/>
            </a:prstGeom>
          </p:spPr>
          <p:txBody>
            <a:bodyPr lIns="0" tIns="0" rIns="0" bIns="0" rtlCol="0" anchor="t">
              <a:spAutoFit/>
            </a:bodyPr>
            <a:lstStyle/>
            <a:p>
              <a:pPr algn="ctr">
                <a:lnSpc>
                  <a:spcPts val="5040"/>
                </a:lnSpc>
              </a:pPr>
              <a:r>
                <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三阶数据清理</a:t>
              </a:r>
              <a:endPar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grpSp>
      <p:grpSp>
        <p:nvGrpSpPr>
          <p:cNvPr id="44" name="组合 43"/>
          <p:cNvGrpSpPr/>
          <p:nvPr/>
        </p:nvGrpSpPr>
        <p:grpSpPr>
          <a:xfrm>
            <a:off x="7341235" y="114300"/>
            <a:ext cx="5210175" cy="2742565"/>
            <a:chOff x="16200" y="5100"/>
            <a:chExt cx="4066" cy="1998"/>
          </a:xfrm>
        </p:grpSpPr>
        <p:pic>
          <p:nvPicPr>
            <p:cNvPr id="35" name="Image 0" descr="preencoded.png"/>
            <p:cNvPicPr>
              <a:picLocks noChangeAspect="1"/>
            </p:cNvPicPr>
            <p:nvPr/>
          </p:nvPicPr>
          <p:blipFill>
            <a:blip r:embed="rId4"/>
            <a:stretch>
              <a:fillRect/>
            </a:stretch>
          </p:blipFill>
          <p:spPr>
            <a:xfrm>
              <a:off x="16200" y="5100"/>
              <a:ext cx="4066" cy="1999"/>
            </a:xfrm>
            <a:prstGeom prst="rect">
              <a:avLst/>
            </a:prstGeom>
          </p:spPr>
        </p:pic>
        <p:sp>
          <p:nvSpPr>
            <p:cNvPr id="36" name="Text 7"/>
            <p:cNvSpPr/>
            <p:nvPr/>
          </p:nvSpPr>
          <p:spPr>
            <a:xfrm>
              <a:off x="18190" y="5287"/>
              <a:ext cx="930" cy="116"/>
            </a:xfrm>
            <a:prstGeom prst="rect">
              <a:avLst/>
            </a:prstGeom>
            <a:noFill/>
          </p:spPr>
          <p:txBody>
            <a:bodyPr wrap="none" lIns="0" tIns="0" rIns="0" bIns="0" rtlCol="0" anchor="t"/>
            <a:lstStyle/>
            <a:p>
              <a:pPr marL="0" indent="0" algn="l">
                <a:lnSpc>
                  <a:spcPct val="100000"/>
                </a:lnSpc>
                <a:buNone/>
              </a:pPr>
              <a:r>
                <a:rPr lang="en-US" sz="1600" dirty="0">
                  <a:solidFill>
                    <a:srgbClr val="15213F"/>
                  </a:solidFill>
                  <a:latin typeface="Roboto Slab" pitchFamily="34" charset="0"/>
                  <a:ea typeface="Roboto Slab" pitchFamily="34" charset="-122"/>
                  <a:cs typeface="Roboto Slab" pitchFamily="34" charset="-120"/>
                </a:rPr>
                <a:t>其他情况</a:t>
              </a:r>
              <a:endParaRPr lang="en-US" sz="1600" dirty="0">
                <a:solidFill>
                  <a:srgbClr val="15213F"/>
                </a:solidFill>
                <a:latin typeface="Roboto Slab" pitchFamily="34" charset="0"/>
                <a:ea typeface="Roboto Slab" pitchFamily="34" charset="-122"/>
                <a:cs typeface="Roboto Slab" pitchFamily="34" charset="-120"/>
              </a:endParaRPr>
            </a:p>
          </p:txBody>
        </p:sp>
        <p:sp>
          <p:nvSpPr>
            <p:cNvPr id="37" name="Text 8"/>
            <p:cNvSpPr/>
            <p:nvPr/>
          </p:nvSpPr>
          <p:spPr>
            <a:xfrm>
              <a:off x="18190" y="5437"/>
              <a:ext cx="1880" cy="70"/>
            </a:xfrm>
            <a:prstGeom prst="rect">
              <a:avLst/>
            </a:prstGeom>
            <a:noFill/>
          </p:spPr>
          <p:txBody>
            <a:bodyPr wrap="none" lIns="0" tIns="0" rIns="0" bIns="0" rtlCol="0" anchor="t"/>
            <a:lstStyle/>
            <a:p>
              <a:pPr marL="0" indent="0" algn="l">
                <a:lnSpc>
                  <a:spcPct val="100000"/>
                </a:lnSpc>
                <a:buNone/>
              </a:pPr>
              <a:r>
                <a:rPr lang="en-US" sz="1400" dirty="0">
                  <a:solidFill>
                    <a:srgbClr val="15213F"/>
                  </a:solidFill>
                  <a:latin typeface="Roboto" panose="02000000000000000000" pitchFamily="34" charset="0"/>
                  <a:ea typeface="Roboto" panose="02000000000000000000" pitchFamily="34" charset="-122"/>
                  <a:cs typeface="Roboto" panose="02000000000000000000" pitchFamily="34" charset="-120"/>
                </a:rPr>
                <a:t>使用IQR四分位法</a:t>
              </a:r>
              <a:endParaRPr lang="en-US" sz="1400" dirty="0">
                <a:solidFill>
                  <a:srgbClr val="15213F"/>
                </a:solidFill>
                <a:latin typeface="Roboto" panose="02000000000000000000" pitchFamily="34" charset="0"/>
                <a:ea typeface="Roboto" panose="02000000000000000000" pitchFamily="34" charset="-122"/>
                <a:cs typeface="Roboto" panose="02000000000000000000" pitchFamily="34" charset="-120"/>
              </a:endParaRPr>
            </a:p>
          </p:txBody>
        </p:sp>
        <p:sp>
          <p:nvSpPr>
            <p:cNvPr id="38" name="Text 9"/>
            <p:cNvSpPr/>
            <p:nvPr/>
          </p:nvSpPr>
          <p:spPr>
            <a:xfrm>
              <a:off x="18190" y="5754"/>
              <a:ext cx="930" cy="116"/>
            </a:xfrm>
            <a:prstGeom prst="rect">
              <a:avLst/>
            </a:prstGeom>
            <a:noFill/>
          </p:spPr>
          <p:txBody>
            <a:bodyPr wrap="none" lIns="0" tIns="0" rIns="0" bIns="0" rtlCol="0" anchor="t"/>
            <a:lstStyle/>
            <a:p>
              <a:pPr marL="0" indent="0" algn="l">
                <a:lnSpc>
                  <a:spcPct val="100000"/>
                </a:lnSpc>
                <a:buNone/>
              </a:pPr>
              <a:r>
                <a:rPr lang="en-US" sz="1600" dirty="0">
                  <a:solidFill>
                    <a:srgbClr val="15213F"/>
                  </a:solidFill>
                  <a:latin typeface="Roboto Slab" pitchFamily="34" charset="0"/>
                  <a:ea typeface="Roboto Slab" pitchFamily="34" charset="-122"/>
                  <a:cs typeface="Roboto Slab" pitchFamily="34" charset="-120"/>
                </a:rPr>
                <a:t>N ≥ 30 且偏度≤1</a:t>
              </a:r>
              <a:endParaRPr lang="en-US" sz="1600" dirty="0">
                <a:solidFill>
                  <a:srgbClr val="15213F"/>
                </a:solidFill>
                <a:latin typeface="Roboto Slab" pitchFamily="34" charset="0"/>
                <a:ea typeface="Roboto Slab" pitchFamily="34" charset="-122"/>
                <a:cs typeface="Roboto Slab" pitchFamily="34" charset="-120"/>
              </a:endParaRPr>
            </a:p>
          </p:txBody>
        </p:sp>
        <p:sp>
          <p:nvSpPr>
            <p:cNvPr id="39" name="Text 10"/>
            <p:cNvSpPr/>
            <p:nvPr/>
          </p:nvSpPr>
          <p:spPr>
            <a:xfrm>
              <a:off x="18190" y="5904"/>
              <a:ext cx="1880" cy="70"/>
            </a:xfrm>
            <a:prstGeom prst="rect">
              <a:avLst/>
            </a:prstGeom>
            <a:noFill/>
          </p:spPr>
          <p:txBody>
            <a:bodyPr wrap="none" lIns="0" tIns="0" rIns="0" bIns="0" rtlCol="0" anchor="t"/>
            <a:lstStyle/>
            <a:p>
              <a:pPr marL="0" indent="0" algn="l">
                <a:lnSpc>
                  <a:spcPct val="100000"/>
                </a:lnSpc>
                <a:buNone/>
              </a:pPr>
              <a:r>
                <a:rPr lang="en-US" sz="1400" dirty="0">
                  <a:solidFill>
                    <a:srgbClr val="15213F"/>
                  </a:solidFill>
                  <a:latin typeface="Roboto" panose="02000000000000000000" pitchFamily="34" charset="0"/>
                  <a:ea typeface="Roboto" panose="02000000000000000000" pitchFamily="34" charset="-122"/>
                  <a:cs typeface="Roboto" panose="02000000000000000000" pitchFamily="34" charset="-120"/>
                </a:rPr>
                <a:t>使用3σ判定法</a:t>
              </a:r>
              <a:endParaRPr lang="en-US" sz="1400" dirty="0">
                <a:solidFill>
                  <a:srgbClr val="15213F"/>
                </a:solidFill>
                <a:latin typeface="Roboto" panose="02000000000000000000" pitchFamily="34" charset="0"/>
                <a:ea typeface="Roboto" panose="02000000000000000000" pitchFamily="34" charset="-122"/>
                <a:cs typeface="Roboto" panose="02000000000000000000" pitchFamily="34" charset="-120"/>
              </a:endParaRPr>
            </a:p>
          </p:txBody>
        </p:sp>
        <p:sp>
          <p:nvSpPr>
            <p:cNvPr id="40" name="Text 11"/>
            <p:cNvSpPr/>
            <p:nvPr/>
          </p:nvSpPr>
          <p:spPr>
            <a:xfrm>
              <a:off x="18190" y="6221"/>
              <a:ext cx="930" cy="116"/>
            </a:xfrm>
            <a:prstGeom prst="rect">
              <a:avLst/>
            </a:prstGeom>
            <a:noFill/>
          </p:spPr>
          <p:txBody>
            <a:bodyPr wrap="none" lIns="0" tIns="0" rIns="0" bIns="0" rtlCol="0" anchor="t"/>
            <a:lstStyle/>
            <a:p>
              <a:pPr marL="0" indent="0" algn="l">
                <a:lnSpc>
                  <a:spcPct val="100000"/>
                </a:lnSpc>
                <a:buNone/>
              </a:pPr>
              <a:r>
                <a:rPr lang="en-US" sz="1600" dirty="0">
                  <a:solidFill>
                    <a:srgbClr val="15213F"/>
                  </a:solidFill>
                  <a:latin typeface="Roboto Slab" pitchFamily="34" charset="0"/>
                  <a:ea typeface="Roboto Slab" pitchFamily="34" charset="-122"/>
                  <a:cs typeface="Roboto Slab" pitchFamily="34" charset="-120"/>
                </a:rPr>
                <a:t>N &lt; 30</a:t>
              </a:r>
              <a:endParaRPr lang="en-US" sz="1600" dirty="0">
                <a:solidFill>
                  <a:srgbClr val="15213F"/>
                </a:solidFill>
                <a:latin typeface="Roboto Slab" pitchFamily="34" charset="0"/>
                <a:ea typeface="Roboto Slab" pitchFamily="34" charset="-122"/>
                <a:cs typeface="Roboto Slab" pitchFamily="34" charset="-120"/>
              </a:endParaRPr>
            </a:p>
          </p:txBody>
        </p:sp>
        <p:sp>
          <p:nvSpPr>
            <p:cNvPr id="41" name="Text 12"/>
            <p:cNvSpPr/>
            <p:nvPr/>
          </p:nvSpPr>
          <p:spPr>
            <a:xfrm>
              <a:off x="18190" y="6371"/>
              <a:ext cx="1880" cy="70"/>
            </a:xfrm>
            <a:prstGeom prst="rect">
              <a:avLst/>
            </a:prstGeom>
            <a:noFill/>
          </p:spPr>
          <p:txBody>
            <a:bodyPr wrap="none" lIns="0" tIns="0" rIns="0" bIns="0" rtlCol="0" anchor="t"/>
            <a:lstStyle/>
            <a:p>
              <a:pPr marL="0" indent="0" algn="l">
                <a:lnSpc>
                  <a:spcPct val="100000"/>
                </a:lnSpc>
                <a:buNone/>
              </a:pPr>
              <a:r>
                <a:rPr lang="en-US" sz="1400" dirty="0">
                  <a:solidFill>
                    <a:srgbClr val="15213F"/>
                  </a:solidFill>
                  <a:latin typeface="Roboto" panose="02000000000000000000" pitchFamily="34" charset="0"/>
                  <a:ea typeface="Roboto" panose="02000000000000000000" pitchFamily="34" charset="-122"/>
                  <a:cs typeface="Roboto" panose="02000000000000000000" pitchFamily="34" charset="-120"/>
                </a:rPr>
                <a:t>使用Dixon's Q检验</a:t>
              </a:r>
              <a:endParaRPr lang="en-US" sz="1400" dirty="0">
                <a:solidFill>
                  <a:srgbClr val="15213F"/>
                </a:solidFill>
                <a:latin typeface="Roboto" panose="02000000000000000000" pitchFamily="34" charset="0"/>
                <a:ea typeface="Roboto" panose="02000000000000000000" pitchFamily="34" charset="-122"/>
                <a:cs typeface="Roboto" panose="02000000000000000000" pitchFamily="34" charset="-120"/>
              </a:endParaRPr>
            </a:p>
          </p:txBody>
        </p:sp>
        <p:sp>
          <p:nvSpPr>
            <p:cNvPr id="42" name="Text 13"/>
            <p:cNvSpPr/>
            <p:nvPr/>
          </p:nvSpPr>
          <p:spPr>
            <a:xfrm>
              <a:off x="18194" y="6688"/>
              <a:ext cx="930" cy="116"/>
            </a:xfrm>
            <a:prstGeom prst="rect">
              <a:avLst/>
            </a:prstGeom>
            <a:noFill/>
          </p:spPr>
          <p:txBody>
            <a:bodyPr wrap="none" lIns="0" tIns="0" rIns="0" bIns="0" rtlCol="0" anchor="t"/>
            <a:lstStyle/>
            <a:p>
              <a:pPr marL="0" indent="0" algn="l">
                <a:lnSpc>
                  <a:spcPct val="100000"/>
                </a:lnSpc>
                <a:buNone/>
              </a:pPr>
              <a:r>
                <a:rPr lang="en-US" sz="1600" dirty="0">
                  <a:solidFill>
                    <a:srgbClr val="15213F"/>
                  </a:solidFill>
                  <a:latin typeface="Roboto Slab" pitchFamily="34" charset="0"/>
                  <a:ea typeface="Roboto Slab" pitchFamily="34" charset="-122"/>
                  <a:cs typeface="Roboto Slab" pitchFamily="34" charset="-120"/>
                </a:rPr>
                <a:t>样本规模 N</a:t>
              </a:r>
              <a:endParaRPr lang="en-US" sz="1600" dirty="0">
                <a:solidFill>
                  <a:srgbClr val="15213F"/>
                </a:solidFill>
                <a:latin typeface="Roboto Slab" pitchFamily="34" charset="0"/>
                <a:ea typeface="Roboto Slab" pitchFamily="34" charset="-122"/>
                <a:cs typeface="Roboto Slab" pitchFamily="34" charset="-120"/>
              </a:endParaRPr>
            </a:p>
          </p:txBody>
        </p:sp>
        <p:sp>
          <p:nvSpPr>
            <p:cNvPr id="43" name="Text 14"/>
            <p:cNvSpPr/>
            <p:nvPr/>
          </p:nvSpPr>
          <p:spPr>
            <a:xfrm>
              <a:off x="18194" y="6838"/>
              <a:ext cx="1880" cy="70"/>
            </a:xfrm>
            <a:prstGeom prst="rect">
              <a:avLst/>
            </a:prstGeom>
            <a:noFill/>
          </p:spPr>
          <p:txBody>
            <a:bodyPr wrap="none" lIns="0" tIns="0" rIns="0" bIns="0" rtlCol="0" anchor="t"/>
            <a:lstStyle/>
            <a:p>
              <a:pPr marL="0" indent="0" algn="l">
                <a:lnSpc>
                  <a:spcPct val="100000"/>
                </a:lnSpc>
                <a:buNone/>
              </a:pPr>
              <a:r>
                <a:rPr lang="en-US" sz="1400" dirty="0">
                  <a:solidFill>
                    <a:srgbClr val="15213F"/>
                  </a:solidFill>
                  <a:latin typeface="Roboto" panose="02000000000000000000" pitchFamily="34" charset="0"/>
                  <a:ea typeface="Roboto" panose="02000000000000000000" pitchFamily="34" charset="-122"/>
                  <a:cs typeface="Roboto" panose="02000000000000000000" pitchFamily="34" charset="-120"/>
                </a:rPr>
                <a:t>检查样本大小</a:t>
              </a:r>
              <a:endParaRPr lang="en-US" sz="1400" dirty="0">
                <a:solidFill>
                  <a:srgbClr val="15213F"/>
                </a:solidFill>
                <a:latin typeface="Roboto" panose="02000000000000000000" pitchFamily="34" charset="0"/>
                <a:ea typeface="Roboto" panose="02000000000000000000" pitchFamily="34" charset="-122"/>
                <a:cs typeface="Roboto" panose="02000000000000000000" pitchFamily="34" charset="-120"/>
              </a:endParaRPr>
            </a:p>
          </p:txBody>
        </p:sp>
      </p:grpSp>
      <p:pic>
        <p:nvPicPr>
          <p:cNvPr id="46" name="图片 45"/>
          <p:cNvPicPr>
            <a:picLocks noChangeAspect="1"/>
          </p:cNvPicPr>
          <p:nvPr/>
        </p:nvPicPr>
        <p:blipFill>
          <a:blip r:embed="rId5"/>
          <a:stretch>
            <a:fillRect/>
          </a:stretch>
        </p:blipFill>
        <p:spPr>
          <a:xfrm>
            <a:off x="7620000" y="3218815"/>
            <a:ext cx="3311525" cy="3239135"/>
          </a:xfrm>
          <a:prstGeom prst="rect">
            <a:avLst/>
          </a:prstGeom>
        </p:spPr>
      </p:pic>
      <p:pic>
        <p:nvPicPr>
          <p:cNvPr id="47" name="图片 46"/>
          <p:cNvPicPr>
            <a:picLocks noChangeAspect="1"/>
          </p:cNvPicPr>
          <p:nvPr/>
        </p:nvPicPr>
        <p:blipFill>
          <a:blip r:embed="rId6"/>
          <a:stretch>
            <a:fillRect/>
          </a:stretch>
        </p:blipFill>
        <p:spPr>
          <a:xfrm>
            <a:off x="12299950" y="2640330"/>
            <a:ext cx="5250815" cy="4196715"/>
          </a:xfrm>
          <a:prstGeom prst="rect">
            <a:avLst/>
          </a:prstGeom>
        </p:spPr>
      </p:pic>
      <p:pic>
        <p:nvPicPr>
          <p:cNvPr id="48" name="图片 47"/>
          <p:cNvPicPr>
            <a:picLocks noChangeAspect="1"/>
          </p:cNvPicPr>
          <p:nvPr/>
        </p:nvPicPr>
        <p:blipFill>
          <a:blip r:embed="rId7"/>
          <a:stretch>
            <a:fillRect/>
          </a:stretch>
        </p:blipFill>
        <p:spPr>
          <a:xfrm>
            <a:off x="7543800" y="7222490"/>
            <a:ext cx="3322320" cy="278892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7" name="Freeform 7"/>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8" name="Freeform 8"/>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sp>
        <p:nvSpPr>
          <p:cNvPr id="21" name="TextBox 21"/>
          <p:cNvSpPr txBox="1"/>
          <p:nvPr/>
        </p:nvSpPr>
        <p:spPr>
          <a:xfrm>
            <a:off x="1028700" y="457200"/>
            <a:ext cx="4776601" cy="1076960"/>
          </a:xfrm>
          <a:prstGeom prst="rect">
            <a:avLst/>
          </a:prstGeom>
        </p:spPr>
        <p:txBody>
          <a:bodyPr lIns="0" tIns="0" rIns="0" bIns="0" rtlCol="0" anchor="t">
            <a:spAutoFit/>
          </a:bodyPr>
          <a:lstStyle/>
          <a:p>
            <a:pPr algn="l">
              <a:lnSpc>
                <a:spcPts val="8400"/>
              </a:lnSpc>
            </a:pPr>
            <a:r>
              <a:rPr 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03.</a:t>
            </a:r>
            <a:r>
              <a:rPr lang="zh-CN" alt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功能设计</a:t>
            </a:r>
            <a:endParaRPr lang="en-US" altLang="zh-CN"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22" name="TextBox 22"/>
          <p:cNvSpPr txBox="1"/>
          <p:nvPr/>
        </p:nvSpPr>
        <p:spPr>
          <a:xfrm>
            <a:off x="13753946" y="872490"/>
            <a:ext cx="3505354" cy="645795"/>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THREE</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sp>
        <p:nvSpPr>
          <p:cNvPr id="32" name="Shape 23"/>
          <p:cNvSpPr/>
          <p:nvPr/>
        </p:nvSpPr>
        <p:spPr>
          <a:xfrm>
            <a:off x="533400" y="2857500"/>
            <a:ext cx="6071235" cy="4699000"/>
          </a:xfrm>
          <a:prstGeom prst="roundRect">
            <a:avLst>
              <a:gd name="adj" fmla="val 731"/>
            </a:avLst>
          </a:prstGeom>
          <a:solidFill>
            <a:srgbClr val="EEEFF1"/>
          </a:solidFill>
        </p:spPr>
        <p:txBody>
          <a:bodyPr/>
          <a:lstStyle/>
          <a:p>
            <a:endParaRPr lang="zh-CN" altLang="en-US"/>
          </a:p>
        </p:txBody>
      </p:sp>
      <p:sp>
        <p:nvSpPr>
          <p:cNvPr id="23" name="TextBox 23"/>
          <p:cNvSpPr txBox="1"/>
          <p:nvPr/>
        </p:nvSpPr>
        <p:spPr>
          <a:xfrm>
            <a:off x="-304920" y="2857559"/>
            <a:ext cx="7646136" cy="645795"/>
          </a:xfrm>
          <a:prstGeom prst="rect">
            <a:avLst/>
          </a:prstGeom>
        </p:spPr>
        <p:txBody>
          <a:bodyPr lIns="0" tIns="0" rIns="0" bIns="0" rtlCol="0" anchor="t">
            <a:spAutoFit/>
          </a:bodyPr>
          <a:lstStyle/>
          <a:p>
            <a:pPr algn="ctr">
              <a:lnSpc>
                <a:spcPts val="5040"/>
              </a:lnSpc>
            </a:pPr>
            <a:r>
              <a:rPr lang="en-US" altLang="zh-CN" sz="3600" b="1" spc="179">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Z-score</a:t>
            </a:r>
            <a:r>
              <a:rPr lang="zh-CN" altLang="en-US" sz="3600" b="1" spc="179">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和隐私化</a:t>
            </a:r>
            <a:endParaRPr lang="zh-CN" altLang="en-US" sz="3600" b="1" spc="179">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24" name="TextBox 24"/>
          <p:cNvSpPr txBox="1"/>
          <p:nvPr/>
        </p:nvSpPr>
        <p:spPr>
          <a:xfrm>
            <a:off x="762000" y="3503295"/>
            <a:ext cx="5944870" cy="3806190"/>
          </a:xfrm>
          <a:prstGeom prst="rect">
            <a:avLst/>
          </a:prstGeom>
        </p:spPr>
        <p:txBody>
          <a:bodyPr lIns="0" tIns="0" rIns="0" bIns="0" rtlCol="0" anchor="t">
            <a:noAutofit/>
          </a:bodyPr>
          <a:lstStyle/>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为提升大文件的加载性能，系统采用了局部轻量化渲染方案，仅截取数据前</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15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行进行快速预览，有效避免了全量渲染导致的前端卡顿。</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在数据安全合规方面，系统内置了脱敏机制，自动识别并对</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姓名</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手机号</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等敏感字段进行掩码处理。</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此外，系统支持一键</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Z-Score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标准化，可快速消除不同特征间的量纲差异，为后续的模型训练做好数据准备。</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p:txBody>
      </p:sp>
      <p:grpSp>
        <p:nvGrpSpPr>
          <p:cNvPr id="31" name="组合 30"/>
          <p:cNvGrpSpPr/>
          <p:nvPr/>
        </p:nvGrpSpPr>
        <p:grpSpPr>
          <a:xfrm>
            <a:off x="-2122286" y="1893295"/>
            <a:ext cx="11315700" cy="769895"/>
            <a:chOff x="-498" y="3217"/>
            <a:chExt cx="9858" cy="1062"/>
          </a:xfrm>
        </p:grpSpPr>
        <p:grpSp>
          <p:nvGrpSpPr>
            <p:cNvPr id="9" name="Group 9"/>
            <p:cNvGrpSpPr/>
            <p:nvPr/>
          </p:nvGrpSpPr>
          <p:grpSpPr>
            <a:xfrm rot="0">
              <a:off x="1560" y="3217"/>
              <a:ext cx="5457" cy="1062"/>
              <a:chOff x="0" y="0"/>
              <a:chExt cx="912647" cy="177594"/>
            </a:xfrm>
          </p:grpSpPr>
          <p:sp>
            <p:nvSpPr>
              <p:cNvPr id="10" name="Freeform 10"/>
              <p:cNvSpPr/>
              <p:nvPr/>
            </p:nvSpPr>
            <p:spPr>
              <a:xfrm>
                <a:off x="0" y="0"/>
                <a:ext cx="912647" cy="177594"/>
              </a:xfrm>
              <a:custGeom>
                <a:avLst/>
                <a:gdLst/>
                <a:ahLst/>
                <a:cxnLst/>
                <a:rect l="l" t="t" r="r" b="b"/>
                <a:pathLst>
                  <a:path w="912647" h="177594">
                    <a:moveTo>
                      <a:pt x="88797" y="0"/>
                    </a:moveTo>
                    <a:lnTo>
                      <a:pt x="823850" y="0"/>
                    </a:lnTo>
                    <a:cubicBezTo>
                      <a:pt x="872891" y="0"/>
                      <a:pt x="912647" y="39756"/>
                      <a:pt x="912647" y="88797"/>
                    </a:cubicBezTo>
                    <a:lnTo>
                      <a:pt x="912647" y="88797"/>
                    </a:lnTo>
                    <a:cubicBezTo>
                      <a:pt x="912647" y="112348"/>
                      <a:pt x="903292" y="134934"/>
                      <a:pt x="886639" y="151586"/>
                    </a:cubicBezTo>
                    <a:cubicBezTo>
                      <a:pt x="869986" y="168239"/>
                      <a:pt x="847400" y="177594"/>
                      <a:pt x="823850" y="177594"/>
                    </a:cubicBezTo>
                    <a:lnTo>
                      <a:pt x="88797" y="177594"/>
                    </a:lnTo>
                    <a:cubicBezTo>
                      <a:pt x="65247" y="177594"/>
                      <a:pt x="42661" y="168239"/>
                      <a:pt x="26008" y="151586"/>
                    </a:cubicBezTo>
                    <a:cubicBezTo>
                      <a:pt x="9355" y="134934"/>
                      <a:pt x="0" y="112348"/>
                      <a:pt x="0" y="88797"/>
                    </a:cubicBezTo>
                    <a:lnTo>
                      <a:pt x="0" y="88797"/>
                    </a:lnTo>
                    <a:cubicBezTo>
                      <a:pt x="0" y="65247"/>
                      <a:pt x="9355" y="42661"/>
                      <a:pt x="26008" y="26008"/>
                    </a:cubicBezTo>
                    <a:cubicBezTo>
                      <a:pt x="42661" y="9355"/>
                      <a:pt x="65247" y="0"/>
                      <a:pt x="88797" y="0"/>
                    </a:cubicBezTo>
                    <a:close/>
                  </a:path>
                </a:pathLst>
              </a:custGeom>
              <a:solidFill>
                <a:srgbClr val="FFFFFF"/>
              </a:solidFill>
              <a:ln w="19050" cap="rnd">
                <a:solidFill>
                  <a:srgbClr val="3B64C9"/>
                </a:solidFill>
                <a:prstDash val="solid"/>
                <a:round/>
              </a:ln>
            </p:spPr>
          </p:sp>
          <p:sp>
            <p:nvSpPr>
              <p:cNvPr id="11" name="TextBox 11"/>
              <p:cNvSpPr txBox="1"/>
              <p:nvPr/>
            </p:nvSpPr>
            <p:spPr>
              <a:xfrm>
                <a:off x="0" y="-38100"/>
                <a:ext cx="912647" cy="215694"/>
              </a:xfrm>
              <a:prstGeom prst="rect">
                <a:avLst/>
              </a:prstGeom>
            </p:spPr>
            <p:txBody>
              <a:bodyPr lIns="50800" tIns="50800" rIns="50800" bIns="50800" rtlCol="0" anchor="ctr"/>
              <a:lstStyle/>
              <a:p>
                <a:pPr algn="ctr">
                  <a:lnSpc>
                    <a:spcPts val="2520"/>
                  </a:lnSpc>
                </a:pPr>
                <a:endParaRPr>
                  <a:latin typeface="微软雅黑" panose="020B0503020204020204" charset="-122"/>
                  <a:ea typeface="微软雅黑" panose="020B0503020204020204" charset="-122"/>
                </a:endParaRPr>
              </a:p>
            </p:txBody>
          </p:sp>
        </p:grpSp>
        <p:sp>
          <p:nvSpPr>
            <p:cNvPr id="25" name="TextBox 25"/>
            <p:cNvSpPr txBox="1"/>
            <p:nvPr/>
          </p:nvSpPr>
          <p:spPr>
            <a:xfrm>
              <a:off x="-498" y="3217"/>
              <a:ext cx="9858" cy="891"/>
            </a:xfrm>
            <a:prstGeom prst="rect">
              <a:avLst/>
            </a:prstGeom>
          </p:spPr>
          <p:txBody>
            <a:bodyPr wrap="square" lIns="0" tIns="0" rIns="0" bIns="0" rtlCol="0" anchor="t">
              <a:spAutoFit/>
            </a:bodyPr>
            <a:lstStyle/>
            <a:p>
              <a:pPr algn="ctr">
                <a:lnSpc>
                  <a:spcPts val="5040"/>
                </a:lnSpc>
              </a:pPr>
              <a:r>
                <a:rPr lang="en-US" altLang="zh-CN" sz="3600" spc="179">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Z-score</a:t>
              </a:r>
              <a:r>
                <a:rPr lang="zh-CN" altLang="en-US" sz="3600" spc="179">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和隐私化，数据预览</a:t>
              </a:r>
              <a:endParaRPr lang="zh-CN" altLang="en-US" sz="3600" spc="179">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grpSp>
      <p:pic>
        <p:nvPicPr>
          <p:cNvPr id="3" name="图片 2"/>
          <p:cNvPicPr>
            <a:picLocks noChangeAspect="1"/>
          </p:cNvPicPr>
          <p:nvPr/>
        </p:nvPicPr>
        <p:blipFill>
          <a:blip r:embed="rId4"/>
          <a:stretch>
            <a:fillRect/>
          </a:stretch>
        </p:blipFill>
        <p:spPr>
          <a:xfrm>
            <a:off x="6934200" y="266700"/>
            <a:ext cx="6619875" cy="4752975"/>
          </a:xfrm>
          <a:prstGeom prst="rect">
            <a:avLst/>
          </a:prstGeom>
        </p:spPr>
      </p:pic>
      <p:pic>
        <p:nvPicPr>
          <p:cNvPr id="4" name="图片 3"/>
          <p:cNvPicPr>
            <a:picLocks noChangeAspect="1"/>
          </p:cNvPicPr>
          <p:nvPr/>
        </p:nvPicPr>
        <p:blipFill>
          <a:blip r:embed="rId5"/>
          <a:stretch>
            <a:fillRect/>
          </a:stretch>
        </p:blipFill>
        <p:spPr>
          <a:xfrm>
            <a:off x="6858000" y="5053330"/>
            <a:ext cx="3171825" cy="666750"/>
          </a:xfrm>
          <a:prstGeom prst="rect">
            <a:avLst/>
          </a:prstGeom>
        </p:spPr>
      </p:pic>
      <p:pic>
        <p:nvPicPr>
          <p:cNvPr id="5" name="图片 4"/>
          <p:cNvPicPr>
            <a:picLocks noChangeAspect="1"/>
          </p:cNvPicPr>
          <p:nvPr/>
        </p:nvPicPr>
        <p:blipFill>
          <a:blip r:embed="rId6"/>
          <a:stretch>
            <a:fillRect/>
          </a:stretch>
        </p:blipFill>
        <p:spPr>
          <a:xfrm>
            <a:off x="6604635" y="5981700"/>
            <a:ext cx="5746115" cy="3819525"/>
          </a:xfrm>
          <a:prstGeom prst="rect">
            <a:avLst/>
          </a:prstGeom>
        </p:spPr>
      </p:pic>
      <p:pic>
        <p:nvPicPr>
          <p:cNvPr id="6" name="图片 5"/>
          <p:cNvPicPr>
            <a:picLocks noChangeAspect="1"/>
          </p:cNvPicPr>
          <p:nvPr/>
        </p:nvPicPr>
        <p:blipFill>
          <a:blip r:embed="rId7"/>
          <a:stretch>
            <a:fillRect/>
          </a:stretch>
        </p:blipFill>
        <p:spPr>
          <a:xfrm>
            <a:off x="14554200" y="5372100"/>
            <a:ext cx="3238500" cy="571500"/>
          </a:xfrm>
          <a:prstGeom prst="rect">
            <a:avLst/>
          </a:prstGeom>
        </p:spPr>
      </p:pic>
      <p:pic>
        <p:nvPicPr>
          <p:cNvPr id="12" name="图片 11"/>
          <p:cNvPicPr>
            <a:picLocks noChangeAspect="1"/>
          </p:cNvPicPr>
          <p:nvPr/>
        </p:nvPicPr>
        <p:blipFill>
          <a:blip r:embed="rId8"/>
          <a:stretch>
            <a:fillRect/>
          </a:stretch>
        </p:blipFill>
        <p:spPr>
          <a:xfrm>
            <a:off x="12851130" y="5981700"/>
            <a:ext cx="5436870" cy="380301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7" name="Freeform 7"/>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8" name="Freeform 8"/>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sp>
        <p:nvSpPr>
          <p:cNvPr id="21" name="TextBox 21"/>
          <p:cNvSpPr txBox="1"/>
          <p:nvPr/>
        </p:nvSpPr>
        <p:spPr>
          <a:xfrm>
            <a:off x="1028700" y="457200"/>
            <a:ext cx="4776601" cy="1076960"/>
          </a:xfrm>
          <a:prstGeom prst="rect">
            <a:avLst/>
          </a:prstGeom>
        </p:spPr>
        <p:txBody>
          <a:bodyPr lIns="0" tIns="0" rIns="0" bIns="0" rtlCol="0" anchor="t">
            <a:spAutoFit/>
          </a:bodyPr>
          <a:lstStyle/>
          <a:p>
            <a:pPr algn="l">
              <a:lnSpc>
                <a:spcPts val="8400"/>
              </a:lnSpc>
            </a:pPr>
            <a:r>
              <a:rPr 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03.</a:t>
            </a:r>
            <a:r>
              <a:rPr lang="zh-CN" alt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功能设计</a:t>
            </a:r>
            <a:endParaRPr lang="en-US" altLang="zh-CN"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22" name="TextBox 22"/>
          <p:cNvSpPr txBox="1"/>
          <p:nvPr/>
        </p:nvSpPr>
        <p:spPr>
          <a:xfrm>
            <a:off x="13753946" y="872490"/>
            <a:ext cx="3505354" cy="645795"/>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THREE</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sp>
        <p:nvSpPr>
          <p:cNvPr id="32" name="Shape 23"/>
          <p:cNvSpPr/>
          <p:nvPr/>
        </p:nvSpPr>
        <p:spPr>
          <a:xfrm>
            <a:off x="533400" y="2857500"/>
            <a:ext cx="6071235" cy="4699000"/>
          </a:xfrm>
          <a:prstGeom prst="roundRect">
            <a:avLst>
              <a:gd name="adj" fmla="val 731"/>
            </a:avLst>
          </a:prstGeom>
          <a:solidFill>
            <a:srgbClr val="EEEFF1"/>
          </a:solidFill>
        </p:spPr>
        <p:txBody>
          <a:bodyPr/>
          <a:lstStyle/>
          <a:p>
            <a:endParaRPr lang="zh-CN" altLang="en-US"/>
          </a:p>
        </p:txBody>
      </p:sp>
      <p:sp>
        <p:nvSpPr>
          <p:cNvPr id="23" name="TextBox 23"/>
          <p:cNvSpPr txBox="1"/>
          <p:nvPr/>
        </p:nvSpPr>
        <p:spPr>
          <a:xfrm>
            <a:off x="-304920" y="2857559"/>
            <a:ext cx="7646136" cy="645795"/>
          </a:xfrm>
          <a:prstGeom prst="rect">
            <a:avLst/>
          </a:prstGeom>
        </p:spPr>
        <p:txBody>
          <a:bodyPr lIns="0" tIns="0" rIns="0" bIns="0" rtlCol="0" anchor="t">
            <a:spAutoFit/>
          </a:bodyPr>
          <a:lstStyle/>
          <a:p>
            <a:pPr algn="ctr">
              <a:lnSpc>
                <a:spcPts val="5040"/>
              </a:lnSpc>
            </a:pPr>
            <a:r>
              <a:rPr lang="zh-CN"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描述统计与可视化</a:t>
            </a:r>
            <a:endParaRPr lang="zh-CN"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24" name="TextBox 24"/>
          <p:cNvSpPr txBox="1"/>
          <p:nvPr/>
        </p:nvSpPr>
        <p:spPr>
          <a:xfrm>
            <a:off x="762000" y="3632200"/>
            <a:ext cx="5842635" cy="4293870"/>
          </a:xfrm>
          <a:prstGeom prst="rect">
            <a:avLst/>
          </a:prstGeom>
        </p:spPr>
        <p:txBody>
          <a:bodyPr lIns="0" tIns="0" rIns="0" bIns="0" rtlCol="0" anchor="t">
            <a:noAutofit/>
          </a:bodyPr>
          <a:lstStyle/>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在基础的描述性统计（如极值、均值分析）之外，系统集成了自动分箱算法以生成直观的数据分布直方图。</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为深度挖掘数据变量间的潜在联系，系统不仅提供</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Shapiro-Wilk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正态性检验辅助判断，还引入了</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Pearson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相关系数热力图。</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这使得用户能够在一个视窗内，快速洞察海量特征间的线性相关性与双变量极值分布。</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p:txBody>
      </p:sp>
      <p:grpSp>
        <p:nvGrpSpPr>
          <p:cNvPr id="31" name="组合 30"/>
          <p:cNvGrpSpPr/>
          <p:nvPr/>
        </p:nvGrpSpPr>
        <p:grpSpPr>
          <a:xfrm>
            <a:off x="-2209524" y="1893295"/>
            <a:ext cx="11315700" cy="769895"/>
            <a:chOff x="-574" y="3217"/>
            <a:chExt cx="9858" cy="1062"/>
          </a:xfrm>
        </p:grpSpPr>
        <p:grpSp>
          <p:nvGrpSpPr>
            <p:cNvPr id="9" name="Group 9"/>
            <p:cNvGrpSpPr/>
            <p:nvPr/>
          </p:nvGrpSpPr>
          <p:grpSpPr>
            <a:xfrm rot="0">
              <a:off x="1560" y="3217"/>
              <a:ext cx="5457" cy="1062"/>
              <a:chOff x="0" y="0"/>
              <a:chExt cx="912647" cy="177594"/>
            </a:xfrm>
          </p:grpSpPr>
          <p:sp>
            <p:nvSpPr>
              <p:cNvPr id="10" name="Freeform 10"/>
              <p:cNvSpPr/>
              <p:nvPr/>
            </p:nvSpPr>
            <p:spPr>
              <a:xfrm>
                <a:off x="0" y="0"/>
                <a:ext cx="912647" cy="177594"/>
              </a:xfrm>
              <a:custGeom>
                <a:avLst/>
                <a:gdLst/>
                <a:ahLst/>
                <a:cxnLst/>
                <a:rect l="l" t="t" r="r" b="b"/>
                <a:pathLst>
                  <a:path w="912647" h="177594">
                    <a:moveTo>
                      <a:pt x="88797" y="0"/>
                    </a:moveTo>
                    <a:lnTo>
                      <a:pt x="823850" y="0"/>
                    </a:lnTo>
                    <a:cubicBezTo>
                      <a:pt x="872891" y="0"/>
                      <a:pt x="912647" y="39756"/>
                      <a:pt x="912647" y="88797"/>
                    </a:cubicBezTo>
                    <a:lnTo>
                      <a:pt x="912647" y="88797"/>
                    </a:lnTo>
                    <a:cubicBezTo>
                      <a:pt x="912647" y="112348"/>
                      <a:pt x="903292" y="134934"/>
                      <a:pt x="886639" y="151586"/>
                    </a:cubicBezTo>
                    <a:cubicBezTo>
                      <a:pt x="869986" y="168239"/>
                      <a:pt x="847400" y="177594"/>
                      <a:pt x="823850" y="177594"/>
                    </a:cubicBezTo>
                    <a:lnTo>
                      <a:pt x="88797" y="177594"/>
                    </a:lnTo>
                    <a:cubicBezTo>
                      <a:pt x="65247" y="177594"/>
                      <a:pt x="42661" y="168239"/>
                      <a:pt x="26008" y="151586"/>
                    </a:cubicBezTo>
                    <a:cubicBezTo>
                      <a:pt x="9355" y="134934"/>
                      <a:pt x="0" y="112348"/>
                      <a:pt x="0" y="88797"/>
                    </a:cubicBezTo>
                    <a:lnTo>
                      <a:pt x="0" y="88797"/>
                    </a:lnTo>
                    <a:cubicBezTo>
                      <a:pt x="0" y="65247"/>
                      <a:pt x="9355" y="42661"/>
                      <a:pt x="26008" y="26008"/>
                    </a:cubicBezTo>
                    <a:cubicBezTo>
                      <a:pt x="42661" y="9355"/>
                      <a:pt x="65247" y="0"/>
                      <a:pt x="88797" y="0"/>
                    </a:cubicBezTo>
                    <a:close/>
                  </a:path>
                </a:pathLst>
              </a:custGeom>
              <a:solidFill>
                <a:srgbClr val="FFFFFF"/>
              </a:solidFill>
              <a:ln w="19050" cap="rnd">
                <a:solidFill>
                  <a:srgbClr val="3B64C9"/>
                </a:solidFill>
                <a:prstDash val="solid"/>
                <a:round/>
              </a:ln>
            </p:spPr>
          </p:sp>
          <p:sp>
            <p:nvSpPr>
              <p:cNvPr id="11" name="TextBox 11"/>
              <p:cNvSpPr txBox="1"/>
              <p:nvPr/>
            </p:nvSpPr>
            <p:spPr>
              <a:xfrm>
                <a:off x="0" y="-38100"/>
                <a:ext cx="912647" cy="215694"/>
              </a:xfrm>
              <a:prstGeom prst="rect">
                <a:avLst/>
              </a:prstGeom>
            </p:spPr>
            <p:txBody>
              <a:bodyPr lIns="50800" tIns="50800" rIns="50800" bIns="50800" rtlCol="0" anchor="ctr"/>
              <a:lstStyle/>
              <a:p>
                <a:pPr algn="ctr">
                  <a:lnSpc>
                    <a:spcPts val="2520"/>
                  </a:lnSpc>
                </a:pPr>
                <a:endParaRPr>
                  <a:latin typeface="微软雅黑" panose="020B0503020204020204" charset="-122"/>
                  <a:ea typeface="微软雅黑" panose="020B0503020204020204" charset="-122"/>
                </a:endParaRPr>
              </a:p>
            </p:txBody>
          </p:sp>
        </p:grpSp>
        <p:sp>
          <p:nvSpPr>
            <p:cNvPr id="25" name="TextBox 25"/>
            <p:cNvSpPr txBox="1"/>
            <p:nvPr/>
          </p:nvSpPr>
          <p:spPr>
            <a:xfrm>
              <a:off x="-574" y="3235"/>
              <a:ext cx="9858" cy="891"/>
            </a:xfrm>
            <a:prstGeom prst="rect">
              <a:avLst/>
            </a:prstGeom>
          </p:spPr>
          <p:txBody>
            <a:bodyPr wrap="square" lIns="0" tIns="0" rIns="0" bIns="0" rtlCol="0" anchor="t">
              <a:spAutoFit/>
            </a:bodyPr>
            <a:lstStyle/>
            <a:p>
              <a:pPr algn="ctr">
                <a:lnSpc>
                  <a:spcPts val="5040"/>
                </a:lnSpc>
              </a:pPr>
              <a:r>
                <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描述统计与可视化，关联分析</a:t>
              </a:r>
              <a:endPar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grpSp>
      <p:pic>
        <p:nvPicPr>
          <p:cNvPr id="3" name="图片 2"/>
          <p:cNvPicPr>
            <a:picLocks noChangeAspect="1"/>
          </p:cNvPicPr>
          <p:nvPr/>
        </p:nvPicPr>
        <p:blipFill>
          <a:blip r:embed="rId4"/>
          <a:stretch>
            <a:fillRect/>
          </a:stretch>
        </p:blipFill>
        <p:spPr>
          <a:xfrm>
            <a:off x="6553200" y="723900"/>
            <a:ext cx="4110355" cy="1616710"/>
          </a:xfrm>
          <a:prstGeom prst="rect">
            <a:avLst/>
          </a:prstGeom>
        </p:spPr>
      </p:pic>
      <p:pic>
        <p:nvPicPr>
          <p:cNvPr id="4" name="图片 3"/>
          <p:cNvPicPr>
            <a:picLocks noChangeAspect="1"/>
          </p:cNvPicPr>
          <p:nvPr/>
        </p:nvPicPr>
        <p:blipFill>
          <a:blip r:embed="rId5"/>
          <a:stretch>
            <a:fillRect/>
          </a:stretch>
        </p:blipFill>
        <p:spPr>
          <a:xfrm>
            <a:off x="6503670" y="2924175"/>
            <a:ext cx="5252085" cy="2637790"/>
          </a:xfrm>
          <a:prstGeom prst="rect">
            <a:avLst/>
          </a:prstGeom>
        </p:spPr>
      </p:pic>
      <p:pic>
        <p:nvPicPr>
          <p:cNvPr id="5" name="图片 4"/>
          <p:cNvPicPr>
            <a:picLocks noChangeAspect="1"/>
          </p:cNvPicPr>
          <p:nvPr/>
        </p:nvPicPr>
        <p:blipFill>
          <a:blip r:embed="rId6"/>
          <a:stretch>
            <a:fillRect/>
          </a:stretch>
        </p:blipFill>
        <p:spPr>
          <a:xfrm>
            <a:off x="11734800" y="2924175"/>
            <a:ext cx="6402070" cy="4488815"/>
          </a:xfrm>
          <a:prstGeom prst="rect">
            <a:avLst/>
          </a:prstGeom>
        </p:spPr>
      </p:pic>
      <p:pic>
        <p:nvPicPr>
          <p:cNvPr id="6" name="图片 5"/>
          <p:cNvPicPr>
            <a:picLocks noChangeAspect="1"/>
          </p:cNvPicPr>
          <p:nvPr/>
        </p:nvPicPr>
        <p:blipFill>
          <a:blip r:embed="rId7"/>
          <a:stretch>
            <a:fillRect/>
          </a:stretch>
        </p:blipFill>
        <p:spPr>
          <a:xfrm>
            <a:off x="6539865" y="5561965"/>
            <a:ext cx="5265420" cy="3712845"/>
          </a:xfrm>
          <a:prstGeom prst="rect">
            <a:avLst/>
          </a:prstGeom>
        </p:spPr>
      </p:pic>
      <p:pic>
        <p:nvPicPr>
          <p:cNvPr id="12" name="图片 11"/>
          <p:cNvPicPr>
            <a:picLocks noChangeAspect="1"/>
          </p:cNvPicPr>
          <p:nvPr/>
        </p:nvPicPr>
        <p:blipFill>
          <a:blip r:embed="rId8"/>
          <a:stretch>
            <a:fillRect/>
          </a:stretch>
        </p:blipFill>
        <p:spPr>
          <a:xfrm>
            <a:off x="11506200" y="571500"/>
            <a:ext cx="4061460" cy="20193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7" name="Freeform 7"/>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8" name="Freeform 8"/>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sp>
        <p:nvSpPr>
          <p:cNvPr id="21" name="TextBox 21"/>
          <p:cNvSpPr txBox="1"/>
          <p:nvPr/>
        </p:nvSpPr>
        <p:spPr>
          <a:xfrm>
            <a:off x="1028700" y="457200"/>
            <a:ext cx="4776601" cy="1076960"/>
          </a:xfrm>
          <a:prstGeom prst="rect">
            <a:avLst/>
          </a:prstGeom>
        </p:spPr>
        <p:txBody>
          <a:bodyPr lIns="0" tIns="0" rIns="0" bIns="0" rtlCol="0" anchor="t">
            <a:spAutoFit/>
          </a:bodyPr>
          <a:lstStyle/>
          <a:p>
            <a:pPr algn="l">
              <a:lnSpc>
                <a:spcPts val="8400"/>
              </a:lnSpc>
            </a:pPr>
            <a:r>
              <a:rPr 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03.</a:t>
            </a:r>
            <a:r>
              <a:rPr lang="zh-CN" alt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功能设计</a:t>
            </a:r>
            <a:endParaRPr lang="en-US" altLang="zh-CN"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22" name="TextBox 22"/>
          <p:cNvSpPr txBox="1"/>
          <p:nvPr/>
        </p:nvSpPr>
        <p:spPr>
          <a:xfrm>
            <a:off x="13753946" y="872490"/>
            <a:ext cx="3505354" cy="645795"/>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THREE</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sp>
        <p:nvSpPr>
          <p:cNvPr id="32" name="Shape 23"/>
          <p:cNvSpPr/>
          <p:nvPr/>
        </p:nvSpPr>
        <p:spPr>
          <a:xfrm>
            <a:off x="533400" y="2857500"/>
            <a:ext cx="6071235" cy="4699000"/>
          </a:xfrm>
          <a:prstGeom prst="roundRect">
            <a:avLst>
              <a:gd name="adj" fmla="val 731"/>
            </a:avLst>
          </a:prstGeom>
          <a:solidFill>
            <a:srgbClr val="EEEFF1"/>
          </a:solidFill>
        </p:spPr>
        <p:txBody>
          <a:bodyPr/>
          <a:lstStyle/>
          <a:p>
            <a:endParaRPr lang="zh-CN" altLang="en-US"/>
          </a:p>
        </p:txBody>
      </p:sp>
      <p:sp>
        <p:nvSpPr>
          <p:cNvPr id="23" name="TextBox 23"/>
          <p:cNvSpPr txBox="1"/>
          <p:nvPr/>
        </p:nvSpPr>
        <p:spPr>
          <a:xfrm>
            <a:off x="-304920" y="2857559"/>
            <a:ext cx="7646136" cy="645795"/>
          </a:xfrm>
          <a:prstGeom prst="rect">
            <a:avLst/>
          </a:prstGeom>
        </p:spPr>
        <p:txBody>
          <a:bodyPr lIns="0" tIns="0" rIns="0" bIns="0" rtlCol="0" anchor="t">
            <a:spAutoFit/>
          </a:bodyPr>
          <a:lstStyle/>
          <a:p>
            <a:pPr algn="ctr">
              <a:lnSpc>
                <a:spcPts val="5040"/>
              </a:lnSpc>
            </a:pPr>
            <a:r>
              <a:rPr lang="en-US" altLang="zh-CN" sz="3600" b="1" spc="179">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T</a:t>
            </a:r>
            <a:r>
              <a:rPr lang="zh-CN" altLang="en-US" sz="3600" b="1" spc="179">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检验</a:t>
            </a:r>
            <a:endParaRPr lang="zh-CN" altLang="en-US" sz="3600" b="1" spc="179">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24" name="TextBox 24"/>
          <p:cNvSpPr txBox="1"/>
          <p:nvPr/>
        </p:nvSpPr>
        <p:spPr>
          <a:xfrm>
            <a:off x="762000" y="3619500"/>
            <a:ext cx="5842635" cy="4293870"/>
          </a:xfrm>
          <a:prstGeom prst="rect">
            <a:avLst/>
          </a:prstGeom>
        </p:spPr>
        <p:txBody>
          <a:bodyPr lIns="0" tIns="0" rIns="0" bIns="0" rtlCol="0" anchor="t">
            <a:noAutofit/>
          </a:bodyPr>
          <a:lstStyle/>
          <a:p>
            <a:pPr algn="l">
              <a:lnSpc>
                <a:spcPct val="10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传统</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T</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检验</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对数据的正态性有着严格的数学要求。</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为提升系统的健壮性与分析的连贯性，我们在底层增加了分布校验机制。</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当检测到所选数据组不符合正态分布时，系统不会直接抛出错误中断进程，而是会自动触发基于大数定律的</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Bootstrap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重抽样算法（模拟</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100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次有放回抽样），确保在非理想数据分布下，依然能为用户提供科学参考。</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p:txBody>
      </p:sp>
      <p:grpSp>
        <p:nvGrpSpPr>
          <p:cNvPr id="31" name="组合 30"/>
          <p:cNvGrpSpPr/>
          <p:nvPr/>
        </p:nvGrpSpPr>
        <p:grpSpPr>
          <a:xfrm>
            <a:off x="761880" y="1724660"/>
            <a:ext cx="3465315" cy="677023"/>
            <a:chOff x="1560" y="3213"/>
            <a:chExt cx="5457" cy="1066"/>
          </a:xfrm>
        </p:grpSpPr>
        <p:grpSp>
          <p:nvGrpSpPr>
            <p:cNvPr id="9" name="Group 9"/>
            <p:cNvGrpSpPr/>
            <p:nvPr/>
          </p:nvGrpSpPr>
          <p:grpSpPr>
            <a:xfrm rot="0">
              <a:off x="1560" y="3217"/>
              <a:ext cx="5457" cy="1062"/>
              <a:chOff x="0" y="0"/>
              <a:chExt cx="912647" cy="177594"/>
            </a:xfrm>
          </p:grpSpPr>
          <p:sp>
            <p:nvSpPr>
              <p:cNvPr id="10" name="Freeform 10"/>
              <p:cNvSpPr/>
              <p:nvPr/>
            </p:nvSpPr>
            <p:spPr>
              <a:xfrm>
                <a:off x="0" y="0"/>
                <a:ext cx="912647" cy="177594"/>
              </a:xfrm>
              <a:custGeom>
                <a:avLst/>
                <a:gdLst/>
                <a:ahLst/>
                <a:cxnLst/>
                <a:rect l="l" t="t" r="r" b="b"/>
                <a:pathLst>
                  <a:path w="912647" h="177594">
                    <a:moveTo>
                      <a:pt x="88797" y="0"/>
                    </a:moveTo>
                    <a:lnTo>
                      <a:pt x="823850" y="0"/>
                    </a:lnTo>
                    <a:cubicBezTo>
                      <a:pt x="872891" y="0"/>
                      <a:pt x="912647" y="39756"/>
                      <a:pt x="912647" y="88797"/>
                    </a:cubicBezTo>
                    <a:lnTo>
                      <a:pt x="912647" y="88797"/>
                    </a:lnTo>
                    <a:cubicBezTo>
                      <a:pt x="912647" y="112348"/>
                      <a:pt x="903292" y="134934"/>
                      <a:pt x="886639" y="151586"/>
                    </a:cubicBezTo>
                    <a:cubicBezTo>
                      <a:pt x="869986" y="168239"/>
                      <a:pt x="847400" y="177594"/>
                      <a:pt x="823850" y="177594"/>
                    </a:cubicBezTo>
                    <a:lnTo>
                      <a:pt x="88797" y="177594"/>
                    </a:lnTo>
                    <a:cubicBezTo>
                      <a:pt x="65247" y="177594"/>
                      <a:pt x="42661" y="168239"/>
                      <a:pt x="26008" y="151586"/>
                    </a:cubicBezTo>
                    <a:cubicBezTo>
                      <a:pt x="9355" y="134934"/>
                      <a:pt x="0" y="112348"/>
                      <a:pt x="0" y="88797"/>
                    </a:cubicBezTo>
                    <a:lnTo>
                      <a:pt x="0" y="88797"/>
                    </a:lnTo>
                    <a:cubicBezTo>
                      <a:pt x="0" y="65247"/>
                      <a:pt x="9355" y="42661"/>
                      <a:pt x="26008" y="26008"/>
                    </a:cubicBezTo>
                    <a:cubicBezTo>
                      <a:pt x="42661" y="9355"/>
                      <a:pt x="65247" y="0"/>
                      <a:pt x="88797" y="0"/>
                    </a:cubicBezTo>
                    <a:close/>
                  </a:path>
                </a:pathLst>
              </a:custGeom>
              <a:solidFill>
                <a:srgbClr val="FFFFFF"/>
              </a:solidFill>
              <a:ln w="19050" cap="rnd">
                <a:solidFill>
                  <a:srgbClr val="3B64C9"/>
                </a:solidFill>
                <a:prstDash val="solid"/>
                <a:round/>
              </a:ln>
            </p:spPr>
          </p:sp>
          <p:sp>
            <p:nvSpPr>
              <p:cNvPr id="11" name="TextBox 11"/>
              <p:cNvSpPr txBox="1"/>
              <p:nvPr/>
            </p:nvSpPr>
            <p:spPr>
              <a:xfrm>
                <a:off x="0" y="-38100"/>
                <a:ext cx="912647" cy="215694"/>
              </a:xfrm>
              <a:prstGeom prst="rect">
                <a:avLst/>
              </a:prstGeom>
            </p:spPr>
            <p:txBody>
              <a:bodyPr lIns="50800" tIns="50800" rIns="50800" bIns="50800" rtlCol="0" anchor="ctr"/>
              <a:lstStyle/>
              <a:p>
                <a:pPr algn="ctr">
                  <a:lnSpc>
                    <a:spcPts val="2520"/>
                  </a:lnSpc>
                </a:pPr>
                <a:endParaRPr>
                  <a:latin typeface="微软雅黑" panose="020B0503020204020204" charset="-122"/>
                  <a:ea typeface="微软雅黑" panose="020B0503020204020204" charset="-122"/>
                </a:endParaRPr>
              </a:p>
            </p:txBody>
          </p:sp>
        </p:grpSp>
        <p:sp>
          <p:nvSpPr>
            <p:cNvPr id="25" name="TextBox 25"/>
            <p:cNvSpPr txBox="1"/>
            <p:nvPr/>
          </p:nvSpPr>
          <p:spPr>
            <a:xfrm>
              <a:off x="1560" y="3213"/>
              <a:ext cx="5457" cy="1017"/>
            </a:xfrm>
            <a:prstGeom prst="rect">
              <a:avLst/>
            </a:prstGeom>
          </p:spPr>
          <p:txBody>
            <a:bodyPr lIns="0" tIns="0" rIns="0" bIns="0" rtlCol="0" anchor="t">
              <a:spAutoFit/>
            </a:bodyPr>
            <a:lstStyle/>
            <a:p>
              <a:pPr algn="ctr">
                <a:lnSpc>
                  <a:spcPts val="5040"/>
                </a:lnSpc>
              </a:pPr>
              <a:r>
                <a:rPr lang="en-US" altLang="zh-CN" sz="3600" spc="179">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T</a:t>
              </a:r>
              <a:r>
                <a:rPr lang="zh-CN" altLang="en-US" sz="3600" spc="179">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检验</a:t>
              </a:r>
              <a:endParaRPr lang="zh-CN" altLang="en-US" sz="3600" spc="179">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grpSp>
      <p:pic>
        <p:nvPicPr>
          <p:cNvPr id="3" name="图片 2"/>
          <p:cNvPicPr>
            <a:picLocks noChangeAspect="1"/>
          </p:cNvPicPr>
          <p:nvPr/>
        </p:nvPicPr>
        <p:blipFill>
          <a:blip r:embed="rId4"/>
          <a:stretch>
            <a:fillRect/>
          </a:stretch>
        </p:blipFill>
        <p:spPr>
          <a:xfrm>
            <a:off x="6934200" y="1771650"/>
            <a:ext cx="3916680" cy="1082675"/>
          </a:xfrm>
          <a:prstGeom prst="rect">
            <a:avLst/>
          </a:prstGeom>
        </p:spPr>
      </p:pic>
      <p:pic>
        <p:nvPicPr>
          <p:cNvPr id="4" name="图片 3"/>
          <p:cNvPicPr>
            <a:picLocks noChangeAspect="1"/>
          </p:cNvPicPr>
          <p:nvPr/>
        </p:nvPicPr>
        <p:blipFill>
          <a:blip r:embed="rId5"/>
          <a:stretch>
            <a:fillRect/>
          </a:stretch>
        </p:blipFill>
        <p:spPr>
          <a:xfrm>
            <a:off x="6934200" y="3390900"/>
            <a:ext cx="4123055" cy="1618615"/>
          </a:xfrm>
          <a:prstGeom prst="rect">
            <a:avLst/>
          </a:prstGeom>
        </p:spPr>
      </p:pic>
      <p:pic>
        <p:nvPicPr>
          <p:cNvPr id="5" name="图片 4"/>
          <p:cNvPicPr>
            <a:picLocks noChangeAspect="1"/>
          </p:cNvPicPr>
          <p:nvPr/>
        </p:nvPicPr>
        <p:blipFill>
          <a:blip r:embed="rId6"/>
          <a:stretch>
            <a:fillRect/>
          </a:stretch>
        </p:blipFill>
        <p:spPr>
          <a:xfrm>
            <a:off x="7086600" y="5676900"/>
            <a:ext cx="8896350" cy="3124200"/>
          </a:xfrm>
          <a:prstGeom prst="rect">
            <a:avLst/>
          </a:prstGeom>
        </p:spPr>
      </p:pic>
      <p:pic>
        <p:nvPicPr>
          <p:cNvPr id="6" name="图片 5"/>
          <p:cNvPicPr>
            <a:picLocks noChangeAspect="1"/>
          </p:cNvPicPr>
          <p:nvPr/>
        </p:nvPicPr>
        <p:blipFill>
          <a:blip r:embed="rId7"/>
          <a:stretch>
            <a:fillRect/>
          </a:stretch>
        </p:blipFill>
        <p:spPr>
          <a:xfrm>
            <a:off x="11582400" y="1866900"/>
            <a:ext cx="4227830" cy="1003935"/>
          </a:xfrm>
          <a:prstGeom prst="rect">
            <a:avLst/>
          </a:prstGeom>
        </p:spPr>
      </p:pic>
      <p:pic>
        <p:nvPicPr>
          <p:cNvPr id="12" name="图片 11"/>
          <p:cNvPicPr>
            <a:picLocks noChangeAspect="1"/>
          </p:cNvPicPr>
          <p:nvPr/>
        </p:nvPicPr>
        <p:blipFill>
          <a:blip r:embed="rId8"/>
          <a:stretch>
            <a:fillRect/>
          </a:stretch>
        </p:blipFill>
        <p:spPr>
          <a:xfrm>
            <a:off x="11643995" y="3421380"/>
            <a:ext cx="4043680" cy="165481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7" name="Freeform 7"/>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8" name="Freeform 8"/>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sp>
        <p:nvSpPr>
          <p:cNvPr id="21" name="TextBox 21"/>
          <p:cNvSpPr txBox="1"/>
          <p:nvPr/>
        </p:nvSpPr>
        <p:spPr>
          <a:xfrm>
            <a:off x="1028700" y="457200"/>
            <a:ext cx="4776601" cy="1076960"/>
          </a:xfrm>
          <a:prstGeom prst="rect">
            <a:avLst/>
          </a:prstGeom>
        </p:spPr>
        <p:txBody>
          <a:bodyPr lIns="0" tIns="0" rIns="0" bIns="0" rtlCol="0" anchor="t">
            <a:spAutoFit/>
          </a:bodyPr>
          <a:lstStyle/>
          <a:p>
            <a:pPr algn="l">
              <a:lnSpc>
                <a:spcPts val="8400"/>
              </a:lnSpc>
            </a:pPr>
            <a:r>
              <a:rPr 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03.</a:t>
            </a:r>
            <a:r>
              <a:rPr lang="zh-CN" alt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功能设计</a:t>
            </a:r>
            <a:endParaRPr lang="en-US" altLang="zh-CN"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22" name="TextBox 22"/>
          <p:cNvSpPr txBox="1"/>
          <p:nvPr/>
        </p:nvSpPr>
        <p:spPr>
          <a:xfrm>
            <a:off x="13753946" y="872490"/>
            <a:ext cx="3505354" cy="613410"/>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TWO</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sp>
        <p:nvSpPr>
          <p:cNvPr id="32" name="Shape 23"/>
          <p:cNvSpPr/>
          <p:nvPr/>
        </p:nvSpPr>
        <p:spPr>
          <a:xfrm>
            <a:off x="533400" y="2857500"/>
            <a:ext cx="6071235" cy="4699000"/>
          </a:xfrm>
          <a:prstGeom prst="roundRect">
            <a:avLst>
              <a:gd name="adj" fmla="val 731"/>
            </a:avLst>
          </a:prstGeom>
          <a:solidFill>
            <a:srgbClr val="EEEFF1"/>
          </a:solidFill>
        </p:spPr>
        <p:txBody>
          <a:bodyPr/>
          <a:lstStyle/>
          <a:p>
            <a:endParaRPr lang="zh-CN" altLang="en-US"/>
          </a:p>
        </p:txBody>
      </p:sp>
      <p:sp>
        <p:nvSpPr>
          <p:cNvPr id="23" name="TextBox 23"/>
          <p:cNvSpPr txBox="1"/>
          <p:nvPr/>
        </p:nvSpPr>
        <p:spPr>
          <a:xfrm>
            <a:off x="-304920" y="2857559"/>
            <a:ext cx="7646136" cy="645795"/>
          </a:xfrm>
          <a:prstGeom prst="rect">
            <a:avLst/>
          </a:prstGeom>
        </p:spPr>
        <p:txBody>
          <a:bodyPr lIns="0" tIns="0" rIns="0" bIns="0" rtlCol="0" anchor="t">
            <a:spAutoFit/>
          </a:bodyPr>
          <a:lstStyle/>
          <a:p>
            <a:pPr algn="ctr">
              <a:lnSpc>
                <a:spcPts val="5040"/>
              </a:lnSpc>
            </a:pPr>
            <a:r>
              <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机器学习与模型预测</a:t>
            </a:r>
            <a:endPar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24" name="TextBox 24"/>
          <p:cNvSpPr txBox="1"/>
          <p:nvPr/>
        </p:nvSpPr>
        <p:spPr>
          <a:xfrm>
            <a:off x="609600" y="3619500"/>
            <a:ext cx="5842635" cy="4293870"/>
          </a:xfrm>
          <a:prstGeom prst="rect">
            <a:avLst/>
          </a:prstGeom>
        </p:spPr>
        <p:txBody>
          <a:bodyPr lIns="0" tIns="0" rIns="0" bIns="0" rtlCol="0" anchor="t">
            <a:noAutofit/>
          </a:bodyPr>
          <a:lstStyle/>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预测模块基于</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Scikit-learn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的随机森林（</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Random Forest</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）算法构建。</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为防止模型过拟合误导业务决策，系统引入了动态置信度评估机制：当</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R</a:t>
            </a:r>
            <a:r>
              <a:rPr lang="en-US"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²</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决定系数表现较差时，系统会自动降低预测结果的置信度评分，保证分析的客观性。</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同时，模型会自动计算并提取</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特征重要性（</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Feature Importances</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，帮助用户直观理解各个变量对最终预测结果的实际贡献度。</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p:txBody>
      </p:sp>
      <p:grpSp>
        <p:nvGrpSpPr>
          <p:cNvPr id="31" name="组合 30"/>
          <p:cNvGrpSpPr/>
          <p:nvPr/>
        </p:nvGrpSpPr>
        <p:grpSpPr>
          <a:xfrm>
            <a:off x="762000" y="1727200"/>
            <a:ext cx="4724400" cy="674370"/>
            <a:chOff x="1560" y="3217"/>
            <a:chExt cx="5457" cy="1062"/>
          </a:xfrm>
        </p:grpSpPr>
        <p:sp>
          <p:nvSpPr>
            <p:cNvPr id="10" name="Freeform 10"/>
            <p:cNvSpPr/>
            <p:nvPr/>
          </p:nvSpPr>
          <p:spPr>
            <a:xfrm>
              <a:off x="1560" y="3217"/>
              <a:ext cx="5457" cy="1062"/>
            </a:xfrm>
            <a:custGeom>
              <a:avLst/>
              <a:gdLst/>
              <a:ahLst/>
              <a:cxnLst/>
              <a:rect l="l" t="t" r="r" b="b"/>
              <a:pathLst>
                <a:path w="912647" h="177594">
                  <a:moveTo>
                    <a:pt x="88797" y="0"/>
                  </a:moveTo>
                  <a:lnTo>
                    <a:pt x="823850" y="0"/>
                  </a:lnTo>
                  <a:cubicBezTo>
                    <a:pt x="872891" y="0"/>
                    <a:pt x="912647" y="39756"/>
                    <a:pt x="912647" y="88797"/>
                  </a:cubicBezTo>
                  <a:lnTo>
                    <a:pt x="912647" y="88797"/>
                  </a:lnTo>
                  <a:cubicBezTo>
                    <a:pt x="912647" y="112348"/>
                    <a:pt x="903292" y="134934"/>
                    <a:pt x="886639" y="151586"/>
                  </a:cubicBezTo>
                  <a:cubicBezTo>
                    <a:pt x="869986" y="168239"/>
                    <a:pt x="847400" y="177594"/>
                    <a:pt x="823850" y="177594"/>
                  </a:cubicBezTo>
                  <a:lnTo>
                    <a:pt x="88797" y="177594"/>
                  </a:lnTo>
                  <a:cubicBezTo>
                    <a:pt x="65247" y="177594"/>
                    <a:pt x="42661" y="168239"/>
                    <a:pt x="26008" y="151586"/>
                  </a:cubicBezTo>
                  <a:cubicBezTo>
                    <a:pt x="9355" y="134934"/>
                    <a:pt x="0" y="112348"/>
                    <a:pt x="0" y="88797"/>
                  </a:cubicBezTo>
                  <a:lnTo>
                    <a:pt x="0" y="88797"/>
                  </a:lnTo>
                  <a:cubicBezTo>
                    <a:pt x="0" y="65247"/>
                    <a:pt x="9355" y="42661"/>
                    <a:pt x="26008" y="26008"/>
                  </a:cubicBezTo>
                  <a:cubicBezTo>
                    <a:pt x="42661" y="9355"/>
                    <a:pt x="65247" y="0"/>
                    <a:pt x="88797" y="0"/>
                  </a:cubicBezTo>
                  <a:close/>
                </a:path>
              </a:pathLst>
            </a:custGeom>
            <a:solidFill>
              <a:srgbClr val="FFFFFF"/>
            </a:solidFill>
            <a:ln w="19050" cap="rnd">
              <a:solidFill>
                <a:srgbClr val="3B64C9"/>
              </a:solidFill>
              <a:prstDash val="solid"/>
              <a:round/>
            </a:ln>
          </p:spPr>
        </p:sp>
        <p:sp>
          <p:nvSpPr>
            <p:cNvPr id="25" name="TextBox 25"/>
            <p:cNvSpPr txBox="1"/>
            <p:nvPr/>
          </p:nvSpPr>
          <p:spPr>
            <a:xfrm>
              <a:off x="1736" y="3262"/>
              <a:ext cx="5100" cy="1017"/>
            </a:xfrm>
            <a:prstGeom prst="rect">
              <a:avLst/>
            </a:prstGeom>
          </p:spPr>
          <p:txBody>
            <a:bodyPr wrap="square" lIns="0" tIns="0" rIns="0" bIns="0" rtlCol="0" anchor="t">
              <a:spAutoFit/>
            </a:bodyPr>
            <a:lstStyle/>
            <a:p>
              <a:pPr algn="ctr">
                <a:lnSpc>
                  <a:spcPts val="5040"/>
                </a:lnSpc>
              </a:pPr>
              <a:r>
                <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机器学习与模型预测</a:t>
              </a:r>
              <a:endPar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grpSp>
      <p:pic>
        <p:nvPicPr>
          <p:cNvPr id="3" name="图片 2"/>
          <p:cNvPicPr>
            <a:picLocks noChangeAspect="1"/>
          </p:cNvPicPr>
          <p:nvPr/>
        </p:nvPicPr>
        <p:blipFill>
          <a:blip r:embed="rId4"/>
          <a:stretch>
            <a:fillRect/>
          </a:stretch>
        </p:blipFill>
        <p:spPr>
          <a:xfrm>
            <a:off x="6400800" y="1596390"/>
            <a:ext cx="3964305" cy="3396615"/>
          </a:xfrm>
          <a:prstGeom prst="rect">
            <a:avLst/>
          </a:prstGeom>
        </p:spPr>
      </p:pic>
      <p:pic>
        <p:nvPicPr>
          <p:cNvPr id="6" name="图片 5"/>
          <p:cNvPicPr>
            <a:picLocks noChangeAspect="1"/>
          </p:cNvPicPr>
          <p:nvPr/>
        </p:nvPicPr>
        <p:blipFill>
          <a:blip r:embed="rId5"/>
          <a:stretch>
            <a:fillRect/>
          </a:stretch>
        </p:blipFill>
        <p:spPr>
          <a:xfrm>
            <a:off x="6477000" y="5772785"/>
            <a:ext cx="3726180" cy="3510280"/>
          </a:xfrm>
          <a:prstGeom prst="rect">
            <a:avLst/>
          </a:prstGeom>
        </p:spPr>
      </p:pic>
      <p:pic>
        <p:nvPicPr>
          <p:cNvPr id="12" name="图片 11"/>
          <p:cNvPicPr>
            <a:picLocks noChangeAspect="1"/>
          </p:cNvPicPr>
          <p:nvPr/>
        </p:nvPicPr>
        <p:blipFill>
          <a:blip r:embed="rId6"/>
          <a:stretch>
            <a:fillRect/>
          </a:stretch>
        </p:blipFill>
        <p:spPr>
          <a:xfrm>
            <a:off x="10134600" y="571500"/>
            <a:ext cx="7538085" cy="4421505"/>
          </a:xfrm>
          <a:prstGeom prst="rect">
            <a:avLst/>
          </a:prstGeom>
        </p:spPr>
      </p:pic>
      <p:pic>
        <p:nvPicPr>
          <p:cNvPr id="13" name="图片 12"/>
          <p:cNvPicPr>
            <a:picLocks noChangeAspect="1"/>
          </p:cNvPicPr>
          <p:nvPr/>
        </p:nvPicPr>
        <p:blipFill>
          <a:blip r:embed="rId7"/>
          <a:stretch>
            <a:fillRect/>
          </a:stretch>
        </p:blipFill>
        <p:spPr>
          <a:xfrm>
            <a:off x="10287000" y="4931410"/>
            <a:ext cx="7200265" cy="519303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7" name="Freeform 7"/>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8" name="Freeform 8"/>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sp>
        <p:nvSpPr>
          <p:cNvPr id="21" name="TextBox 21"/>
          <p:cNvSpPr txBox="1"/>
          <p:nvPr/>
        </p:nvSpPr>
        <p:spPr>
          <a:xfrm>
            <a:off x="1028700" y="457200"/>
            <a:ext cx="4776601" cy="1076960"/>
          </a:xfrm>
          <a:prstGeom prst="rect">
            <a:avLst/>
          </a:prstGeom>
        </p:spPr>
        <p:txBody>
          <a:bodyPr lIns="0" tIns="0" rIns="0" bIns="0" rtlCol="0" anchor="t">
            <a:spAutoFit/>
          </a:bodyPr>
          <a:lstStyle/>
          <a:p>
            <a:pPr algn="l">
              <a:lnSpc>
                <a:spcPts val="8400"/>
              </a:lnSpc>
            </a:pPr>
            <a:r>
              <a:rPr 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03.</a:t>
            </a:r>
            <a:r>
              <a:rPr lang="zh-CN" alt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功能设计</a:t>
            </a:r>
            <a:endParaRPr lang="en-US" altLang="zh-CN"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22" name="TextBox 22"/>
          <p:cNvSpPr txBox="1"/>
          <p:nvPr/>
        </p:nvSpPr>
        <p:spPr>
          <a:xfrm>
            <a:off x="13753946" y="872490"/>
            <a:ext cx="3505354" cy="645795"/>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THREE</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sp>
        <p:nvSpPr>
          <p:cNvPr id="32" name="Shape 23"/>
          <p:cNvSpPr/>
          <p:nvPr/>
        </p:nvSpPr>
        <p:spPr>
          <a:xfrm>
            <a:off x="533400" y="2857500"/>
            <a:ext cx="6071235" cy="4699000"/>
          </a:xfrm>
          <a:prstGeom prst="roundRect">
            <a:avLst>
              <a:gd name="adj" fmla="val 731"/>
            </a:avLst>
          </a:prstGeom>
          <a:solidFill>
            <a:srgbClr val="EEEFF1"/>
          </a:solidFill>
        </p:spPr>
        <p:txBody>
          <a:bodyPr/>
          <a:lstStyle/>
          <a:p>
            <a:endParaRPr lang="zh-CN" altLang="en-US"/>
          </a:p>
        </p:txBody>
      </p:sp>
      <p:sp>
        <p:nvSpPr>
          <p:cNvPr id="23" name="TextBox 23"/>
          <p:cNvSpPr txBox="1"/>
          <p:nvPr/>
        </p:nvSpPr>
        <p:spPr>
          <a:xfrm>
            <a:off x="-304920" y="2857559"/>
            <a:ext cx="7646136" cy="645795"/>
          </a:xfrm>
          <a:prstGeom prst="rect">
            <a:avLst/>
          </a:prstGeom>
        </p:spPr>
        <p:txBody>
          <a:bodyPr lIns="0" tIns="0" rIns="0" bIns="0" rtlCol="0" anchor="t">
            <a:spAutoFit/>
          </a:bodyPr>
          <a:lstStyle/>
          <a:p>
            <a:pPr algn="ctr">
              <a:lnSpc>
                <a:spcPts val="5040"/>
              </a:lnSpc>
            </a:pPr>
            <a:r>
              <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个人雷达图</a:t>
            </a:r>
            <a:endPar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24" name="TextBox 24"/>
          <p:cNvSpPr txBox="1"/>
          <p:nvPr/>
        </p:nvSpPr>
        <p:spPr>
          <a:xfrm>
            <a:off x="762000" y="3619500"/>
            <a:ext cx="5842635" cy="4293870"/>
          </a:xfrm>
          <a:prstGeom prst="rect">
            <a:avLst/>
          </a:prstGeom>
        </p:spPr>
        <p:txBody>
          <a:bodyPr lIns="0" tIns="0" rIns="0" bIns="0" rtlCol="0" anchor="t">
            <a:noAutofit/>
          </a:bodyPr>
          <a:lstStyle/>
          <a:p>
            <a:pPr algn="l">
              <a:lnSpc>
                <a:spcPct val="10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本组件旨在直观展示个体数据与整体人群水平的差异。</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系统首先计算各项数值指标的全体平均值作为基准参考线，随后根据用户检索，将特定个体的数据动态叠加在雷达图上进行比对。为保证图表的美观与可读性，系统会根据当前数据极值自动调整雷达图的坐标轴比例（自适应放大</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1.1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倍），确保图形饱满且不会超出可视边界。</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p:txBody>
      </p:sp>
      <p:grpSp>
        <p:nvGrpSpPr>
          <p:cNvPr id="31" name="组合 30"/>
          <p:cNvGrpSpPr/>
          <p:nvPr/>
        </p:nvGrpSpPr>
        <p:grpSpPr>
          <a:xfrm>
            <a:off x="761880" y="1724660"/>
            <a:ext cx="3465315" cy="677023"/>
            <a:chOff x="1560" y="3213"/>
            <a:chExt cx="5457" cy="1066"/>
          </a:xfrm>
        </p:grpSpPr>
        <p:grpSp>
          <p:nvGrpSpPr>
            <p:cNvPr id="9" name="Group 9"/>
            <p:cNvGrpSpPr/>
            <p:nvPr/>
          </p:nvGrpSpPr>
          <p:grpSpPr>
            <a:xfrm rot="0">
              <a:off x="1560" y="3217"/>
              <a:ext cx="5457" cy="1062"/>
              <a:chOff x="0" y="0"/>
              <a:chExt cx="912647" cy="177594"/>
            </a:xfrm>
          </p:grpSpPr>
          <p:sp>
            <p:nvSpPr>
              <p:cNvPr id="10" name="Freeform 10"/>
              <p:cNvSpPr/>
              <p:nvPr/>
            </p:nvSpPr>
            <p:spPr>
              <a:xfrm>
                <a:off x="0" y="0"/>
                <a:ext cx="912647" cy="177594"/>
              </a:xfrm>
              <a:custGeom>
                <a:avLst/>
                <a:gdLst/>
                <a:ahLst/>
                <a:cxnLst/>
                <a:rect l="l" t="t" r="r" b="b"/>
                <a:pathLst>
                  <a:path w="912647" h="177594">
                    <a:moveTo>
                      <a:pt x="88797" y="0"/>
                    </a:moveTo>
                    <a:lnTo>
                      <a:pt x="823850" y="0"/>
                    </a:lnTo>
                    <a:cubicBezTo>
                      <a:pt x="872891" y="0"/>
                      <a:pt x="912647" y="39756"/>
                      <a:pt x="912647" y="88797"/>
                    </a:cubicBezTo>
                    <a:lnTo>
                      <a:pt x="912647" y="88797"/>
                    </a:lnTo>
                    <a:cubicBezTo>
                      <a:pt x="912647" y="112348"/>
                      <a:pt x="903292" y="134934"/>
                      <a:pt x="886639" y="151586"/>
                    </a:cubicBezTo>
                    <a:cubicBezTo>
                      <a:pt x="869986" y="168239"/>
                      <a:pt x="847400" y="177594"/>
                      <a:pt x="823850" y="177594"/>
                    </a:cubicBezTo>
                    <a:lnTo>
                      <a:pt x="88797" y="177594"/>
                    </a:lnTo>
                    <a:cubicBezTo>
                      <a:pt x="65247" y="177594"/>
                      <a:pt x="42661" y="168239"/>
                      <a:pt x="26008" y="151586"/>
                    </a:cubicBezTo>
                    <a:cubicBezTo>
                      <a:pt x="9355" y="134934"/>
                      <a:pt x="0" y="112348"/>
                      <a:pt x="0" y="88797"/>
                    </a:cubicBezTo>
                    <a:lnTo>
                      <a:pt x="0" y="88797"/>
                    </a:lnTo>
                    <a:cubicBezTo>
                      <a:pt x="0" y="65247"/>
                      <a:pt x="9355" y="42661"/>
                      <a:pt x="26008" y="26008"/>
                    </a:cubicBezTo>
                    <a:cubicBezTo>
                      <a:pt x="42661" y="9355"/>
                      <a:pt x="65247" y="0"/>
                      <a:pt x="88797" y="0"/>
                    </a:cubicBezTo>
                    <a:close/>
                  </a:path>
                </a:pathLst>
              </a:custGeom>
              <a:solidFill>
                <a:srgbClr val="FFFFFF"/>
              </a:solidFill>
              <a:ln w="19050" cap="rnd">
                <a:solidFill>
                  <a:srgbClr val="3B64C9"/>
                </a:solidFill>
                <a:prstDash val="solid"/>
                <a:round/>
              </a:ln>
            </p:spPr>
          </p:sp>
          <p:sp>
            <p:nvSpPr>
              <p:cNvPr id="11" name="TextBox 11"/>
              <p:cNvSpPr txBox="1"/>
              <p:nvPr/>
            </p:nvSpPr>
            <p:spPr>
              <a:xfrm>
                <a:off x="0" y="-38100"/>
                <a:ext cx="912647" cy="215694"/>
              </a:xfrm>
              <a:prstGeom prst="rect">
                <a:avLst/>
              </a:prstGeom>
            </p:spPr>
            <p:txBody>
              <a:bodyPr lIns="50800" tIns="50800" rIns="50800" bIns="50800" rtlCol="0" anchor="ctr"/>
              <a:lstStyle/>
              <a:p>
                <a:pPr algn="ctr">
                  <a:lnSpc>
                    <a:spcPts val="2520"/>
                  </a:lnSpc>
                </a:pPr>
                <a:endParaRPr>
                  <a:latin typeface="微软雅黑" panose="020B0503020204020204" charset="-122"/>
                  <a:ea typeface="微软雅黑" panose="020B0503020204020204" charset="-122"/>
                </a:endParaRPr>
              </a:p>
            </p:txBody>
          </p:sp>
        </p:grpSp>
        <p:sp>
          <p:nvSpPr>
            <p:cNvPr id="25" name="TextBox 25"/>
            <p:cNvSpPr txBox="1"/>
            <p:nvPr/>
          </p:nvSpPr>
          <p:spPr>
            <a:xfrm>
              <a:off x="1560" y="3213"/>
              <a:ext cx="5457" cy="1017"/>
            </a:xfrm>
            <a:prstGeom prst="rect">
              <a:avLst/>
            </a:prstGeom>
          </p:spPr>
          <p:txBody>
            <a:bodyPr lIns="0" tIns="0" rIns="0" bIns="0" rtlCol="0" anchor="t">
              <a:spAutoFit/>
            </a:bodyPr>
            <a:lstStyle/>
            <a:p>
              <a:pPr algn="ctr">
                <a:lnSpc>
                  <a:spcPts val="5040"/>
                </a:lnSpc>
              </a:pPr>
              <a:r>
                <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个人雷达图</a:t>
              </a:r>
              <a:endPar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grpSp>
      <p:pic>
        <p:nvPicPr>
          <p:cNvPr id="5" name="图片 4"/>
          <p:cNvPicPr>
            <a:picLocks noChangeAspect="1"/>
          </p:cNvPicPr>
          <p:nvPr/>
        </p:nvPicPr>
        <p:blipFill>
          <a:blip r:embed="rId4"/>
          <a:stretch>
            <a:fillRect/>
          </a:stretch>
        </p:blipFill>
        <p:spPr>
          <a:xfrm>
            <a:off x="1221105" y="7886700"/>
            <a:ext cx="4392295" cy="1858010"/>
          </a:xfrm>
          <a:prstGeom prst="rect">
            <a:avLst/>
          </a:prstGeom>
        </p:spPr>
      </p:pic>
      <p:pic>
        <p:nvPicPr>
          <p:cNvPr id="13" name="图片 12"/>
          <p:cNvPicPr>
            <a:picLocks noChangeAspect="1"/>
          </p:cNvPicPr>
          <p:nvPr/>
        </p:nvPicPr>
        <p:blipFill>
          <a:blip r:embed="rId5"/>
          <a:stretch>
            <a:fillRect/>
          </a:stretch>
        </p:blipFill>
        <p:spPr>
          <a:xfrm>
            <a:off x="7391400" y="190500"/>
            <a:ext cx="6508115" cy="4570095"/>
          </a:xfrm>
          <a:prstGeom prst="rect">
            <a:avLst/>
          </a:prstGeom>
        </p:spPr>
      </p:pic>
      <p:pic>
        <p:nvPicPr>
          <p:cNvPr id="14" name="图片 13"/>
          <p:cNvPicPr>
            <a:picLocks noChangeAspect="1"/>
          </p:cNvPicPr>
          <p:nvPr/>
        </p:nvPicPr>
        <p:blipFill>
          <a:blip r:embed="rId6"/>
          <a:stretch>
            <a:fillRect/>
          </a:stretch>
        </p:blipFill>
        <p:spPr>
          <a:xfrm>
            <a:off x="7162800" y="5191760"/>
            <a:ext cx="6557645" cy="455295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7" name="Freeform 7"/>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8" name="Freeform 8"/>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sp>
        <p:nvSpPr>
          <p:cNvPr id="21" name="TextBox 21"/>
          <p:cNvSpPr txBox="1"/>
          <p:nvPr/>
        </p:nvSpPr>
        <p:spPr>
          <a:xfrm>
            <a:off x="1028700" y="457200"/>
            <a:ext cx="4776601" cy="1076960"/>
          </a:xfrm>
          <a:prstGeom prst="rect">
            <a:avLst/>
          </a:prstGeom>
        </p:spPr>
        <p:txBody>
          <a:bodyPr lIns="0" tIns="0" rIns="0" bIns="0" rtlCol="0" anchor="t">
            <a:spAutoFit/>
          </a:bodyPr>
          <a:lstStyle/>
          <a:p>
            <a:pPr algn="l">
              <a:lnSpc>
                <a:spcPts val="8400"/>
              </a:lnSpc>
            </a:pPr>
            <a:r>
              <a:rPr 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03.</a:t>
            </a:r>
            <a:r>
              <a:rPr lang="zh-CN" alt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功能设计</a:t>
            </a:r>
            <a:endParaRPr lang="en-US" altLang="zh-CN"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22" name="TextBox 22"/>
          <p:cNvSpPr txBox="1"/>
          <p:nvPr/>
        </p:nvSpPr>
        <p:spPr>
          <a:xfrm>
            <a:off x="13753946" y="872490"/>
            <a:ext cx="3505354" cy="645795"/>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THREE</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sp>
        <p:nvSpPr>
          <p:cNvPr id="32" name="Shape 23"/>
          <p:cNvSpPr/>
          <p:nvPr/>
        </p:nvSpPr>
        <p:spPr>
          <a:xfrm>
            <a:off x="533400" y="2857500"/>
            <a:ext cx="6071235" cy="4699000"/>
          </a:xfrm>
          <a:prstGeom prst="roundRect">
            <a:avLst>
              <a:gd name="adj" fmla="val 731"/>
            </a:avLst>
          </a:prstGeom>
          <a:solidFill>
            <a:srgbClr val="EEEFF1"/>
          </a:solidFill>
        </p:spPr>
        <p:txBody>
          <a:bodyPr/>
          <a:lstStyle/>
          <a:p>
            <a:endParaRPr lang="zh-CN" altLang="en-US"/>
          </a:p>
        </p:txBody>
      </p:sp>
      <p:sp>
        <p:nvSpPr>
          <p:cNvPr id="23" name="TextBox 23"/>
          <p:cNvSpPr txBox="1"/>
          <p:nvPr/>
        </p:nvSpPr>
        <p:spPr>
          <a:xfrm>
            <a:off x="-304920" y="2857559"/>
            <a:ext cx="7646136" cy="645795"/>
          </a:xfrm>
          <a:prstGeom prst="rect">
            <a:avLst/>
          </a:prstGeom>
        </p:spPr>
        <p:txBody>
          <a:bodyPr lIns="0" tIns="0" rIns="0" bIns="0" rtlCol="0" anchor="t">
            <a:spAutoFit/>
          </a:bodyPr>
          <a:lstStyle/>
          <a:p>
            <a:pPr algn="ctr">
              <a:lnSpc>
                <a:spcPts val="5040"/>
              </a:lnSpc>
            </a:pPr>
            <a:r>
              <a:rPr lang="zh-CN"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导出功能，清理缓存，沙盒</a:t>
            </a:r>
            <a:endParaRPr lang="zh-CN"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24" name="TextBox 24"/>
          <p:cNvSpPr txBox="1"/>
          <p:nvPr/>
        </p:nvSpPr>
        <p:spPr>
          <a:xfrm>
            <a:off x="762000" y="3632200"/>
            <a:ext cx="5842635" cy="4293870"/>
          </a:xfrm>
          <a:prstGeom prst="rect">
            <a:avLst/>
          </a:prstGeom>
        </p:spPr>
        <p:txBody>
          <a:bodyPr lIns="0" tIns="0" rIns="0" bIns="0" rtlCol="0" anchor="t">
            <a:noAutofit/>
          </a:bodyPr>
          <a:lstStyle/>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为防止用户在操作过程中误覆盖原始数据，系统后端引入了安全隔离（</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Sandbox</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）机制。</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所有清洗或计算生成的衍生数据均作为新文件独立存储，确保原始资产绝对安全。</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此外，针对跨平台导出的常见问题，系统在前端导出</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CSV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文件时自动注入了</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UTF-8 BOM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头，完美解决了数据导入</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Excel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时可能出现的中文乱码问题。</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p:txBody>
      </p:sp>
      <p:grpSp>
        <p:nvGrpSpPr>
          <p:cNvPr id="31" name="组合 30"/>
          <p:cNvGrpSpPr/>
          <p:nvPr/>
        </p:nvGrpSpPr>
        <p:grpSpPr>
          <a:xfrm>
            <a:off x="-2209524" y="1893295"/>
            <a:ext cx="11315700" cy="769895"/>
            <a:chOff x="-574" y="3217"/>
            <a:chExt cx="9858" cy="1062"/>
          </a:xfrm>
        </p:grpSpPr>
        <p:grpSp>
          <p:nvGrpSpPr>
            <p:cNvPr id="9" name="Group 9"/>
            <p:cNvGrpSpPr/>
            <p:nvPr/>
          </p:nvGrpSpPr>
          <p:grpSpPr>
            <a:xfrm rot="0">
              <a:off x="1560" y="3217"/>
              <a:ext cx="5457" cy="1062"/>
              <a:chOff x="0" y="0"/>
              <a:chExt cx="912647" cy="177594"/>
            </a:xfrm>
          </p:grpSpPr>
          <p:sp>
            <p:nvSpPr>
              <p:cNvPr id="10" name="Freeform 10"/>
              <p:cNvSpPr/>
              <p:nvPr/>
            </p:nvSpPr>
            <p:spPr>
              <a:xfrm>
                <a:off x="0" y="0"/>
                <a:ext cx="912647" cy="177594"/>
              </a:xfrm>
              <a:custGeom>
                <a:avLst/>
                <a:gdLst/>
                <a:ahLst/>
                <a:cxnLst/>
                <a:rect l="l" t="t" r="r" b="b"/>
                <a:pathLst>
                  <a:path w="912647" h="177594">
                    <a:moveTo>
                      <a:pt x="88797" y="0"/>
                    </a:moveTo>
                    <a:lnTo>
                      <a:pt x="823850" y="0"/>
                    </a:lnTo>
                    <a:cubicBezTo>
                      <a:pt x="872891" y="0"/>
                      <a:pt x="912647" y="39756"/>
                      <a:pt x="912647" y="88797"/>
                    </a:cubicBezTo>
                    <a:lnTo>
                      <a:pt x="912647" y="88797"/>
                    </a:lnTo>
                    <a:cubicBezTo>
                      <a:pt x="912647" y="112348"/>
                      <a:pt x="903292" y="134934"/>
                      <a:pt x="886639" y="151586"/>
                    </a:cubicBezTo>
                    <a:cubicBezTo>
                      <a:pt x="869986" y="168239"/>
                      <a:pt x="847400" y="177594"/>
                      <a:pt x="823850" y="177594"/>
                    </a:cubicBezTo>
                    <a:lnTo>
                      <a:pt x="88797" y="177594"/>
                    </a:lnTo>
                    <a:cubicBezTo>
                      <a:pt x="65247" y="177594"/>
                      <a:pt x="42661" y="168239"/>
                      <a:pt x="26008" y="151586"/>
                    </a:cubicBezTo>
                    <a:cubicBezTo>
                      <a:pt x="9355" y="134934"/>
                      <a:pt x="0" y="112348"/>
                      <a:pt x="0" y="88797"/>
                    </a:cubicBezTo>
                    <a:lnTo>
                      <a:pt x="0" y="88797"/>
                    </a:lnTo>
                    <a:cubicBezTo>
                      <a:pt x="0" y="65247"/>
                      <a:pt x="9355" y="42661"/>
                      <a:pt x="26008" y="26008"/>
                    </a:cubicBezTo>
                    <a:cubicBezTo>
                      <a:pt x="42661" y="9355"/>
                      <a:pt x="65247" y="0"/>
                      <a:pt x="88797" y="0"/>
                    </a:cubicBezTo>
                    <a:close/>
                  </a:path>
                </a:pathLst>
              </a:custGeom>
              <a:solidFill>
                <a:srgbClr val="FFFFFF"/>
              </a:solidFill>
              <a:ln w="19050" cap="rnd">
                <a:solidFill>
                  <a:srgbClr val="3B64C9"/>
                </a:solidFill>
                <a:prstDash val="solid"/>
                <a:round/>
              </a:ln>
            </p:spPr>
          </p:sp>
          <p:sp>
            <p:nvSpPr>
              <p:cNvPr id="11" name="TextBox 11"/>
              <p:cNvSpPr txBox="1"/>
              <p:nvPr/>
            </p:nvSpPr>
            <p:spPr>
              <a:xfrm>
                <a:off x="0" y="-38100"/>
                <a:ext cx="912647" cy="215694"/>
              </a:xfrm>
              <a:prstGeom prst="rect">
                <a:avLst/>
              </a:prstGeom>
            </p:spPr>
            <p:txBody>
              <a:bodyPr lIns="50800" tIns="50800" rIns="50800" bIns="50800" rtlCol="0" anchor="ctr"/>
              <a:lstStyle/>
              <a:p>
                <a:pPr algn="ctr">
                  <a:lnSpc>
                    <a:spcPts val="2520"/>
                  </a:lnSpc>
                </a:pPr>
                <a:endParaRPr>
                  <a:latin typeface="微软雅黑" panose="020B0503020204020204" charset="-122"/>
                  <a:ea typeface="微软雅黑" panose="020B0503020204020204" charset="-122"/>
                </a:endParaRPr>
              </a:p>
            </p:txBody>
          </p:sp>
        </p:grpSp>
        <p:sp>
          <p:nvSpPr>
            <p:cNvPr id="25" name="TextBox 25"/>
            <p:cNvSpPr txBox="1"/>
            <p:nvPr/>
          </p:nvSpPr>
          <p:spPr>
            <a:xfrm>
              <a:off x="-574" y="3235"/>
              <a:ext cx="9858" cy="891"/>
            </a:xfrm>
            <a:prstGeom prst="rect">
              <a:avLst/>
            </a:prstGeom>
          </p:spPr>
          <p:txBody>
            <a:bodyPr wrap="square" lIns="0" tIns="0" rIns="0" bIns="0" rtlCol="0" anchor="t">
              <a:spAutoFit/>
            </a:bodyPr>
            <a:lstStyle/>
            <a:p>
              <a:pPr algn="ctr">
                <a:lnSpc>
                  <a:spcPts val="5040"/>
                </a:lnSpc>
              </a:pPr>
              <a:r>
                <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导出功能，清理缓存，沙盒</a:t>
              </a:r>
              <a:endPar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grpSp>
      <p:pic>
        <p:nvPicPr>
          <p:cNvPr id="76" name="图片 1"/>
          <p:cNvPicPr>
            <a:picLocks noChangeAspect="1"/>
          </p:cNvPicPr>
          <p:nvPr/>
        </p:nvPicPr>
        <p:blipFill>
          <a:blip r:embed="rId4"/>
          <a:stretch>
            <a:fillRect/>
          </a:stretch>
        </p:blipFill>
        <p:spPr>
          <a:xfrm>
            <a:off x="7467600" y="1866900"/>
            <a:ext cx="7952740" cy="4123055"/>
          </a:xfrm>
          <a:prstGeom prst="rect">
            <a:avLst/>
          </a:prstGeom>
          <a:noFill/>
          <a:ln>
            <a:noFill/>
          </a:ln>
        </p:spPr>
      </p:pic>
      <p:pic>
        <p:nvPicPr>
          <p:cNvPr id="3" name="图片 2"/>
          <p:cNvPicPr>
            <a:picLocks noChangeAspect="1"/>
          </p:cNvPicPr>
          <p:nvPr/>
        </p:nvPicPr>
        <p:blipFill>
          <a:blip r:embed="rId5"/>
          <a:stretch>
            <a:fillRect/>
          </a:stretch>
        </p:blipFill>
        <p:spPr>
          <a:xfrm>
            <a:off x="9753600" y="6210300"/>
            <a:ext cx="3596005" cy="2019300"/>
          </a:xfrm>
          <a:prstGeom prst="rect">
            <a:avLst/>
          </a:prstGeom>
        </p:spPr>
      </p:pic>
      <p:pic>
        <p:nvPicPr>
          <p:cNvPr id="4" name="图片 3"/>
          <p:cNvPicPr>
            <a:picLocks noChangeAspect="1"/>
          </p:cNvPicPr>
          <p:nvPr/>
        </p:nvPicPr>
        <p:blipFill>
          <a:blip r:embed="rId6"/>
          <a:stretch>
            <a:fillRect/>
          </a:stretch>
        </p:blipFill>
        <p:spPr>
          <a:xfrm>
            <a:off x="9677400" y="8724900"/>
            <a:ext cx="3970020" cy="1031875"/>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7" name="Freeform 7"/>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8" name="Freeform 8"/>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sp>
        <p:nvSpPr>
          <p:cNvPr id="21" name="TextBox 21"/>
          <p:cNvSpPr txBox="1"/>
          <p:nvPr/>
        </p:nvSpPr>
        <p:spPr>
          <a:xfrm>
            <a:off x="1028700" y="457200"/>
            <a:ext cx="4776601" cy="1076960"/>
          </a:xfrm>
          <a:prstGeom prst="rect">
            <a:avLst/>
          </a:prstGeom>
        </p:spPr>
        <p:txBody>
          <a:bodyPr lIns="0" tIns="0" rIns="0" bIns="0" rtlCol="0" anchor="t">
            <a:spAutoFit/>
          </a:bodyPr>
          <a:lstStyle/>
          <a:p>
            <a:pPr algn="l">
              <a:lnSpc>
                <a:spcPts val="8400"/>
              </a:lnSpc>
            </a:pPr>
            <a:r>
              <a:rPr 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03.</a:t>
            </a:r>
            <a:r>
              <a:rPr lang="zh-CN" alt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功能设计</a:t>
            </a:r>
            <a:endParaRPr lang="en-US" altLang="zh-CN"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22" name="TextBox 22"/>
          <p:cNvSpPr txBox="1"/>
          <p:nvPr/>
        </p:nvSpPr>
        <p:spPr>
          <a:xfrm>
            <a:off x="13753946" y="872490"/>
            <a:ext cx="3505354" cy="645795"/>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THREE</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sp>
        <p:nvSpPr>
          <p:cNvPr id="32" name="Shape 23"/>
          <p:cNvSpPr/>
          <p:nvPr/>
        </p:nvSpPr>
        <p:spPr>
          <a:xfrm>
            <a:off x="533400" y="2857500"/>
            <a:ext cx="6071235" cy="4699000"/>
          </a:xfrm>
          <a:prstGeom prst="roundRect">
            <a:avLst>
              <a:gd name="adj" fmla="val 731"/>
            </a:avLst>
          </a:prstGeom>
          <a:solidFill>
            <a:srgbClr val="EEEFF1"/>
          </a:solidFill>
        </p:spPr>
        <p:txBody>
          <a:bodyPr/>
          <a:lstStyle/>
          <a:p>
            <a:endParaRPr lang="zh-CN" altLang="en-US"/>
          </a:p>
        </p:txBody>
      </p:sp>
      <p:sp>
        <p:nvSpPr>
          <p:cNvPr id="23" name="TextBox 23"/>
          <p:cNvSpPr txBox="1"/>
          <p:nvPr/>
        </p:nvSpPr>
        <p:spPr>
          <a:xfrm>
            <a:off x="-304920" y="2857559"/>
            <a:ext cx="7646136" cy="645795"/>
          </a:xfrm>
          <a:prstGeom prst="rect">
            <a:avLst/>
          </a:prstGeom>
        </p:spPr>
        <p:txBody>
          <a:bodyPr lIns="0" tIns="0" rIns="0" bIns="0" rtlCol="0" anchor="t">
            <a:spAutoFit/>
          </a:bodyPr>
          <a:lstStyle/>
          <a:p>
            <a:pPr algn="ctr">
              <a:lnSpc>
                <a:spcPts val="5040"/>
              </a:lnSpc>
            </a:pPr>
            <a:r>
              <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增删改查</a:t>
            </a:r>
            <a:endPar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24" name="TextBox 24"/>
          <p:cNvSpPr txBox="1"/>
          <p:nvPr/>
        </p:nvSpPr>
        <p:spPr>
          <a:xfrm>
            <a:off x="762000" y="3619500"/>
            <a:ext cx="5842635" cy="4293870"/>
          </a:xfrm>
          <a:prstGeom prst="rect">
            <a:avLst/>
          </a:prstGeom>
        </p:spPr>
        <p:txBody>
          <a:bodyPr lIns="0" tIns="0" rIns="0" bIns="0" rtlCol="0" anchor="t">
            <a:noAutofit/>
          </a:bodyPr>
          <a:lstStyle/>
          <a:p>
            <a:pPr algn="l">
              <a:lnSpc>
                <a:spcPct val="10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为提供类似本地表格软件的流畅编辑体验，本模块深度结合了</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Vue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框架的响应式特性。通过精准操作数据数组的索引位置，实现了对表格行与列的高效添加、删除和修改，页面无需刷新即可实时响应。</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同时，系统配套开发了全局跨列检索功能，方便用户在海量表单中精准、快速地定位目标数据。</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p:txBody>
      </p:sp>
      <p:grpSp>
        <p:nvGrpSpPr>
          <p:cNvPr id="31" name="组合 30"/>
          <p:cNvGrpSpPr/>
          <p:nvPr/>
        </p:nvGrpSpPr>
        <p:grpSpPr>
          <a:xfrm>
            <a:off x="761880" y="1724660"/>
            <a:ext cx="3465315" cy="677023"/>
            <a:chOff x="1560" y="3213"/>
            <a:chExt cx="5457" cy="1066"/>
          </a:xfrm>
        </p:grpSpPr>
        <p:grpSp>
          <p:nvGrpSpPr>
            <p:cNvPr id="9" name="Group 9"/>
            <p:cNvGrpSpPr/>
            <p:nvPr/>
          </p:nvGrpSpPr>
          <p:grpSpPr>
            <a:xfrm rot="0">
              <a:off x="1560" y="3217"/>
              <a:ext cx="5457" cy="1062"/>
              <a:chOff x="0" y="0"/>
              <a:chExt cx="912647" cy="177594"/>
            </a:xfrm>
          </p:grpSpPr>
          <p:sp>
            <p:nvSpPr>
              <p:cNvPr id="10" name="Freeform 10"/>
              <p:cNvSpPr/>
              <p:nvPr/>
            </p:nvSpPr>
            <p:spPr>
              <a:xfrm>
                <a:off x="0" y="0"/>
                <a:ext cx="912647" cy="177594"/>
              </a:xfrm>
              <a:custGeom>
                <a:avLst/>
                <a:gdLst/>
                <a:ahLst/>
                <a:cxnLst/>
                <a:rect l="l" t="t" r="r" b="b"/>
                <a:pathLst>
                  <a:path w="912647" h="177594">
                    <a:moveTo>
                      <a:pt x="88797" y="0"/>
                    </a:moveTo>
                    <a:lnTo>
                      <a:pt x="823850" y="0"/>
                    </a:lnTo>
                    <a:cubicBezTo>
                      <a:pt x="872891" y="0"/>
                      <a:pt x="912647" y="39756"/>
                      <a:pt x="912647" y="88797"/>
                    </a:cubicBezTo>
                    <a:lnTo>
                      <a:pt x="912647" y="88797"/>
                    </a:lnTo>
                    <a:cubicBezTo>
                      <a:pt x="912647" y="112348"/>
                      <a:pt x="903292" y="134934"/>
                      <a:pt x="886639" y="151586"/>
                    </a:cubicBezTo>
                    <a:cubicBezTo>
                      <a:pt x="869986" y="168239"/>
                      <a:pt x="847400" y="177594"/>
                      <a:pt x="823850" y="177594"/>
                    </a:cubicBezTo>
                    <a:lnTo>
                      <a:pt x="88797" y="177594"/>
                    </a:lnTo>
                    <a:cubicBezTo>
                      <a:pt x="65247" y="177594"/>
                      <a:pt x="42661" y="168239"/>
                      <a:pt x="26008" y="151586"/>
                    </a:cubicBezTo>
                    <a:cubicBezTo>
                      <a:pt x="9355" y="134934"/>
                      <a:pt x="0" y="112348"/>
                      <a:pt x="0" y="88797"/>
                    </a:cubicBezTo>
                    <a:lnTo>
                      <a:pt x="0" y="88797"/>
                    </a:lnTo>
                    <a:cubicBezTo>
                      <a:pt x="0" y="65247"/>
                      <a:pt x="9355" y="42661"/>
                      <a:pt x="26008" y="26008"/>
                    </a:cubicBezTo>
                    <a:cubicBezTo>
                      <a:pt x="42661" y="9355"/>
                      <a:pt x="65247" y="0"/>
                      <a:pt x="88797" y="0"/>
                    </a:cubicBezTo>
                    <a:close/>
                  </a:path>
                </a:pathLst>
              </a:custGeom>
              <a:solidFill>
                <a:srgbClr val="FFFFFF"/>
              </a:solidFill>
              <a:ln w="19050" cap="rnd">
                <a:solidFill>
                  <a:srgbClr val="3B64C9"/>
                </a:solidFill>
                <a:prstDash val="solid"/>
                <a:round/>
              </a:ln>
            </p:spPr>
          </p:sp>
          <p:sp>
            <p:nvSpPr>
              <p:cNvPr id="11" name="TextBox 11"/>
              <p:cNvSpPr txBox="1"/>
              <p:nvPr/>
            </p:nvSpPr>
            <p:spPr>
              <a:xfrm>
                <a:off x="0" y="-38100"/>
                <a:ext cx="912647" cy="215694"/>
              </a:xfrm>
              <a:prstGeom prst="rect">
                <a:avLst/>
              </a:prstGeom>
            </p:spPr>
            <p:txBody>
              <a:bodyPr lIns="50800" tIns="50800" rIns="50800" bIns="50800" rtlCol="0" anchor="ctr"/>
              <a:lstStyle/>
              <a:p>
                <a:pPr algn="ctr">
                  <a:lnSpc>
                    <a:spcPts val="2520"/>
                  </a:lnSpc>
                </a:pPr>
                <a:endParaRPr>
                  <a:latin typeface="微软雅黑" panose="020B0503020204020204" charset="-122"/>
                  <a:ea typeface="微软雅黑" panose="020B0503020204020204" charset="-122"/>
                </a:endParaRPr>
              </a:p>
            </p:txBody>
          </p:sp>
        </p:grpSp>
        <p:sp>
          <p:nvSpPr>
            <p:cNvPr id="25" name="TextBox 25"/>
            <p:cNvSpPr txBox="1"/>
            <p:nvPr/>
          </p:nvSpPr>
          <p:spPr>
            <a:xfrm>
              <a:off x="1560" y="3213"/>
              <a:ext cx="5457" cy="1017"/>
            </a:xfrm>
            <a:prstGeom prst="rect">
              <a:avLst/>
            </a:prstGeom>
          </p:spPr>
          <p:txBody>
            <a:bodyPr lIns="0" tIns="0" rIns="0" bIns="0" rtlCol="0" anchor="t">
              <a:spAutoFit/>
            </a:bodyPr>
            <a:lstStyle/>
            <a:p>
              <a:pPr algn="ctr">
                <a:lnSpc>
                  <a:spcPts val="5040"/>
                </a:lnSpc>
              </a:pPr>
              <a:r>
                <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增删改查</a:t>
              </a:r>
              <a:endPar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grpSp>
      <p:pic>
        <p:nvPicPr>
          <p:cNvPr id="3" name="图片 2"/>
          <p:cNvPicPr>
            <a:picLocks noChangeAspect="1"/>
          </p:cNvPicPr>
          <p:nvPr/>
        </p:nvPicPr>
        <p:blipFill>
          <a:blip r:embed="rId4"/>
          <a:stretch>
            <a:fillRect/>
          </a:stretch>
        </p:blipFill>
        <p:spPr>
          <a:xfrm>
            <a:off x="7315200" y="3503295"/>
            <a:ext cx="4124325" cy="2486025"/>
          </a:xfrm>
          <a:prstGeom prst="rect">
            <a:avLst/>
          </a:prstGeom>
        </p:spPr>
      </p:pic>
      <p:pic>
        <p:nvPicPr>
          <p:cNvPr id="4" name="图片 3"/>
          <p:cNvPicPr>
            <a:picLocks noChangeAspect="1"/>
          </p:cNvPicPr>
          <p:nvPr/>
        </p:nvPicPr>
        <p:blipFill>
          <a:blip r:embed="rId5"/>
          <a:stretch>
            <a:fillRect/>
          </a:stretch>
        </p:blipFill>
        <p:spPr>
          <a:xfrm>
            <a:off x="7162800" y="1695450"/>
            <a:ext cx="4290060" cy="1095375"/>
          </a:xfrm>
          <a:prstGeom prst="rect">
            <a:avLst/>
          </a:prstGeom>
        </p:spPr>
      </p:pic>
      <p:pic>
        <p:nvPicPr>
          <p:cNvPr id="5" name="图片 4"/>
          <p:cNvPicPr>
            <a:picLocks noChangeAspect="1"/>
          </p:cNvPicPr>
          <p:nvPr/>
        </p:nvPicPr>
        <p:blipFill>
          <a:blip r:embed="rId6"/>
          <a:stretch>
            <a:fillRect/>
          </a:stretch>
        </p:blipFill>
        <p:spPr>
          <a:xfrm>
            <a:off x="7086600" y="6337300"/>
            <a:ext cx="8924925" cy="1219200"/>
          </a:xfrm>
          <a:prstGeom prst="rect">
            <a:avLst/>
          </a:prstGeom>
        </p:spPr>
      </p:pic>
      <p:pic>
        <p:nvPicPr>
          <p:cNvPr id="6" name="图片 5"/>
          <p:cNvPicPr>
            <a:picLocks noChangeAspect="1"/>
          </p:cNvPicPr>
          <p:nvPr/>
        </p:nvPicPr>
        <p:blipFill>
          <a:blip r:embed="rId7"/>
          <a:stretch>
            <a:fillRect/>
          </a:stretch>
        </p:blipFill>
        <p:spPr>
          <a:xfrm>
            <a:off x="11811000" y="1257300"/>
            <a:ext cx="4349750" cy="2228850"/>
          </a:xfrm>
          <a:prstGeom prst="rect">
            <a:avLst/>
          </a:prstGeom>
        </p:spPr>
      </p:pic>
      <p:pic>
        <p:nvPicPr>
          <p:cNvPr id="12" name="图片 11"/>
          <p:cNvPicPr>
            <a:picLocks noChangeAspect="1"/>
          </p:cNvPicPr>
          <p:nvPr/>
        </p:nvPicPr>
        <p:blipFill>
          <a:blip r:embed="rId8"/>
          <a:stretch>
            <a:fillRect/>
          </a:stretch>
        </p:blipFill>
        <p:spPr>
          <a:xfrm>
            <a:off x="11845290" y="3695700"/>
            <a:ext cx="3771900" cy="208661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7" name="Freeform 7"/>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8" name="Freeform 8"/>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sp>
        <p:nvSpPr>
          <p:cNvPr id="21" name="TextBox 21"/>
          <p:cNvSpPr txBox="1"/>
          <p:nvPr/>
        </p:nvSpPr>
        <p:spPr>
          <a:xfrm>
            <a:off x="1028700" y="457200"/>
            <a:ext cx="4776601" cy="1076960"/>
          </a:xfrm>
          <a:prstGeom prst="rect">
            <a:avLst/>
          </a:prstGeom>
        </p:spPr>
        <p:txBody>
          <a:bodyPr lIns="0" tIns="0" rIns="0" bIns="0" rtlCol="0" anchor="t">
            <a:spAutoFit/>
          </a:bodyPr>
          <a:lstStyle/>
          <a:p>
            <a:pPr algn="l">
              <a:lnSpc>
                <a:spcPts val="8400"/>
              </a:lnSpc>
            </a:pPr>
            <a:r>
              <a:rPr 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03.</a:t>
            </a:r>
            <a:r>
              <a:rPr lang="zh-CN" alt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功能设计</a:t>
            </a:r>
            <a:endParaRPr lang="en-US" altLang="zh-CN"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22" name="TextBox 22"/>
          <p:cNvSpPr txBox="1"/>
          <p:nvPr/>
        </p:nvSpPr>
        <p:spPr>
          <a:xfrm>
            <a:off x="13753946" y="872490"/>
            <a:ext cx="3505354" cy="645795"/>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THREE</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sp>
        <p:nvSpPr>
          <p:cNvPr id="32" name="Shape 23"/>
          <p:cNvSpPr/>
          <p:nvPr/>
        </p:nvSpPr>
        <p:spPr>
          <a:xfrm>
            <a:off x="533400" y="2857500"/>
            <a:ext cx="6071235" cy="4699000"/>
          </a:xfrm>
          <a:prstGeom prst="roundRect">
            <a:avLst>
              <a:gd name="adj" fmla="val 731"/>
            </a:avLst>
          </a:prstGeom>
          <a:solidFill>
            <a:srgbClr val="EEEFF1"/>
          </a:solidFill>
        </p:spPr>
        <p:txBody>
          <a:bodyPr/>
          <a:lstStyle/>
          <a:p>
            <a:endParaRPr lang="zh-CN" altLang="en-US"/>
          </a:p>
        </p:txBody>
      </p:sp>
      <p:sp>
        <p:nvSpPr>
          <p:cNvPr id="23" name="TextBox 23"/>
          <p:cNvSpPr txBox="1"/>
          <p:nvPr/>
        </p:nvSpPr>
        <p:spPr>
          <a:xfrm>
            <a:off x="-304920" y="2857559"/>
            <a:ext cx="7646136" cy="645795"/>
          </a:xfrm>
          <a:prstGeom prst="rect">
            <a:avLst/>
          </a:prstGeom>
        </p:spPr>
        <p:txBody>
          <a:bodyPr lIns="0" tIns="0" rIns="0" bIns="0" rtlCol="0" anchor="t">
            <a:spAutoFit/>
          </a:bodyPr>
          <a:lstStyle/>
          <a:p>
            <a:pPr algn="ctr">
              <a:lnSpc>
                <a:spcPts val="5040"/>
              </a:lnSpc>
            </a:pPr>
            <a:r>
              <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撤回功能</a:t>
            </a:r>
            <a:endPar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24" name="TextBox 24"/>
          <p:cNvSpPr txBox="1"/>
          <p:nvPr/>
        </p:nvSpPr>
        <p:spPr>
          <a:xfrm>
            <a:off x="762000" y="3619500"/>
            <a:ext cx="5842635" cy="4293870"/>
          </a:xfrm>
          <a:prstGeom prst="rect">
            <a:avLst/>
          </a:prstGeom>
        </p:spPr>
        <p:txBody>
          <a:bodyPr lIns="0" tIns="0" rIns="0" bIns="0" rtlCol="0" anchor="t">
            <a:noAutofit/>
          </a:bodyPr>
          <a:lstStyle/>
          <a:p>
            <a:pPr algn="l">
              <a:lnSpc>
                <a:spcPct val="10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针对海量数据编辑时全量备份容易导致的内存溢出（</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OOM</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）问题，本系统的撤销功能采用了</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备忘录设计模式（</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Memento</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进行底层优化。</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系统放弃了高消耗的全局数据快照，改为轻量级的状态记录，并严格设定了</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30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步的历史操作栈上限。</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这在满足用户日常</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容错回退</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需求的同时，极大降低了浏览器的性能开销。</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p:txBody>
      </p:sp>
      <p:grpSp>
        <p:nvGrpSpPr>
          <p:cNvPr id="31" name="组合 30"/>
          <p:cNvGrpSpPr/>
          <p:nvPr/>
        </p:nvGrpSpPr>
        <p:grpSpPr>
          <a:xfrm>
            <a:off x="761880" y="1724660"/>
            <a:ext cx="3465315" cy="677023"/>
            <a:chOff x="1560" y="3213"/>
            <a:chExt cx="5457" cy="1066"/>
          </a:xfrm>
        </p:grpSpPr>
        <p:grpSp>
          <p:nvGrpSpPr>
            <p:cNvPr id="9" name="Group 9"/>
            <p:cNvGrpSpPr/>
            <p:nvPr/>
          </p:nvGrpSpPr>
          <p:grpSpPr>
            <a:xfrm rot="0">
              <a:off x="1560" y="3217"/>
              <a:ext cx="5457" cy="1062"/>
              <a:chOff x="0" y="0"/>
              <a:chExt cx="912647" cy="177594"/>
            </a:xfrm>
          </p:grpSpPr>
          <p:sp>
            <p:nvSpPr>
              <p:cNvPr id="10" name="Freeform 10"/>
              <p:cNvSpPr/>
              <p:nvPr/>
            </p:nvSpPr>
            <p:spPr>
              <a:xfrm>
                <a:off x="0" y="0"/>
                <a:ext cx="912647" cy="177594"/>
              </a:xfrm>
              <a:custGeom>
                <a:avLst/>
                <a:gdLst/>
                <a:ahLst/>
                <a:cxnLst/>
                <a:rect l="l" t="t" r="r" b="b"/>
                <a:pathLst>
                  <a:path w="912647" h="177594">
                    <a:moveTo>
                      <a:pt x="88797" y="0"/>
                    </a:moveTo>
                    <a:lnTo>
                      <a:pt x="823850" y="0"/>
                    </a:lnTo>
                    <a:cubicBezTo>
                      <a:pt x="872891" y="0"/>
                      <a:pt x="912647" y="39756"/>
                      <a:pt x="912647" y="88797"/>
                    </a:cubicBezTo>
                    <a:lnTo>
                      <a:pt x="912647" y="88797"/>
                    </a:lnTo>
                    <a:cubicBezTo>
                      <a:pt x="912647" y="112348"/>
                      <a:pt x="903292" y="134934"/>
                      <a:pt x="886639" y="151586"/>
                    </a:cubicBezTo>
                    <a:cubicBezTo>
                      <a:pt x="869986" y="168239"/>
                      <a:pt x="847400" y="177594"/>
                      <a:pt x="823850" y="177594"/>
                    </a:cubicBezTo>
                    <a:lnTo>
                      <a:pt x="88797" y="177594"/>
                    </a:lnTo>
                    <a:cubicBezTo>
                      <a:pt x="65247" y="177594"/>
                      <a:pt x="42661" y="168239"/>
                      <a:pt x="26008" y="151586"/>
                    </a:cubicBezTo>
                    <a:cubicBezTo>
                      <a:pt x="9355" y="134934"/>
                      <a:pt x="0" y="112348"/>
                      <a:pt x="0" y="88797"/>
                    </a:cubicBezTo>
                    <a:lnTo>
                      <a:pt x="0" y="88797"/>
                    </a:lnTo>
                    <a:cubicBezTo>
                      <a:pt x="0" y="65247"/>
                      <a:pt x="9355" y="42661"/>
                      <a:pt x="26008" y="26008"/>
                    </a:cubicBezTo>
                    <a:cubicBezTo>
                      <a:pt x="42661" y="9355"/>
                      <a:pt x="65247" y="0"/>
                      <a:pt x="88797" y="0"/>
                    </a:cubicBezTo>
                    <a:close/>
                  </a:path>
                </a:pathLst>
              </a:custGeom>
              <a:solidFill>
                <a:srgbClr val="FFFFFF"/>
              </a:solidFill>
              <a:ln w="19050" cap="rnd">
                <a:solidFill>
                  <a:srgbClr val="3B64C9"/>
                </a:solidFill>
                <a:prstDash val="solid"/>
                <a:round/>
              </a:ln>
            </p:spPr>
          </p:sp>
          <p:sp>
            <p:nvSpPr>
              <p:cNvPr id="11" name="TextBox 11"/>
              <p:cNvSpPr txBox="1"/>
              <p:nvPr/>
            </p:nvSpPr>
            <p:spPr>
              <a:xfrm>
                <a:off x="0" y="-38100"/>
                <a:ext cx="912647" cy="215694"/>
              </a:xfrm>
              <a:prstGeom prst="rect">
                <a:avLst/>
              </a:prstGeom>
            </p:spPr>
            <p:txBody>
              <a:bodyPr lIns="50800" tIns="50800" rIns="50800" bIns="50800" rtlCol="0" anchor="ctr"/>
              <a:lstStyle/>
              <a:p>
                <a:pPr algn="ctr">
                  <a:lnSpc>
                    <a:spcPts val="2520"/>
                  </a:lnSpc>
                </a:pPr>
                <a:endParaRPr>
                  <a:latin typeface="微软雅黑" panose="020B0503020204020204" charset="-122"/>
                  <a:ea typeface="微软雅黑" panose="020B0503020204020204" charset="-122"/>
                </a:endParaRPr>
              </a:p>
            </p:txBody>
          </p:sp>
        </p:grpSp>
        <p:sp>
          <p:nvSpPr>
            <p:cNvPr id="25" name="TextBox 25"/>
            <p:cNvSpPr txBox="1"/>
            <p:nvPr/>
          </p:nvSpPr>
          <p:spPr>
            <a:xfrm>
              <a:off x="1560" y="3213"/>
              <a:ext cx="5457" cy="1017"/>
            </a:xfrm>
            <a:prstGeom prst="rect">
              <a:avLst/>
            </a:prstGeom>
          </p:spPr>
          <p:txBody>
            <a:bodyPr lIns="0" tIns="0" rIns="0" bIns="0" rtlCol="0" anchor="t">
              <a:spAutoFit/>
            </a:bodyPr>
            <a:lstStyle/>
            <a:p>
              <a:pPr algn="ctr">
                <a:lnSpc>
                  <a:spcPts val="5040"/>
                </a:lnSpc>
              </a:pPr>
              <a:r>
                <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撤回功能</a:t>
              </a:r>
              <a:endPar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grpSp>
      <p:pic>
        <p:nvPicPr>
          <p:cNvPr id="3" name="图片 2"/>
          <p:cNvPicPr>
            <a:picLocks noChangeAspect="1"/>
          </p:cNvPicPr>
          <p:nvPr/>
        </p:nvPicPr>
        <p:blipFill>
          <a:blip r:embed="rId4"/>
          <a:stretch>
            <a:fillRect/>
          </a:stretch>
        </p:blipFill>
        <p:spPr>
          <a:xfrm>
            <a:off x="7341235" y="1485900"/>
            <a:ext cx="1860550" cy="1017905"/>
          </a:xfrm>
          <a:prstGeom prst="rect">
            <a:avLst/>
          </a:prstGeom>
        </p:spPr>
      </p:pic>
      <p:pic>
        <p:nvPicPr>
          <p:cNvPr id="4" name="图片 3"/>
          <p:cNvPicPr>
            <a:picLocks noChangeAspect="1"/>
          </p:cNvPicPr>
          <p:nvPr/>
        </p:nvPicPr>
        <p:blipFill>
          <a:blip r:embed="rId5"/>
          <a:stretch>
            <a:fillRect/>
          </a:stretch>
        </p:blipFill>
        <p:spPr>
          <a:xfrm>
            <a:off x="7239000" y="2815590"/>
            <a:ext cx="5171440" cy="339725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7" name="Freeform 7"/>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8" name="Freeform 8"/>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sp>
        <p:nvSpPr>
          <p:cNvPr id="21" name="TextBox 21"/>
          <p:cNvSpPr txBox="1"/>
          <p:nvPr/>
        </p:nvSpPr>
        <p:spPr>
          <a:xfrm>
            <a:off x="1028700" y="457200"/>
            <a:ext cx="4776601" cy="1076960"/>
          </a:xfrm>
          <a:prstGeom prst="rect">
            <a:avLst/>
          </a:prstGeom>
        </p:spPr>
        <p:txBody>
          <a:bodyPr lIns="0" tIns="0" rIns="0" bIns="0" rtlCol="0" anchor="t">
            <a:spAutoFit/>
          </a:bodyPr>
          <a:lstStyle/>
          <a:p>
            <a:pPr algn="l">
              <a:lnSpc>
                <a:spcPts val="8400"/>
              </a:lnSpc>
            </a:pPr>
            <a:r>
              <a:rPr 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03.</a:t>
            </a:r>
            <a:r>
              <a:rPr lang="zh-CN" alt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功能设计</a:t>
            </a:r>
            <a:endParaRPr lang="en-US" altLang="zh-CN"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22" name="TextBox 22"/>
          <p:cNvSpPr txBox="1"/>
          <p:nvPr/>
        </p:nvSpPr>
        <p:spPr>
          <a:xfrm>
            <a:off x="13753946" y="872490"/>
            <a:ext cx="3505354" cy="645795"/>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THREE</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sp>
        <p:nvSpPr>
          <p:cNvPr id="32" name="Shape 23"/>
          <p:cNvSpPr/>
          <p:nvPr/>
        </p:nvSpPr>
        <p:spPr>
          <a:xfrm>
            <a:off x="533400" y="2857500"/>
            <a:ext cx="6071235" cy="4699000"/>
          </a:xfrm>
          <a:prstGeom prst="roundRect">
            <a:avLst>
              <a:gd name="adj" fmla="val 731"/>
            </a:avLst>
          </a:prstGeom>
          <a:solidFill>
            <a:srgbClr val="EEEFF1"/>
          </a:solidFill>
        </p:spPr>
        <p:txBody>
          <a:bodyPr/>
          <a:lstStyle/>
          <a:p>
            <a:endParaRPr lang="zh-CN" altLang="en-US"/>
          </a:p>
        </p:txBody>
      </p:sp>
      <p:sp>
        <p:nvSpPr>
          <p:cNvPr id="23" name="TextBox 23"/>
          <p:cNvSpPr txBox="1"/>
          <p:nvPr/>
        </p:nvSpPr>
        <p:spPr>
          <a:xfrm>
            <a:off x="-304920" y="2857559"/>
            <a:ext cx="7646136" cy="645795"/>
          </a:xfrm>
          <a:prstGeom prst="rect">
            <a:avLst/>
          </a:prstGeom>
        </p:spPr>
        <p:txBody>
          <a:bodyPr lIns="0" tIns="0" rIns="0" bIns="0" rtlCol="0" anchor="t">
            <a:spAutoFit/>
          </a:bodyPr>
          <a:lstStyle/>
          <a:p>
            <a:pPr algn="ctr">
              <a:lnSpc>
                <a:spcPts val="5040"/>
              </a:lnSpc>
            </a:pPr>
            <a:r>
              <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替换和导出的防误触措施</a:t>
            </a:r>
            <a:endPar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24" name="TextBox 24"/>
          <p:cNvSpPr txBox="1"/>
          <p:nvPr/>
        </p:nvSpPr>
        <p:spPr>
          <a:xfrm>
            <a:off x="762000" y="3619500"/>
            <a:ext cx="5842635" cy="4293870"/>
          </a:xfrm>
          <a:prstGeom prst="rect">
            <a:avLst/>
          </a:prstGeom>
        </p:spPr>
        <p:txBody>
          <a:bodyPr lIns="0" tIns="0" rIns="0" bIns="0" rtlCol="0" anchor="t">
            <a:noAutofit/>
          </a:bodyPr>
          <a:lstStyle/>
          <a:p>
            <a:pPr algn="l">
              <a:lnSpc>
                <a:spcPct val="100000"/>
              </a:lnSpc>
            </a:pP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a:t>
            </a: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为避免用户在上传文件或重命名时意外覆盖重要工作成果，系统设计了严密的防误触机制。</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当后端检测到目标保存路径下存在同名冲突文件时，会通过异步拦截器立即阻断操作，并在前端弹出强制的二次确认警告。</a:t>
            </a:r>
            <a:endPar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ct val="100000"/>
              </a:lnSpc>
            </a:pPr>
            <a:r>
              <a:rPr lang="zh-CN" altLang="en-US"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仅在用户明确授权后，系统才会执行覆盖写入，最大限度地降低了数据丢失风险。</a:t>
            </a:r>
            <a:r>
              <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rPr>
              <a:t> </a:t>
            </a:r>
            <a:endParaRPr lang="en-US" altLang="zh-CN" sz="2400">
              <a:solidFill>
                <a:schemeClr val="tx1"/>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p:txBody>
      </p:sp>
      <p:grpSp>
        <p:nvGrpSpPr>
          <p:cNvPr id="31" name="组合 30"/>
          <p:cNvGrpSpPr/>
          <p:nvPr/>
        </p:nvGrpSpPr>
        <p:grpSpPr>
          <a:xfrm>
            <a:off x="762000" y="1724660"/>
            <a:ext cx="5132705" cy="676910"/>
            <a:chOff x="1560" y="3213"/>
            <a:chExt cx="5457" cy="1066"/>
          </a:xfrm>
        </p:grpSpPr>
        <p:grpSp>
          <p:nvGrpSpPr>
            <p:cNvPr id="9" name="Group 9"/>
            <p:cNvGrpSpPr/>
            <p:nvPr/>
          </p:nvGrpSpPr>
          <p:grpSpPr>
            <a:xfrm rot="0">
              <a:off x="1560" y="3217"/>
              <a:ext cx="5457" cy="1062"/>
              <a:chOff x="0" y="0"/>
              <a:chExt cx="912647" cy="177594"/>
            </a:xfrm>
          </p:grpSpPr>
          <p:sp>
            <p:nvSpPr>
              <p:cNvPr id="10" name="Freeform 10"/>
              <p:cNvSpPr/>
              <p:nvPr/>
            </p:nvSpPr>
            <p:spPr>
              <a:xfrm>
                <a:off x="0" y="0"/>
                <a:ext cx="912647" cy="177594"/>
              </a:xfrm>
              <a:custGeom>
                <a:avLst/>
                <a:gdLst/>
                <a:ahLst/>
                <a:cxnLst/>
                <a:rect l="l" t="t" r="r" b="b"/>
                <a:pathLst>
                  <a:path w="912647" h="177594">
                    <a:moveTo>
                      <a:pt x="88797" y="0"/>
                    </a:moveTo>
                    <a:lnTo>
                      <a:pt x="823850" y="0"/>
                    </a:lnTo>
                    <a:cubicBezTo>
                      <a:pt x="872891" y="0"/>
                      <a:pt x="912647" y="39756"/>
                      <a:pt x="912647" y="88797"/>
                    </a:cubicBezTo>
                    <a:lnTo>
                      <a:pt x="912647" y="88797"/>
                    </a:lnTo>
                    <a:cubicBezTo>
                      <a:pt x="912647" y="112348"/>
                      <a:pt x="903292" y="134934"/>
                      <a:pt x="886639" y="151586"/>
                    </a:cubicBezTo>
                    <a:cubicBezTo>
                      <a:pt x="869986" y="168239"/>
                      <a:pt x="847400" y="177594"/>
                      <a:pt x="823850" y="177594"/>
                    </a:cubicBezTo>
                    <a:lnTo>
                      <a:pt x="88797" y="177594"/>
                    </a:lnTo>
                    <a:cubicBezTo>
                      <a:pt x="65247" y="177594"/>
                      <a:pt x="42661" y="168239"/>
                      <a:pt x="26008" y="151586"/>
                    </a:cubicBezTo>
                    <a:cubicBezTo>
                      <a:pt x="9355" y="134934"/>
                      <a:pt x="0" y="112348"/>
                      <a:pt x="0" y="88797"/>
                    </a:cubicBezTo>
                    <a:lnTo>
                      <a:pt x="0" y="88797"/>
                    </a:lnTo>
                    <a:cubicBezTo>
                      <a:pt x="0" y="65247"/>
                      <a:pt x="9355" y="42661"/>
                      <a:pt x="26008" y="26008"/>
                    </a:cubicBezTo>
                    <a:cubicBezTo>
                      <a:pt x="42661" y="9355"/>
                      <a:pt x="65247" y="0"/>
                      <a:pt x="88797" y="0"/>
                    </a:cubicBezTo>
                    <a:close/>
                  </a:path>
                </a:pathLst>
              </a:custGeom>
              <a:solidFill>
                <a:srgbClr val="FFFFFF"/>
              </a:solidFill>
              <a:ln w="19050" cap="rnd">
                <a:solidFill>
                  <a:srgbClr val="3B64C9"/>
                </a:solidFill>
                <a:prstDash val="solid"/>
                <a:round/>
              </a:ln>
            </p:spPr>
          </p:sp>
          <p:sp>
            <p:nvSpPr>
              <p:cNvPr id="11" name="TextBox 11"/>
              <p:cNvSpPr txBox="1"/>
              <p:nvPr/>
            </p:nvSpPr>
            <p:spPr>
              <a:xfrm>
                <a:off x="0" y="-38100"/>
                <a:ext cx="912647" cy="215694"/>
              </a:xfrm>
              <a:prstGeom prst="rect">
                <a:avLst/>
              </a:prstGeom>
            </p:spPr>
            <p:txBody>
              <a:bodyPr lIns="50800" tIns="50800" rIns="50800" bIns="50800" rtlCol="0" anchor="ctr"/>
              <a:lstStyle/>
              <a:p>
                <a:pPr algn="ctr">
                  <a:lnSpc>
                    <a:spcPts val="2520"/>
                  </a:lnSpc>
                </a:pPr>
                <a:endParaRPr>
                  <a:latin typeface="微软雅黑" panose="020B0503020204020204" charset="-122"/>
                  <a:ea typeface="微软雅黑" panose="020B0503020204020204" charset="-122"/>
                </a:endParaRPr>
              </a:p>
            </p:txBody>
          </p:sp>
        </p:grpSp>
        <p:sp>
          <p:nvSpPr>
            <p:cNvPr id="25" name="TextBox 25"/>
            <p:cNvSpPr txBox="1"/>
            <p:nvPr/>
          </p:nvSpPr>
          <p:spPr>
            <a:xfrm>
              <a:off x="1560" y="3213"/>
              <a:ext cx="5457" cy="1017"/>
            </a:xfrm>
            <a:prstGeom prst="rect">
              <a:avLst/>
            </a:prstGeom>
          </p:spPr>
          <p:txBody>
            <a:bodyPr lIns="0" tIns="0" rIns="0" bIns="0" rtlCol="0" anchor="t">
              <a:spAutoFit/>
            </a:bodyPr>
            <a:lstStyle/>
            <a:p>
              <a:pPr algn="ctr">
                <a:lnSpc>
                  <a:spcPts val="5040"/>
                </a:lnSpc>
              </a:pPr>
              <a:r>
                <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替换和导出防误触措施</a:t>
              </a:r>
              <a:endPar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grpSp>
      <p:pic>
        <p:nvPicPr>
          <p:cNvPr id="3" name="图片 2"/>
          <p:cNvPicPr>
            <a:picLocks noChangeAspect="1"/>
          </p:cNvPicPr>
          <p:nvPr/>
        </p:nvPicPr>
        <p:blipFill>
          <a:blip r:embed="rId4"/>
          <a:stretch>
            <a:fillRect/>
          </a:stretch>
        </p:blipFill>
        <p:spPr>
          <a:xfrm>
            <a:off x="7048500" y="2628900"/>
            <a:ext cx="5776595" cy="2541270"/>
          </a:xfrm>
          <a:prstGeom prst="rect">
            <a:avLst/>
          </a:prstGeom>
        </p:spPr>
      </p:pic>
      <p:pic>
        <p:nvPicPr>
          <p:cNvPr id="4" name="图片 3"/>
          <p:cNvPicPr>
            <a:picLocks noChangeAspect="1"/>
          </p:cNvPicPr>
          <p:nvPr/>
        </p:nvPicPr>
        <p:blipFill>
          <a:blip r:embed="rId5"/>
          <a:stretch>
            <a:fillRect/>
          </a:stretch>
        </p:blipFill>
        <p:spPr>
          <a:xfrm>
            <a:off x="7010400" y="5448300"/>
            <a:ext cx="5836920" cy="2734310"/>
          </a:xfrm>
          <a:prstGeom prst="rect">
            <a:avLst/>
          </a:prstGeom>
        </p:spPr>
      </p:pic>
      <p:pic>
        <p:nvPicPr>
          <p:cNvPr id="5" name="图片 4"/>
          <p:cNvPicPr>
            <a:picLocks noChangeAspect="1"/>
          </p:cNvPicPr>
          <p:nvPr/>
        </p:nvPicPr>
        <p:blipFill>
          <a:blip r:embed="rId6"/>
          <a:stretch>
            <a:fillRect/>
          </a:stretch>
        </p:blipFill>
        <p:spPr>
          <a:xfrm>
            <a:off x="13106400" y="2705100"/>
            <a:ext cx="4478655" cy="107632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6" name="Freeform 6"/>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7" name="Freeform 7"/>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grpSp>
        <p:nvGrpSpPr>
          <p:cNvPr id="8" name="Group 8"/>
          <p:cNvGrpSpPr/>
          <p:nvPr>
            <p:custDataLst>
              <p:tags r:id="rId4"/>
            </p:custDataLst>
          </p:nvPr>
        </p:nvGrpSpPr>
        <p:grpSpPr>
          <a:xfrm rot="0">
            <a:off x="9061510" y="1781215"/>
            <a:ext cx="1263578" cy="1263578"/>
            <a:chOff x="0" y="0"/>
            <a:chExt cx="812800" cy="812800"/>
          </a:xfrm>
        </p:grpSpPr>
        <p:sp>
          <p:nvSpPr>
            <p:cNvPr id="9" name="Freeform 9"/>
            <p:cNvSpPr/>
            <p:nvPr>
              <p:custDataLst>
                <p:tags r:id="rId5"/>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3B64C9"/>
              </a:solidFill>
              <a:prstDash val="solid"/>
              <a:miter/>
            </a:ln>
          </p:spPr>
        </p:sp>
        <p:sp>
          <p:nvSpPr>
            <p:cNvPr id="10" name="TextBox 10"/>
            <p:cNvSpPr txBox="1"/>
            <p:nvPr/>
          </p:nvSpPr>
          <p:spPr>
            <a:xfrm>
              <a:off x="76200" y="38100"/>
              <a:ext cx="660400" cy="698500"/>
            </a:xfrm>
            <a:prstGeom prst="rect">
              <a:avLst/>
            </a:prstGeom>
          </p:spPr>
          <p:txBody>
            <a:bodyPr lIns="50800" tIns="50800" rIns="50800" bIns="50800" rtlCol="0" anchor="ctr"/>
            <a:lstStyle/>
            <a:p>
              <a:pPr algn="ctr">
                <a:lnSpc>
                  <a:spcPts val="2520"/>
                </a:lnSpc>
              </a:pPr>
            </a:p>
          </p:txBody>
        </p:sp>
      </p:grpSp>
      <p:sp>
        <p:nvSpPr>
          <p:cNvPr id="11" name="Freeform 11"/>
          <p:cNvSpPr/>
          <p:nvPr>
            <p:custDataLst>
              <p:tags r:id="rId6"/>
            </p:custDataLst>
          </p:nvPr>
        </p:nvSpPr>
        <p:spPr>
          <a:xfrm>
            <a:off x="9388774" y="2073271"/>
            <a:ext cx="609049" cy="679466"/>
          </a:xfrm>
          <a:custGeom>
            <a:avLst/>
            <a:gdLst/>
            <a:ahLst/>
            <a:cxnLst/>
            <a:rect l="l" t="t" r="r" b="b"/>
            <a:pathLst>
              <a:path w="609049" h="679466">
                <a:moveTo>
                  <a:pt x="0" y="0"/>
                </a:moveTo>
                <a:lnTo>
                  <a:pt x="609049" y="0"/>
                </a:lnTo>
                <a:lnTo>
                  <a:pt x="609049" y="679466"/>
                </a:lnTo>
                <a:lnTo>
                  <a:pt x="0" y="67946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grpSp>
        <p:nvGrpSpPr>
          <p:cNvPr id="12" name="Group 12"/>
          <p:cNvGrpSpPr/>
          <p:nvPr>
            <p:custDataLst>
              <p:tags r:id="rId9"/>
            </p:custDataLst>
          </p:nvPr>
        </p:nvGrpSpPr>
        <p:grpSpPr>
          <a:xfrm rot="0">
            <a:off x="8848150" y="6593218"/>
            <a:ext cx="1263578" cy="1263578"/>
            <a:chOff x="0" y="0"/>
            <a:chExt cx="812800" cy="812800"/>
          </a:xfrm>
        </p:grpSpPr>
        <p:sp>
          <p:nvSpPr>
            <p:cNvPr id="13" name="Freeform 13"/>
            <p:cNvSpPr/>
            <p:nvPr>
              <p:custDataLst>
                <p:tags r:id="rId10"/>
              </p:custDataLst>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8575" cap="sq">
              <a:solidFill>
                <a:srgbClr val="3B64C9"/>
              </a:solidFill>
              <a:prstDash val="solid"/>
              <a:miter/>
            </a:ln>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520"/>
                </a:lnSpc>
              </a:pPr>
            </a:p>
          </p:txBody>
        </p:sp>
      </p:grpSp>
      <p:sp>
        <p:nvSpPr>
          <p:cNvPr id="15" name="Freeform 15"/>
          <p:cNvSpPr/>
          <p:nvPr>
            <p:custDataLst>
              <p:tags r:id="rId11"/>
            </p:custDataLst>
          </p:nvPr>
        </p:nvSpPr>
        <p:spPr>
          <a:xfrm>
            <a:off x="9175414" y="6885274"/>
            <a:ext cx="609049" cy="679466"/>
          </a:xfrm>
          <a:custGeom>
            <a:avLst/>
            <a:gdLst/>
            <a:ahLst/>
            <a:cxnLst/>
            <a:rect l="l" t="t" r="r" b="b"/>
            <a:pathLst>
              <a:path w="609049" h="679466">
                <a:moveTo>
                  <a:pt x="0" y="0"/>
                </a:moveTo>
                <a:lnTo>
                  <a:pt x="609049" y="0"/>
                </a:lnTo>
                <a:lnTo>
                  <a:pt x="609049" y="679466"/>
                </a:lnTo>
                <a:lnTo>
                  <a:pt x="0" y="67946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6" name="TextBox 16"/>
          <p:cNvSpPr txBox="1"/>
          <p:nvPr>
            <p:custDataLst>
              <p:tags r:id="rId12"/>
            </p:custDataLst>
          </p:nvPr>
        </p:nvSpPr>
        <p:spPr>
          <a:xfrm>
            <a:off x="10591800" y="1562100"/>
            <a:ext cx="6590665" cy="767080"/>
          </a:xfrm>
          <a:prstGeom prst="rect">
            <a:avLst/>
          </a:prstGeom>
        </p:spPr>
        <p:txBody>
          <a:bodyPr lIns="0" tIns="0" rIns="0" bIns="0" rtlCol="0" anchor="t">
            <a:noAutofit/>
          </a:bodyPr>
          <a:lstStyle/>
          <a:p>
            <a:pPr algn="l">
              <a:lnSpc>
                <a:spcPts val="5040"/>
              </a:lnSpc>
            </a:pPr>
            <a:r>
              <a:rPr lang="zh-CN" altLang="en-US" sz="44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整体界面设计风格</a:t>
            </a:r>
            <a:endParaRPr lang="zh-CN" altLang="en-US" sz="44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17" name="TextBox 17"/>
          <p:cNvSpPr txBox="1"/>
          <p:nvPr>
            <p:custDataLst>
              <p:tags r:id="rId13"/>
            </p:custDataLst>
          </p:nvPr>
        </p:nvSpPr>
        <p:spPr>
          <a:xfrm>
            <a:off x="10668000" y="2400300"/>
            <a:ext cx="6590665" cy="3283585"/>
          </a:xfrm>
          <a:prstGeom prst="rect">
            <a:avLst/>
          </a:prstGeom>
        </p:spPr>
        <p:txBody>
          <a:bodyPr lIns="0" tIns="0" rIns="0" bIns="0" rtlCol="0" anchor="t">
            <a:noAutofit/>
          </a:bodyPr>
          <a:lstStyle/>
          <a:p>
            <a:pPr algn="l">
              <a:lnSpc>
                <a:spcPts val="3080"/>
              </a:lnSpc>
            </a:pP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系统整体</a:t>
            </a:r>
            <a:r>
              <a:rPr lang="en-US" altLang="zh-CN"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 UI </a:t>
            </a: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采用了现代化的拟物毛玻璃（</a:t>
            </a:r>
            <a:r>
              <a:rPr lang="en-US" altLang="zh-CN"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Glassmorphism</a:t>
            </a: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）设计语言。</a:t>
            </a:r>
            <a:endPar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ts val="3080"/>
              </a:lnSpc>
            </a:pP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通过底层动态视觉背景结合</a:t>
            </a:r>
            <a:r>
              <a:rPr lang="en-US" altLang="zh-CN"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 CSS </a:t>
            </a: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高斯模糊特性，构建出层次分明、半透明的悬浮卡片效果。</a:t>
            </a:r>
            <a:endPar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ts val="3080"/>
              </a:lnSpc>
            </a:pP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这不仅提升了系统的科技感，也有效缓解了用户长时间面对密集数据表单时的视觉疲劳</a:t>
            </a:r>
            <a:endPar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p:txBody>
      </p:sp>
      <p:sp>
        <p:nvSpPr>
          <p:cNvPr id="18" name="TextBox 18"/>
          <p:cNvSpPr txBox="1"/>
          <p:nvPr>
            <p:custDataLst>
              <p:tags r:id="rId14"/>
            </p:custDataLst>
          </p:nvPr>
        </p:nvSpPr>
        <p:spPr>
          <a:xfrm>
            <a:off x="10454640" y="6438900"/>
            <a:ext cx="8789035" cy="767080"/>
          </a:xfrm>
          <a:prstGeom prst="rect">
            <a:avLst/>
          </a:prstGeom>
        </p:spPr>
        <p:txBody>
          <a:bodyPr wrap="square" lIns="0" tIns="0" rIns="0" bIns="0" rtlCol="0" anchor="t">
            <a:noAutofit/>
          </a:bodyPr>
          <a:lstStyle/>
          <a:p>
            <a:pPr algn="l">
              <a:lnSpc>
                <a:spcPts val="5040"/>
              </a:lnSpc>
            </a:pPr>
            <a:r>
              <a:rPr lang="zh-CN" altLang="en-US" sz="44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数据分析系统的左右界面设计</a:t>
            </a:r>
            <a:endParaRPr lang="zh-CN" altLang="en-US" sz="44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19" name="TextBox 19"/>
          <p:cNvSpPr txBox="1"/>
          <p:nvPr>
            <p:custDataLst>
              <p:tags r:id="rId15"/>
            </p:custDataLst>
          </p:nvPr>
        </p:nvSpPr>
        <p:spPr>
          <a:xfrm>
            <a:off x="10427335" y="7280275"/>
            <a:ext cx="7211695" cy="2464435"/>
          </a:xfrm>
          <a:prstGeom prst="rect">
            <a:avLst/>
          </a:prstGeom>
        </p:spPr>
        <p:txBody>
          <a:bodyPr lIns="0" tIns="0" rIns="0" bIns="0" rtlCol="0" anchor="t">
            <a:noAutofit/>
          </a:bodyPr>
          <a:lstStyle/>
          <a:p>
            <a:pPr algn="l">
              <a:lnSpc>
                <a:spcPts val="3080"/>
              </a:lnSpc>
            </a:pP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界面布局遵循清晰的工程化流线与操作习惯。</a:t>
            </a:r>
            <a:endPar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ts val="3080"/>
              </a:lnSpc>
            </a:pP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左侧规划为导航与控制枢纽，收纳所有配置项与变量参数；右侧则保留最大的屏幕占比作为数据可视化大屏，承载各类</a:t>
            </a:r>
            <a:r>
              <a:rPr lang="en-US" altLang="zh-CN"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 ECharts </a:t>
            </a: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图表展示。</a:t>
            </a:r>
            <a:endPar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ts val="3080"/>
              </a:lnSpc>
            </a:pP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左右分工明确，确保用户的视觉焦点始终集中在核心的分析结果上。</a:t>
            </a:r>
            <a:endPar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p:txBody>
      </p:sp>
      <p:sp>
        <p:nvSpPr>
          <p:cNvPr id="20" name="TextBox 20"/>
          <p:cNvSpPr txBox="1"/>
          <p:nvPr/>
        </p:nvSpPr>
        <p:spPr>
          <a:xfrm>
            <a:off x="1028700" y="457200"/>
            <a:ext cx="6169660" cy="1278890"/>
          </a:xfrm>
          <a:prstGeom prst="rect">
            <a:avLst/>
          </a:prstGeom>
        </p:spPr>
        <p:txBody>
          <a:bodyPr lIns="0" tIns="0" rIns="0" bIns="0" rtlCol="0" anchor="t">
            <a:noAutofit/>
          </a:bodyPr>
          <a:lstStyle/>
          <a:p>
            <a:pPr algn="l">
              <a:lnSpc>
                <a:spcPts val="8400"/>
              </a:lnSpc>
            </a:pPr>
            <a:r>
              <a:rPr 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03.</a:t>
            </a:r>
            <a:r>
              <a:rPr lang="zh-CN" alt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界面设计</a:t>
            </a:r>
            <a:endParaRPr lang="zh-CN" alt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21" name="TextBox 21"/>
          <p:cNvSpPr txBox="1"/>
          <p:nvPr/>
        </p:nvSpPr>
        <p:spPr>
          <a:xfrm>
            <a:off x="13753946" y="872490"/>
            <a:ext cx="3505354" cy="645795"/>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THREE</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pic>
        <p:nvPicPr>
          <p:cNvPr id="22" name="图片 21"/>
          <p:cNvPicPr>
            <a:picLocks noChangeAspect="1"/>
          </p:cNvPicPr>
          <p:nvPr/>
        </p:nvPicPr>
        <p:blipFill>
          <a:blip r:embed="rId16"/>
          <a:stretch>
            <a:fillRect/>
          </a:stretch>
        </p:blipFill>
        <p:spPr>
          <a:xfrm>
            <a:off x="0" y="1485900"/>
            <a:ext cx="4982210" cy="3006725"/>
          </a:xfrm>
          <a:prstGeom prst="rect">
            <a:avLst/>
          </a:prstGeom>
        </p:spPr>
      </p:pic>
      <p:pic>
        <p:nvPicPr>
          <p:cNvPr id="24" name="图片 23"/>
          <p:cNvPicPr>
            <a:picLocks noChangeAspect="1"/>
          </p:cNvPicPr>
          <p:nvPr/>
        </p:nvPicPr>
        <p:blipFill>
          <a:blip r:embed="rId17"/>
          <a:stretch>
            <a:fillRect/>
          </a:stretch>
        </p:blipFill>
        <p:spPr>
          <a:xfrm>
            <a:off x="1295400" y="5753100"/>
            <a:ext cx="7237095" cy="4331970"/>
          </a:xfrm>
          <a:prstGeom prst="rect">
            <a:avLst/>
          </a:prstGeom>
        </p:spPr>
      </p:pic>
      <p:pic>
        <p:nvPicPr>
          <p:cNvPr id="25" name="图片 24"/>
          <p:cNvPicPr>
            <a:picLocks noChangeAspect="1"/>
          </p:cNvPicPr>
          <p:nvPr/>
        </p:nvPicPr>
        <p:blipFill>
          <a:blip r:embed="rId18"/>
          <a:stretch>
            <a:fillRect/>
          </a:stretch>
        </p:blipFill>
        <p:spPr>
          <a:xfrm>
            <a:off x="3657600" y="2400300"/>
            <a:ext cx="5344795" cy="323977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8" name="Freeform 8"/>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9" name="Freeform 9"/>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sp>
        <p:nvSpPr>
          <p:cNvPr id="10" name="TextBox 10"/>
          <p:cNvSpPr txBox="1"/>
          <p:nvPr/>
        </p:nvSpPr>
        <p:spPr>
          <a:xfrm>
            <a:off x="1028700" y="457200"/>
            <a:ext cx="4776601" cy="1076960"/>
          </a:xfrm>
          <a:prstGeom prst="rect">
            <a:avLst/>
          </a:prstGeom>
        </p:spPr>
        <p:txBody>
          <a:bodyPr lIns="0" tIns="0" rIns="0" bIns="0" rtlCol="0" anchor="t">
            <a:spAutoFit/>
          </a:bodyPr>
          <a:lstStyle/>
          <a:p>
            <a:pPr algn="l">
              <a:lnSpc>
                <a:spcPts val="8400"/>
              </a:lnSpc>
            </a:pPr>
            <a:r>
              <a:rPr 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03.</a:t>
            </a:r>
            <a:r>
              <a:rPr lang="zh-CN" alt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界面设计</a:t>
            </a:r>
            <a:endParaRPr lang="zh-CN" alt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11" name="TextBox 11"/>
          <p:cNvSpPr txBox="1"/>
          <p:nvPr/>
        </p:nvSpPr>
        <p:spPr>
          <a:xfrm>
            <a:off x="13753946" y="872490"/>
            <a:ext cx="3505354" cy="613410"/>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THREE</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sp>
        <p:nvSpPr>
          <p:cNvPr id="12" name="TextBox 12"/>
          <p:cNvSpPr txBox="1"/>
          <p:nvPr/>
        </p:nvSpPr>
        <p:spPr>
          <a:xfrm>
            <a:off x="2130326" y="6860946"/>
            <a:ext cx="6593124" cy="645795"/>
          </a:xfrm>
          <a:prstGeom prst="rect">
            <a:avLst/>
          </a:prstGeom>
        </p:spPr>
        <p:txBody>
          <a:bodyPr lIns="0" tIns="0" rIns="0" bIns="0" rtlCol="0" anchor="t">
            <a:spAutoFit/>
          </a:bodyPr>
          <a:lstStyle/>
          <a:p>
            <a:pPr algn="l">
              <a:lnSpc>
                <a:spcPts val="5040"/>
              </a:lnSpc>
            </a:pPr>
            <a:r>
              <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双系统的警告界面设计</a:t>
            </a:r>
            <a:endParaRPr lang="zh-CN" altLang="en-US" sz="3600" b="1"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13" name="TextBox 13"/>
          <p:cNvSpPr txBox="1"/>
          <p:nvPr/>
        </p:nvSpPr>
        <p:spPr>
          <a:xfrm>
            <a:off x="2130425" y="7629525"/>
            <a:ext cx="14490065" cy="1579880"/>
          </a:xfrm>
          <a:prstGeom prst="rect">
            <a:avLst/>
          </a:prstGeom>
        </p:spPr>
        <p:txBody>
          <a:bodyPr wrap="square" lIns="0" tIns="0" rIns="0" bIns="0" rtlCol="0" anchor="t">
            <a:spAutoFit/>
          </a:bodyPr>
          <a:lstStyle/>
          <a:p>
            <a:pPr algn="l">
              <a:lnSpc>
                <a:spcPts val="3080"/>
              </a:lnSpc>
            </a:pPr>
            <a:r>
              <a:rPr lang="zh-CN" altLang="en-US" sz="2400" b="1">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为避免原生浏览器弹窗（</a:t>
            </a:r>
            <a:r>
              <a:rPr lang="en-US" altLang="zh-CN" sz="2400" b="1">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Alert</a:t>
            </a:r>
            <a:r>
              <a:rPr lang="zh-CN" altLang="en-US" sz="2400" b="1">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在多异步任务下导致的用户体验割裂与状态冲突，系统重新设计了一套基于微任务调度的全局反馈组件。该组件采用最高层级的悬浮遮罩，并根据危险级别以色彩（如橙黄警告、警示红）进行视觉区分。在弹出拦截确认期间，底层界面将被暂时锁定，有效防止了高并发场景下的误操作与重复提交。</a:t>
            </a:r>
            <a:endParaRPr lang="zh-CN" altLang="en-US" sz="2400" b="1">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p:txBody>
      </p:sp>
      <p:pic>
        <p:nvPicPr>
          <p:cNvPr id="16" name="图片 15"/>
          <p:cNvPicPr>
            <a:picLocks noChangeAspect="1"/>
          </p:cNvPicPr>
          <p:nvPr/>
        </p:nvPicPr>
        <p:blipFill>
          <a:blip r:embed="rId4"/>
          <a:stretch>
            <a:fillRect/>
          </a:stretch>
        </p:blipFill>
        <p:spPr>
          <a:xfrm>
            <a:off x="1752600" y="2400300"/>
            <a:ext cx="3705225" cy="3819525"/>
          </a:xfrm>
          <a:prstGeom prst="rect">
            <a:avLst/>
          </a:prstGeom>
        </p:spPr>
      </p:pic>
      <p:pic>
        <p:nvPicPr>
          <p:cNvPr id="17" name="图片 16"/>
          <p:cNvPicPr>
            <a:picLocks noChangeAspect="1"/>
          </p:cNvPicPr>
          <p:nvPr/>
        </p:nvPicPr>
        <p:blipFill>
          <a:blip r:embed="rId5"/>
          <a:stretch>
            <a:fillRect/>
          </a:stretch>
        </p:blipFill>
        <p:spPr>
          <a:xfrm>
            <a:off x="5562600" y="2400300"/>
            <a:ext cx="5650865" cy="3879850"/>
          </a:xfrm>
          <a:prstGeom prst="rect">
            <a:avLst/>
          </a:prstGeom>
        </p:spPr>
      </p:pic>
      <p:pic>
        <p:nvPicPr>
          <p:cNvPr id="18" name="图片 17"/>
          <p:cNvPicPr>
            <a:picLocks noChangeAspect="1"/>
          </p:cNvPicPr>
          <p:nvPr/>
        </p:nvPicPr>
        <p:blipFill>
          <a:blip r:embed="rId6"/>
          <a:stretch>
            <a:fillRect/>
          </a:stretch>
        </p:blipFill>
        <p:spPr>
          <a:xfrm>
            <a:off x="11353800" y="1840865"/>
            <a:ext cx="5776595" cy="2541270"/>
          </a:xfrm>
          <a:prstGeom prst="rect">
            <a:avLst/>
          </a:prstGeom>
        </p:spPr>
      </p:pic>
      <p:pic>
        <p:nvPicPr>
          <p:cNvPr id="19" name="图片 18"/>
          <p:cNvPicPr>
            <a:picLocks noChangeAspect="1"/>
          </p:cNvPicPr>
          <p:nvPr/>
        </p:nvPicPr>
        <p:blipFill>
          <a:blip r:embed="rId7"/>
          <a:stretch>
            <a:fillRect/>
          </a:stretch>
        </p:blipFill>
        <p:spPr>
          <a:xfrm>
            <a:off x="11811000" y="4000500"/>
            <a:ext cx="5039360" cy="258572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3" name="Freeform 3"/>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4" name="Freeform 4"/>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sp>
        <p:nvSpPr>
          <p:cNvPr id="8" name="TextBox 8"/>
          <p:cNvSpPr txBox="1"/>
          <p:nvPr/>
        </p:nvSpPr>
        <p:spPr>
          <a:xfrm>
            <a:off x="1028700" y="457200"/>
            <a:ext cx="4776601" cy="1076960"/>
          </a:xfrm>
          <a:prstGeom prst="rect">
            <a:avLst/>
          </a:prstGeom>
        </p:spPr>
        <p:txBody>
          <a:bodyPr lIns="0" tIns="0" rIns="0" bIns="0" rtlCol="0" anchor="t">
            <a:spAutoFit/>
          </a:bodyPr>
          <a:lstStyle/>
          <a:p>
            <a:pPr algn="l">
              <a:lnSpc>
                <a:spcPts val="8400"/>
              </a:lnSpc>
            </a:pPr>
            <a:r>
              <a:rPr 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03.</a:t>
            </a:r>
            <a:r>
              <a:rPr lang="zh-CN" alt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用户体验</a:t>
            </a:r>
            <a:endParaRPr lang="zh-CN" altLang="en-US" sz="6000"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9" name="TextBox 9"/>
          <p:cNvSpPr txBox="1"/>
          <p:nvPr/>
        </p:nvSpPr>
        <p:spPr>
          <a:xfrm>
            <a:off x="13753946" y="872490"/>
            <a:ext cx="3505354" cy="613410"/>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THREE</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sp>
        <p:nvSpPr>
          <p:cNvPr id="10" name="TextBox 10"/>
          <p:cNvSpPr txBox="1"/>
          <p:nvPr/>
        </p:nvSpPr>
        <p:spPr>
          <a:xfrm>
            <a:off x="10210693" y="2628922"/>
            <a:ext cx="6593124" cy="645795"/>
          </a:xfrm>
          <a:prstGeom prst="rect">
            <a:avLst/>
          </a:prstGeom>
        </p:spPr>
        <p:txBody>
          <a:bodyPr lIns="0" tIns="0" rIns="0" bIns="0" rtlCol="0" anchor="t">
            <a:spAutoFit/>
          </a:bodyPr>
          <a:lstStyle/>
          <a:p>
            <a:pPr algn="l">
              <a:lnSpc>
                <a:spcPts val="5040"/>
              </a:lnSpc>
            </a:pPr>
            <a:r>
              <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数据操作系统的界面设计</a:t>
            </a:r>
            <a:endPar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11" name="TextBox 11"/>
          <p:cNvSpPr txBox="1"/>
          <p:nvPr/>
        </p:nvSpPr>
        <p:spPr>
          <a:xfrm>
            <a:off x="10210800" y="3397885"/>
            <a:ext cx="6831330" cy="4860925"/>
          </a:xfrm>
          <a:prstGeom prst="rect">
            <a:avLst/>
          </a:prstGeom>
        </p:spPr>
        <p:txBody>
          <a:bodyPr lIns="0" tIns="0" rIns="0" bIns="0" rtlCol="0" anchor="t">
            <a:noAutofit/>
          </a:bodyPr>
          <a:lstStyle/>
          <a:p>
            <a:pPr algn="l">
              <a:lnSpc>
                <a:spcPct val="100000"/>
              </a:lnSpc>
            </a:pPr>
            <a:r>
              <a:rPr lang="zh-CN" altLang="en-US" sz="28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在进入数据管理与编辑模式时，考虑到用户需要同时比对和处理大量字段，系统自动取消了分析模式下的侧边导航栏约束。</a:t>
            </a:r>
            <a:endParaRPr lang="zh-CN" altLang="en-US" sz="28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ct val="100000"/>
              </a:lnSpc>
            </a:pPr>
            <a:r>
              <a:rPr lang="zh-CN" altLang="en-US" sz="28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取而代之的是无缝切换至沉浸式的全屏网格（</a:t>
            </a:r>
            <a:r>
              <a:rPr lang="en-US" altLang="zh-CN" sz="28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Grid</a:t>
            </a:r>
            <a:r>
              <a:rPr lang="zh-CN" altLang="en-US" sz="28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）视图，最大化地扩展了数据表格的横向与纵向展示空间。</a:t>
            </a:r>
            <a:endParaRPr lang="zh-CN" altLang="en-US" sz="28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a:p>
            <a:pPr algn="l">
              <a:lnSpc>
                <a:spcPct val="100000"/>
              </a:lnSpc>
            </a:pPr>
            <a:r>
              <a:rPr lang="zh-CN" altLang="en-US" sz="28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这种空间释放显著降低了超宽表单操作时的拖拽频率，大幅提升了数据维护的效率。</a:t>
            </a:r>
            <a:endParaRPr lang="zh-CN" altLang="en-US" sz="28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p:txBody>
      </p:sp>
      <p:pic>
        <p:nvPicPr>
          <p:cNvPr id="12" name="图片 11"/>
          <p:cNvPicPr>
            <a:picLocks noChangeAspect="1"/>
          </p:cNvPicPr>
          <p:nvPr/>
        </p:nvPicPr>
        <p:blipFill>
          <a:blip r:embed="rId4"/>
          <a:stretch>
            <a:fillRect/>
          </a:stretch>
        </p:blipFill>
        <p:spPr>
          <a:xfrm>
            <a:off x="457200" y="2247900"/>
            <a:ext cx="9137650" cy="5485765"/>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8" name="Freeform 8"/>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9" name="Freeform 9"/>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sp>
        <p:nvSpPr>
          <p:cNvPr id="10" name="TextBox 10"/>
          <p:cNvSpPr txBox="1"/>
          <p:nvPr/>
        </p:nvSpPr>
        <p:spPr>
          <a:xfrm>
            <a:off x="1028700" y="457200"/>
            <a:ext cx="4776601" cy="1076960"/>
          </a:xfrm>
          <a:prstGeom prst="rect">
            <a:avLst/>
          </a:prstGeom>
        </p:spPr>
        <p:txBody>
          <a:bodyPr lIns="0" tIns="0" rIns="0" bIns="0" rtlCol="0" anchor="t">
            <a:spAutoFit/>
          </a:bodyPr>
          <a:lstStyle/>
          <a:p>
            <a:pPr algn="l">
              <a:lnSpc>
                <a:spcPts val="8400"/>
              </a:lnSpc>
            </a:pPr>
            <a:r>
              <a:rPr 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03.</a:t>
            </a:r>
            <a:r>
              <a:rPr lang="zh-CN" alt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界面设计</a:t>
            </a:r>
            <a:endParaRPr lang="zh-CN" alt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11" name="TextBox 11"/>
          <p:cNvSpPr txBox="1"/>
          <p:nvPr/>
        </p:nvSpPr>
        <p:spPr>
          <a:xfrm>
            <a:off x="13753946" y="872490"/>
            <a:ext cx="3505354" cy="613410"/>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THREE</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sp>
        <p:nvSpPr>
          <p:cNvPr id="16" name="AutoShape 2"/>
          <p:cNvSpPr/>
          <p:nvPr/>
        </p:nvSpPr>
        <p:spPr>
          <a:xfrm>
            <a:off x="2287982" y="2592093"/>
            <a:ext cx="13703008" cy="0"/>
          </a:xfrm>
          <a:prstGeom prst="line">
            <a:avLst/>
          </a:prstGeom>
          <a:ln w="28575" cap="rnd">
            <a:gradFill>
              <a:gsLst>
                <a:gs pos="0">
                  <a:srgbClr val="15B5FC">
                    <a:alpha val="100000"/>
                  </a:srgbClr>
                </a:gs>
                <a:gs pos="100000">
                  <a:srgbClr val="3D77FF">
                    <a:alpha val="100000"/>
                  </a:srgbClr>
                </a:gs>
              </a:gsLst>
              <a:lin ang="0"/>
            </a:gradFill>
            <a:prstDash val="solid"/>
            <a:headEnd type="none" w="sm" len="sm"/>
            <a:tailEnd type="none" w="sm" len="sm"/>
          </a:ln>
        </p:spPr>
      </p:sp>
      <p:grpSp>
        <p:nvGrpSpPr>
          <p:cNvPr id="17" name="Group 3"/>
          <p:cNvGrpSpPr/>
          <p:nvPr/>
        </p:nvGrpSpPr>
        <p:grpSpPr>
          <a:xfrm rot="0">
            <a:off x="1874100" y="4202841"/>
            <a:ext cx="1163158" cy="4599308"/>
            <a:chOff x="0" y="0"/>
            <a:chExt cx="309003" cy="1221845"/>
          </a:xfrm>
        </p:grpSpPr>
        <p:sp>
          <p:nvSpPr>
            <p:cNvPr id="18" name="Freeform 4"/>
            <p:cNvSpPr/>
            <p:nvPr/>
          </p:nvSpPr>
          <p:spPr>
            <a:xfrm>
              <a:off x="0" y="0"/>
              <a:ext cx="309003" cy="1221845"/>
            </a:xfrm>
            <a:custGeom>
              <a:avLst/>
              <a:gdLst/>
              <a:ahLst/>
              <a:cxnLst/>
              <a:rect l="l" t="t" r="r" b="b"/>
              <a:pathLst>
                <a:path w="309003" h="1221845">
                  <a:moveTo>
                    <a:pt x="73215" y="0"/>
                  </a:moveTo>
                  <a:lnTo>
                    <a:pt x="235787" y="0"/>
                  </a:lnTo>
                  <a:cubicBezTo>
                    <a:pt x="255205" y="0"/>
                    <a:pt x="273828" y="7714"/>
                    <a:pt x="287559" y="21444"/>
                  </a:cubicBezTo>
                  <a:cubicBezTo>
                    <a:pt x="301289" y="35175"/>
                    <a:pt x="309003" y="53797"/>
                    <a:pt x="309003" y="73215"/>
                  </a:cubicBezTo>
                  <a:lnTo>
                    <a:pt x="309003" y="1148630"/>
                  </a:lnTo>
                  <a:cubicBezTo>
                    <a:pt x="309003" y="1168048"/>
                    <a:pt x="301289" y="1186670"/>
                    <a:pt x="287559" y="1200401"/>
                  </a:cubicBezTo>
                  <a:cubicBezTo>
                    <a:pt x="273828" y="1214132"/>
                    <a:pt x="255205" y="1221845"/>
                    <a:pt x="235787" y="1221845"/>
                  </a:cubicBezTo>
                  <a:lnTo>
                    <a:pt x="73215" y="1221845"/>
                  </a:lnTo>
                  <a:cubicBezTo>
                    <a:pt x="53797" y="1221845"/>
                    <a:pt x="35175" y="1214132"/>
                    <a:pt x="21444" y="1200401"/>
                  </a:cubicBezTo>
                  <a:cubicBezTo>
                    <a:pt x="7714" y="1186670"/>
                    <a:pt x="0" y="1168048"/>
                    <a:pt x="0" y="1148630"/>
                  </a:cubicBezTo>
                  <a:lnTo>
                    <a:pt x="0" y="73215"/>
                  </a:lnTo>
                  <a:cubicBezTo>
                    <a:pt x="0" y="53797"/>
                    <a:pt x="7714" y="35175"/>
                    <a:pt x="21444" y="21444"/>
                  </a:cubicBezTo>
                  <a:cubicBezTo>
                    <a:pt x="35175" y="7714"/>
                    <a:pt x="53797" y="0"/>
                    <a:pt x="73215" y="0"/>
                  </a:cubicBezTo>
                  <a:close/>
                </a:path>
              </a:pathLst>
            </a:custGeom>
            <a:gradFill rotWithShape="1">
              <a:gsLst>
                <a:gs pos="0">
                  <a:srgbClr val="15B5FC">
                    <a:alpha val="100000"/>
                  </a:srgbClr>
                </a:gs>
                <a:gs pos="100000">
                  <a:srgbClr val="3D77FF">
                    <a:alpha val="100000"/>
                  </a:srgbClr>
                </a:gs>
              </a:gsLst>
              <a:lin ang="2700000"/>
            </a:gradFill>
            <a:ln cap="sq">
              <a:noFill/>
              <a:prstDash val="solid"/>
              <a:miter/>
            </a:ln>
          </p:spPr>
        </p:sp>
        <p:sp>
          <p:nvSpPr>
            <p:cNvPr id="19" name="TextBox 5"/>
            <p:cNvSpPr txBox="1"/>
            <p:nvPr/>
          </p:nvSpPr>
          <p:spPr>
            <a:xfrm>
              <a:off x="0" y="-28575"/>
              <a:ext cx="309003" cy="1250420"/>
            </a:xfrm>
            <a:prstGeom prst="rect">
              <a:avLst/>
            </a:prstGeom>
          </p:spPr>
          <p:txBody>
            <a:bodyPr lIns="55859" tIns="55859" rIns="55859" bIns="55859" rtlCol="0" anchor="ctr"/>
            <a:lstStyle/>
            <a:p>
              <a:pPr marL="0" lvl="0" indent="0" algn="ctr">
                <a:lnSpc>
                  <a:spcPts val="2660"/>
                </a:lnSpc>
                <a:spcBef>
                  <a:spcPct val="0"/>
                </a:spcBef>
              </a:pPr>
            </a:p>
          </p:txBody>
        </p:sp>
      </p:grpSp>
      <p:grpSp>
        <p:nvGrpSpPr>
          <p:cNvPr id="20" name="Group 6"/>
          <p:cNvGrpSpPr/>
          <p:nvPr/>
        </p:nvGrpSpPr>
        <p:grpSpPr>
          <a:xfrm rot="0">
            <a:off x="15103975" y="4202841"/>
            <a:ext cx="1309926" cy="4599308"/>
            <a:chOff x="0" y="0"/>
            <a:chExt cx="347993" cy="1221845"/>
          </a:xfrm>
        </p:grpSpPr>
        <p:sp>
          <p:nvSpPr>
            <p:cNvPr id="21" name="Freeform 7"/>
            <p:cNvSpPr/>
            <p:nvPr/>
          </p:nvSpPr>
          <p:spPr>
            <a:xfrm>
              <a:off x="0" y="0"/>
              <a:ext cx="347993" cy="1221845"/>
            </a:xfrm>
            <a:custGeom>
              <a:avLst/>
              <a:gdLst/>
              <a:ahLst/>
              <a:cxnLst/>
              <a:rect l="l" t="t" r="r" b="b"/>
              <a:pathLst>
                <a:path w="347993" h="1221845">
                  <a:moveTo>
                    <a:pt x="65012" y="0"/>
                  </a:moveTo>
                  <a:lnTo>
                    <a:pt x="282981" y="0"/>
                  </a:lnTo>
                  <a:cubicBezTo>
                    <a:pt x="300223" y="0"/>
                    <a:pt x="316759" y="6849"/>
                    <a:pt x="328951" y="19042"/>
                  </a:cubicBezTo>
                  <a:cubicBezTo>
                    <a:pt x="341143" y="31234"/>
                    <a:pt x="347993" y="47770"/>
                    <a:pt x="347993" y="65012"/>
                  </a:cubicBezTo>
                  <a:lnTo>
                    <a:pt x="347993" y="1156833"/>
                  </a:lnTo>
                  <a:cubicBezTo>
                    <a:pt x="347993" y="1174076"/>
                    <a:pt x="341143" y="1190612"/>
                    <a:pt x="328951" y="1202804"/>
                  </a:cubicBezTo>
                  <a:cubicBezTo>
                    <a:pt x="316759" y="1214996"/>
                    <a:pt x="300223" y="1221845"/>
                    <a:pt x="282981" y="1221845"/>
                  </a:cubicBezTo>
                  <a:lnTo>
                    <a:pt x="65012" y="1221845"/>
                  </a:lnTo>
                  <a:cubicBezTo>
                    <a:pt x="47770" y="1221845"/>
                    <a:pt x="31234" y="1214996"/>
                    <a:pt x="19042" y="1202804"/>
                  </a:cubicBezTo>
                  <a:cubicBezTo>
                    <a:pt x="6849" y="1190612"/>
                    <a:pt x="0" y="1174076"/>
                    <a:pt x="0" y="1156833"/>
                  </a:cubicBezTo>
                  <a:lnTo>
                    <a:pt x="0" y="65012"/>
                  </a:lnTo>
                  <a:cubicBezTo>
                    <a:pt x="0" y="47770"/>
                    <a:pt x="6849" y="31234"/>
                    <a:pt x="19042" y="19042"/>
                  </a:cubicBezTo>
                  <a:cubicBezTo>
                    <a:pt x="31234" y="6849"/>
                    <a:pt x="47770" y="0"/>
                    <a:pt x="65012" y="0"/>
                  </a:cubicBezTo>
                  <a:close/>
                </a:path>
              </a:pathLst>
            </a:custGeom>
            <a:gradFill rotWithShape="1">
              <a:gsLst>
                <a:gs pos="0">
                  <a:srgbClr val="15B5FC">
                    <a:alpha val="100000"/>
                  </a:srgbClr>
                </a:gs>
                <a:gs pos="100000">
                  <a:srgbClr val="3D77FF">
                    <a:alpha val="100000"/>
                  </a:srgbClr>
                </a:gs>
              </a:gsLst>
              <a:lin ang="2700000"/>
            </a:gradFill>
            <a:ln cap="sq">
              <a:noFill/>
              <a:prstDash val="solid"/>
              <a:miter/>
            </a:ln>
          </p:spPr>
        </p:sp>
        <p:sp>
          <p:nvSpPr>
            <p:cNvPr id="22" name="TextBox 8"/>
            <p:cNvSpPr txBox="1"/>
            <p:nvPr/>
          </p:nvSpPr>
          <p:spPr>
            <a:xfrm>
              <a:off x="0" y="-28575"/>
              <a:ext cx="347993" cy="1250420"/>
            </a:xfrm>
            <a:prstGeom prst="rect">
              <a:avLst/>
            </a:prstGeom>
          </p:spPr>
          <p:txBody>
            <a:bodyPr lIns="55859" tIns="55859" rIns="55859" bIns="55859" rtlCol="0" anchor="ctr"/>
            <a:lstStyle/>
            <a:p>
              <a:pPr marL="0" lvl="0" indent="0" algn="ctr">
                <a:lnSpc>
                  <a:spcPts val="2660"/>
                </a:lnSpc>
                <a:spcBef>
                  <a:spcPct val="0"/>
                </a:spcBef>
              </a:pPr>
            </a:p>
          </p:txBody>
        </p:sp>
      </p:grpSp>
      <p:grpSp>
        <p:nvGrpSpPr>
          <p:cNvPr id="23" name="Group 9"/>
          <p:cNvGrpSpPr/>
          <p:nvPr/>
        </p:nvGrpSpPr>
        <p:grpSpPr>
          <a:xfrm rot="0">
            <a:off x="2916735" y="3895484"/>
            <a:ext cx="6054752" cy="5214020"/>
            <a:chOff x="0" y="0"/>
            <a:chExt cx="1608497" cy="1385149"/>
          </a:xfrm>
        </p:grpSpPr>
        <p:sp>
          <p:nvSpPr>
            <p:cNvPr id="24" name="Freeform 10"/>
            <p:cNvSpPr/>
            <p:nvPr/>
          </p:nvSpPr>
          <p:spPr>
            <a:xfrm>
              <a:off x="0" y="0"/>
              <a:ext cx="1608497" cy="1385149"/>
            </a:xfrm>
            <a:custGeom>
              <a:avLst/>
              <a:gdLst/>
              <a:ahLst/>
              <a:cxnLst/>
              <a:rect l="l" t="t" r="r" b="b"/>
              <a:pathLst>
                <a:path w="1608497" h="1385149">
                  <a:moveTo>
                    <a:pt x="16622" y="0"/>
                  </a:moveTo>
                  <a:lnTo>
                    <a:pt x="1591874" y="0"/>
                  </a:lnTo>
                  <a:cubicBezTo>
                    <a:pt x="1601055" y="0"/>
                    <a:pt x="1608497" y="7442"/>
                    <a:pt x="1608497" y="16622"/>
                  </a:cubicBezTo>
                  <a:lnTo>
                    <a:pt x="1608497" y="1368527"/>
                  </a:lnTo>
                  <a:cubicBezTo>
                    <a:pt x="1608497" y="1377707"/>
                    <a:pt x="1601055" y="1385149"/>
                    <a:pt x="1591874" y="1385149"/>
                  </a:cubicBezTo>
                  <a:lnTo>
                    <a:pt x="16622" y="1385149"/>
                  </a:lnTo>
                  <a:cubicBezTo>
                    <a:pt x="7442" y="1385149"/>
                    <a:pt x="0" y="1377707"/>
                    <a:pt x="0" y="1368527"/>
                  </a:cubicBezTo>
                  <a:lnTo>
                    <a:pt x="0" y="16622"/>
                  </a:lnTo>
                  <a:cubicBezTo>
                    <a:pt x="0" y="7442"/>
                    <a:pt x="7442" y="0"/>
                    <a:pt x="16622" y="0"/>
                  </a:cubicBezTo>
                  <a:close/>
                </a:path>
              </a:pathLst>
            </a:custGeom>
            <a:gradFill rotWithShape="1">
              <a:gsLst>
                <a:gs pos="0">
                  <a:srgbClr val="F0F3FF">
                    <a:alpha val="100000"/>
                  </a:srgbClr>
                </a:gs>
                <a:gs pos="33333">
                  <a:srgbClr val="F0F3FF">
                    <a:alpha val="100000"/>
                  </a:srgbClr>
                </a:gs>
                <a:gs pos="66667">
                  <a:srgbClr val="F0F3FF">
                    <a:alpha val="100000"/>
                  </a:srgbClr>
                </a:gs>
                <a:gs pos="100000">
                  <a:srgbClr val="C1CCF7">
                    <a:alpha val="100000"/>
                  </a:srgbClr>
                </a:gs>
              </a:gsLst>
              <a:lin ang="2700000"/>
            </a:gradFill>
            <a:ln w="19050" cap="sq">
              <a:solidFill>
                <a:srgbClr val="3D77FF"/>
              </a:solidFill>
              <a:prstDash val="solid"/>
              <a:miter/>
            </a:ln>
          </p:spPr>
        </p:sp>
        <p:sp>
          <p:nvSpPr>
            <p:cNvPr id="25" name="TextBox 11"/>
            <p:cNvSpPr txBox="1"/>
            <p:nvPr/>
          </p:nvSpPr>
          <p:spPr>
            <a:xfrm>
              <a:off x="0" y="-38100"/>
              <a:ext cx="1608497" cy="1423249"/>
            </a:xfrm>
            <a:prstGeom prst="rect">
              <a:avLst/>
            </a:prstGeom>
          </p:spPr>
          <p:txBody>
            <a:bodyPr lIns="55859" tIns="55859" rIns="55859" bIns="55859" rtlCol="0" anchor="ctr"/>
            <a:lstStyle/>
            <a:p>
              <a:pPr marL="0" lvl="0" indent="0" algn="ctr">
                <a:lnSpc>
                  <a:spcPts val="2660"/>
                </a:lnSpc>
                <a:spcBef>
                  <a:spcPct val="0"/>
                </a:spcBef>
              </a:pPr>
            </a:p>
          </p:txBody>
        </p:sp>
      </p:grpSp>
      <p:grpSp>
        <p:nvGrpSpPr>
          <p:cNvPr id="26" name="Group 12"/>
          <p:cNvGrpSpPr/>
          <p:nvPr/>
        </p:nvGrpSpPr>
        <p:grpSpPr>
          <a:xfrm rot="0">
            <a:off x="9307486" y="3895484"/>
            <a:ext cx="6054752" cy="5214020"/>
            <a:chOff x="0" y="0"/>
            <a:chExt cx="1608497" cy="1385149"/>
          </a:xfrm>
        </p:grpSpPr>
        <p:sp>
          <p:nvSpPr>
            <p:cNvPr id="27" name="Freeform 13"/>
            <p:cNvSpPr/>
            <p:nvPr/>
          </p:nvSpPr>
          <p:spPr>
            <a:xfrm>
              <a:off x="0" y="0"/>
              <a:ext cx="1608497" cy="1385149"/>
            </a:xfrm>
            <a:custGeom>
              <a:avLst/>
              <a:gdLst/>
              <a:ahLst/>
              <a:cxnLst/>
              <a:rect l="l" t="t" r="r" b="b"/>
              <a:pathLst>
                <a:path w="1608497" h="1385149">
                  <a:moveTo>
                    <a:pt x="16622" y="0"/>
                  </a:moveTo>
                  <a:lnTo>
                    <a:pt x="1591874" y="0"/>
                  </a:lnTo>
                  <a:cubicBezTo>
                    <a:pt x="1601055" y="0"/>
                    <a:pt x="1608497" y="7442"/>
                    <a:pt x="1608497" y="16622"/>
                  </a:cubicBezTo>
                  <a:lnTo>
                    <a:pt x="1608497" y="1368527"/>
                  </a:lnTo>
                  <a:cubicBezTo>
                    <a:pt x="1608497" y="1377707"/>
                    <a:pt x="1601055" y="1385149"/>
                    <a:pt x="1591874" y="1385149"/>
                  </a:cubicBezTo>
                  <a:lnTo>
                    <a:pt x="16622" y="1385149"/>
                  </a:lnTo>
                  <a:cubicBezTo>
                    <a:pt x="7442" y="1385149"/>
                    <a:pt x="0" y="1377707"/>
                    <a:pt x="0" y="1368527"/>
                  </a:cubicBezTo>
                  <a:lnTo>
                    <a:pt x="0" y="16622"/>
                  </a:lnTo>
                  <a:cubicBezTo>
                    <a:pt x="0" y="7442"/>
                    <a:pt x="7442" y="0"/>
                    <a:pt x="16622" y="0"/>
                  </a:cubicBezTo>
                  <a:close/>
                </a:path>
              </a:pathLst>
            </a:custGeom>
            <a:gradFill rotWithShape="1">
              <a:gsLst>
                <a:gs pos="0">
                  <a:srgbClr val="F0F3FF">
                    <a:alpha val="100000"/>
                  </a:srgbClr>
                </a:gs>
                <a:gs pos="33333">
                  <a:srgbClr val="F0F3FF">
                    <a:alpha val="100000"/>
                  </a:srgbClr>
                </a:gs>
                <a:gs pos="66667">
                  <a:srgbClr val="F0F3FF">
                    <a:alpha val="100000"/>
                  </a:srgbClr>
                </a:gs>
                <a:gs pos="100000">
                  <a:srgbClr val="C1CCF7">
                    <a:alpha val="100000"/>
                  </a:srgbClr>
                </a:gs>
              </a:gsLst>
              <a:lin ang="2700000"/>
            </a:gradFill>
            <a:ln w="19050" cap="sq">
              <a:solidFill>
                <a:srgbClr val="3D77FF"/>
              </a:solidFill>
              <a:prstDash val="solid"/>
              <a:miter/>
            </a:ln>
          </p:spPr>
        </p:sp>
        <p:sp>
          <p:nvSpPr>
            <p:cNvPr id="28" name="TextBox 14"/>
            <p:cNvSpPr txBox="1"/>
            <p:nvPr/>
          </p:nvSpPr>
          <p:spPr>
            <a:xfrm>
              <a:off x="0" y="-38100"/>
              <a:ext cx="1608497" cy="1423249"/>
            </a:xfrm>
            <a:prstGeom prst="rect">
              <a:avLst/>
            </a:prstGeom>
          </p:spPr>
          <p:txBody>
            <a:bodyPr lIns="55859" tIns="55859" rIns="55859" bIns="55859" rtlCol="0" anchor="ctr"/>
            <a:lstStyle/>
            <a:p>
              <a:pPr marL="0" lvl="0" indent="0" algn="ctr">
                <a:lnSpc>
                  <a:spcPts val="2660"/>
                </a:lnSpc>
                <a:spcBef>
                  <a:spcPct val="0"/>
                </a:spcBef>
              </a:pPr>
            </a:p>
          </p:txBody>
        </p:sp>
      </p:grpSp>
      <p:sp>
        <p:nvSpPr>
          <p:cNvPr id="29" name="Freeform 15"/>
          <p:cNvSpPr/>
          <p:nvPr/>
        </p:nvSpPr>
        <p:spPr>
          <a:xfrm>
            <a:off x="2096611" y="7937644"/>
            <a:ext cx="597612" cy="630876"/>
          </a:xfrm>
          <a:custGeom>
            <a:avLst/>
            <a:gdLst/>
            <a:ahLst/>
            <a:cxnLst/>
            <a:rect l="l" t="t" r="r" b="b"/>
            <a:pathLst>
              <a:path w="597612" h="630876">
                <a:moveTo>
                  <a:pt x="0" y="0"/>
                </a:moveTo>
                <a:lnTo>
                  <a:pt x="597612" y="0"/>
                </a:lnTo>
                <a:lnTo>
                  <a:pt x="597612" y="630876"/>
                </a:lnTo>
                <a:lnTo>
                  <a:pt x="0" y="630876"/>
                </a:lnTo>
                <a:lnTo>
                  <a:pt x="0" y="0"/>
                </a:lnTo>
                <a:close/>
              </a:path>
            </a:pathLst>
          </a:custGeom>
          <a:blipFill>
            <a:blip r:embed="rId4">
              <a:alphaModFix amt="64000"/>
              <a:extLst>
                <a:ext uri="{96DAC541-7B7A-43D3-8B79-37D633B846F1}">
                  <asvg:svgBlip xmlns:asvg="http://schemas.microsoft.com/office/drawing/2016/SVG/main" r:embed="rId5"/>
                </a:ext>
              </a:extLst>
            </a:blip>
            <a:stretch>
              <a:fillRect/>
            </a:stretch>
          </a:blipFill>
        </p:spPr>
      </p:sp>
      <p:sp>
        <p:nvSpPr>
          <p:cNvPr id="30" name="Freeform 16"/>
          <p:cNvSpPr/>
          <p:nvPr/>
        </p:nvSpPr>
        <p:spPr>
          <a:xfrm>
            <a:off x="15622528" y="7937644"/>
            <a:ext cx="531083" cy="630876"/>
          </a:xfrm>
          <a:custGeom>
            <a:avLst/>
            <a:gdLst/>
            <a:ahLst/>
            <a:cxnLst/>
            <a:rect l="l" t="t" r="r" b="b"/>
            <a:pathLst>
              <a:path w="531083" h="630876">
                <a:moveTo>
                  <a:pt x="0" y="0"/>
                </a:moveTo>
                <a:lnTo>
                  <a:pt x="531083" y="0"/>
                </a:lnTo>
                <a:lnTo>
                  <a:pt x="531083" y="630876"/>
                </a:lnTo>
                <a:lnTo>
                  <a:pt x="0" y="630876"/>
                </a:lnTo>
                <a:lnTo>
                  <a:pt x="0" y="0"/>
                </a:lnTo>
                <a:close/>
              </a:path>
            </a:pathLst>
          </a:custGeom>
          <a:blipFill>
            <a:blip r:embed="rId6">
              <a:alphaModFix amt="64000"/>
              <a:extLst>
                <a:ext uri="{96DAC541-7B7A-43D3-8B79-37D633B846F1}">
                  <asvg:svgBlip xmlns:asvg="http://schemas.microsoft.com/office/drawing/2016/SVG/main" r:embed="rId7"/>
                </a:ext>
              </a:extLst>
            </a:blip>
            <a:stretch>
              <a:fillRect/>
            </a:stretch>
          </a:blipFill>
          <a:ln cap="sq">
            <a:noFill/>
            <a:prstDash val="solid"/>
            <a:miter/>
          </a:ln>
        </p:spPr>
      </p:sp>
      <p:sp>
        <p:nvSpPr>
          <p:cNvPr id="31" name="AutoShape 17"/>
          <p:cNvSpPr/>
          <p:nvPr/>
        </p:nvSpPr>
        <p:spPr>
          <a:xfrm>
            <a:off x="3200887" y="4904840"/>
            <a:ext cx="5486448" cy="0"/>
          </a:xfrm>
          <a:prstGeom prst="line">
            <a:avLst/>
          </a:prstGeom>
          <a:ln w="19050" cap="rnd">
            <a:gradFill>
              <a:gsLst>
                <a:gs pos="0">
                  <a:srgbClr val="15B5FC">
                    <a:alpha val="100000"/>
                  </a:srgbClr>
                </a:gs>
                <a:gs pos="100000">
                  <a:srgbClr val="3D77FF">
                    <a:alpha val="100000"/>
                  </a:srgbClr>
                </a:gs>
              </a:gsLst>
              <a:lin ang="0"/>
            </a:gradFill>
            <a:prstDash val="solid"/>
            <a:headEnd type="none" w="sm" len="sm"/>
            <a:tailEnd type="none" w="sm" len="sm"/>
          </a:ln>
        </p:spPr>
      </p:sp>
      <p:sp>
        <p:nvSpPr>
          <p:cNvPr id="32" name="AutoShape 18"/>
          <p:cNvSpPr/>
          <p:nvPr/>
        </p:nvSpPr>
        <p:spPr>
          <a:xfrm>
            <a:off x="9591638" y="4904840"/>
            <a:ext cx="5486448" cy="0"/>
          </a:xfrm>
          <a:prstGeom prst="line">
            <a:avLst/>
          </a:prstGeom>
          <a:ln w="19050" cap="rnd">
            <a:gradFill>
              <a:gsLst>
                <a:gs pos="0">
                  <a:srgbClr val="15B5FC">
                    <a:alpha val="100000"/>
                  </a:srgbClr>
                </a:gs>
                <a:gs pos="100000">
                  <a:srgbClr val="3D77FF">
                    <a:alpha val="100000"/>
                  </a:srgbClr>
                </a:gs>
              </a:gsLst>
              <a:lin ang="0"/>
            </a:gradFill>
            <a:prstDash val="solid"/>
            <a:headEnd type="none" w="sm" len="sm"/>
            <a:tailEnd type="none" w="sm" len="sm"/>
          </a:ln>
        </p:spPr>
      </p:sp>
      <p:grpSp>
        <p:nvGrpSpPr>
          <p:cNvPr id="38" name="Group 24"/>
          <p:cNvGrpSpPr/>
          <p:nvPr/>
        </p:nvGrpSpPr>
        <p:grpSpPr>
          <a:xfrm rot="0">
            <a:off x="9591638" y="8370485"/>
            <a:ext cx="2613048" cy="431664"/>
            <a:chOff x="0" y="0"/>
            <a:chExt cx="1451466" cy="239776"/>
          </a:xfrm>
        </p:grpSpPr>
        <p:sp>
          <p:nvSpPr>
            <p:cNvPr id="39" name="Freeform 25"/>
            <p:cNvSpPr/>
            <p:nvPr/>
          </p:nvSpPr>
          <p:spPr>
            <a:xfrm>
              <a:off x="0" y="0"/>
              <a:ext cx="1451466" cy="239776"/>
            </a:xfrm>
            <a:custGeom>
              <a:avLst/>
              <a:gdLst/>
              <a:ahLst/>
              <a:cxnLst/>
              <a:rect l="l" t="t" r="r" b="b"/>
              <a:pathLst>
                <a:path w="1451466" h="239776">
                  <a:moveTo>
                    <a:pt x="119888" y="0"/>
                  </a:moveTo>
                  <a:lnTo>
                    <a:pt x="1331578" y="0"/>
                  </a:lnTo>
                  <a:cubicBezTo>
                    <a:pt x="1397791" y="0"/>
                    <a:pt x="1451466" y="53676"/>
                    <a:pt x="1451466" y="119888"/>
                  </a:cubicBezTo>
                  <a:lnTo>
                    <a:pt x="1451466" y="119888"/>
                  </a:lnTo>
                  <a:cubicBezTo>
                    <a:pt x="1451466" y="186100"/>
                    <a:pt x="1397791" y="239776"/>
                    <a:pt x="1331578" y="239776"/>
                  </a:cubicBezTo>
                  <a:lnTo>
                    <a:pt x="119888" y="239776"/>
                  </a:lnTo>
                  <a:cubicBezTo>
                    <a:pt x="53676" y="239776"/>
                    <a:pt x="0" y="186100"/>
                    <a:pt x="0" y="119888"/>
                  </a:cubicBezTo>
                  <a:lnTo>
                    <a:pt x="0" y="119888"/>
                  </a:lnTo>
                  <a:cubicBezTo>
                    <a:pt x="0" y="53676"/>
                    <a:pt x="53676" y="0"/>
                    <a:pt x="119888" y="0"/>
                  </a:cubicBezTo>
                  <a:close/>
                </a:path>
              </a:pathLst>
            </a:custGeom>
            <a:gradFill rotWithShape="1">
              <a:gsLst>
                <a:gs pos="0">
                  <a:srgbClr val="15B5FC">
                    <a:alpha val="14000"/>
                  </a:srgbClr>
                </a:gs>
                <a:gs pos="100000">
                  <a:srgbClr val="3D77FF">
                    <a:alpha val="14000"/>
                  </a:srgbClr>
                </a:gs>
              </a:gsLst>
              <a:lin ang="2700000"/>
            </a:gradFill>
          </p:spPr>
        </p:sp>
        <p:sp>
          <p:nvSpPr>
            <p:cNvPr id="40" name="TextBox 26"/>
            <p:cNvSpPr txBox="1"/>
            <p:nvPr/>
          </p:nvSpPr>
          <p:spPr>
            <a:xfrm>
              <a:off x="0" y="-28575"/>
              <a:ext cx="1451466" cy="268351"/>
            </a:xfrm>
            <a:prstGeom prst="rect">
              <a:avLst/>
            </a:prstGeom>
          </p:spPr>
          <p:txBody>
            <a:bodyPr lIns="43752" tIns="43752" rIns="43752" bIns="43752" rtlCol="0" anchor="ctr"/>
            <a:lstStyle/>
            <a:p>
              <a:pPr algn="ctr">
                <a:lnSpc>
                  <a:spcPts val="2660"/>
                </a:lnSpc>
              </a:pPr>
            </a:p>
          </p:txBody>
        </p:sp>
      </p:grpSp>
      <p:sp>
        <p:nvSpPr>
          <p:cNvPr id="41" name="TextBox 27"/>
          <p:cNvSpPr txBox="1"/>
          <p:nvPr/>
        </p:nvSpPr>
        <p:spPr>
          <a:xfrm>
            <a:off x="9803002" y="8401368"/>
            <a:ext cx="2190322" cy="324485"/>
          </a:xfrm>
          <a:prstGeom prst="rect">
            <a:avLst/>
          </a:prstGeom>
        </p:spPr>
        <p:txBody>
          <a:bodyPr lIns="0" tIns="0" rIns="0" bIns="0" rtlCol="0" anchor="t">
            <a:spAutoFit/>
          </a:bodyPr>
          <a:lstStyle/>
          <a:p>
            <a:pPr algn="ctr">
              <a:lnSpc>
                <a:spcPts val="2535"/>
              </a:lnSpc>
            </a:pPr>
            <a:r>
              <a:rPr lang="zh-CN" altLang="en-US" sz="1810">
                <a:solidFill>
                  <a:srgbClr val="3D77FF"/>
                </a:solidFill>
                <a:latin typeface="可画耀动黑-简" panose="020B0500000000000000" charset="-122"/>
                <a:ea typeface="可画耀动黑-简" panose="020B0500000000000000" charset="-122"/>
                <a:cs typeface="可画耀动黑-简" panose="020B0500000000000000" charset="-122"/>
                <a:sym typeface="可画耀动黑-简" panose="020B0500000000000000" charset="-122"/>
              </a:rPr>
              <a:t>日间模式</a:t>
            </a:r>
            <a:endParaRPr lang="zh-CN" altLang="en-US" sz="1810">
              <a:solidFill>
                <a:srgbClr val="3D77FF"/>
              </a:solidFill>
              <a:latin typeface="可画耀动黑-简" panose="020B0500000000000000" charset="-122"/>
              <a:ea typeface="可画耀动黑-简" panose="020B0500000000000000" charset="-122"/>
              <a:cs typeface="可画耀动黑-简" panose="020B0500000000000000" charset="-122"/>
              <a:sym typeface="可画耀动黑-简" panose="020B0500000000000000" charset="-122"/>
            </a:endParaRPr>
          </a:p>
        </p:txBody>
      </p:sp>
      <p:grpSp>
        <p:nvGrpSpPr>
          <p:cNvPr id="42" name="Group 28"/>
          <p:cNvGrpSpPr/>
          <p:nvPr/>
        </p:nvGrpSpPr>
        <p:grpSpPr>
          <a:xfrm rot="0">
            <a:off x="12465038" y="8370485"/>
            <a:ext cx="2613048" cy="431664"/>
            <a:chOff x="0" y="0"/>
            <a:chExt cx="1451466" cy="239776"/>
          </a:xfrm>
        </p:grpSpPr>
        <p:sp>
          <p:nvSpPr>
            <p:cNvPr id="43" name="Freeform 29"/>
            <p:cNvSpPr/>
            <p:nvPr/>
          </p:nvSpPr>
          <p:spPr>
            <a:xfrm>
              <a:off x="0" y="0"/>
              <a:ext cx="1451466" cy="239776"/>
            </a:xfrm>
            <a:custGeom>
              <a:avLst/>
              <a:gdLst/>
              <a:ahLst/>
              <a:cxnLst/>
              <a:rect l="l" t="t" r="r" b="b"/>
              <a:pathLst>
                <a:path w="1451466" h="239776">
                  <a:moveTo>
                    <a:pt x="119888" y="0"/>
                  </a:moveTo>
                  <a:lnTo>
                    <a:pt x="1331578" y="0"/>
                  </a:lnTo>
                  <a:cubicBezTo>
                    <a:pt x="1397791" y="0"/>
                    <a:pt x="1451466" y="53676"/>
                    <a:pt x="1451466" y="119888"/>
                  </a:cubicBezTo>
                  <a:lnTo>
                    <a:pt x="1451466" y="119888"/>
                  </a:lnTo>
                  <a:cubicBezTo>
                    <a:pt x="1451466" y="186100"/>
                    <a:pt x="1397791" y="239776"/>
                    <a:pt x="1331578" y="239776"/>
                  </a:cubicBezTo>
                  <a:lnTo>
                    <a:pt x="119888" y="239776"/>
                  </a:lnTo>
                  <a:cubicBezTo>
                    <a:pt x="53676" y="239776"/>
                    <a:pt x="0" y="186100"/>
                    <a:pt x="0" y="119888"/>
                  </a:cubicBezTo>
                  <a:lnTo>
                    <a:pt x="0" y="119888"/>
                  </a:lnTo>
                  <a:cubicBezTo>
                    <a:pt x="0" y="53676"/>
                    <a:pt x="53676" y="0"/>
                    <a:pt x="119888" y="0"/>
                  </a:cubicBezTo>
                  <a:close/>
                </a:path>
              </a:pathLst>
            </a:custGeom>
            <a:gradFill rotWithShape="1">
              <a:gsLst>
                <a:gs pos="0">
                  <a:srgbClr val="15B5FC">
                    <a:alpha val="14000"/>
                  </a:srgbClr>
                </a:gs>
                <a:gs pos="100000">
                  <a:srgbClr val="3D77FF">
                    <a:alpha val="14000"/>
                  </a:srgbClr>
                </a:gs>
              </a:gsLst>
              <a:lin ang="2700000"/>
            </a:gradFill>
          </p:spPr>
        </p:sp>
        <p:sp>
          <p:nvSpPr>
            <p:cNvPr id="44" name="TextBox 30"/>
            <p:cNvSpPr txBox="1"/>
            <p:nvPr/>
          </p:nvSpPr>
          <p:spPr>
            <a:xfrm>
              <a:off x="0" y="-28575"/>
              <a:ext cx="1451466" cy="268351"/>
            </a:xfrm>
            <a:prstGeom prst="rect">
              <a:avLst/>
            </a:prstGeom>
          </p:spPr>
          <p:txBody>
            <a:bodyPr lIns="43752" tIns="43752" rIns="43752" bIns="43752" rtlCol="0" anchor="ctr"/>
            <a:lstStyle/>
            <a:p>
              <a:pPr algn="ctr">
                <a:lnSpc>
                  <a:spcPts val="2660"/>
                </a:lnSpc>
              </a:pPr>
            </a:p>
          </p:txBody>
        </p:sp>
      </p:grpSp>
      <p:sp>
        <p:nvSpPr>
          <p:cNvPr id="45" name="TextBox 31"/>
          <p:cNvSpPr txBox="1"/>
          <p:nvPr/>
        </p:nvSpPr>
        <p:spPr>
          <a:xfrm>
            <a:off x="12676401" y="8401368"/>
            <a:ext cx="2190322" cy="324485"/>
          </a:xfrm>
          <a:prstGeom prst="rect">
            <a:avLst/>
          </a:prstGeom>
        </p:spPr>
        <p:txBody>
          <a:bodyPr lIns="0" tIns="0" rIns="0" bIns="0" rtlCol="0" anchor="t">
            <a:spAutoFit/>
          </a:bodyPr>
          <a:lstStyle/>
          <a:p>
            <a:pPr algn="ctr">
              <a:lnSpc>
                <a:spcPts val="2535"/>
              </a:lnSpc>
            </a:pPr>
            <a:r>
              <a:rPr lang="zh-CN" altLang="en-US" sz="1810">
                <a:solidFill>
                  <a:srgbClr val="3D77FF"/>
                </a:solidFill>
                <a:latin typeface="可画耀动黑-简" panose="020B0500000000000000" charset="-122"/>
                <a:ea typeface="可画耀动黑-简" panose="020B0500000000000000" charset="-122"/>
                <a:cs typeface="可画耀动黑-简" panose="020B0500000000000000" charset="-122"/>
                <a:sym typeface="可画耀动黑-简" panose="020B0500000000000000" charset="-122"/>
              </a:rPr>
              <a:t>夜间模式</a:t>
            </a:r>
            <a:endParaRPr lang="zh-CN" altLang="en-US" sz="1810">
              <a:solidFill>
                <a:srgbClr val="3D77FF"/>
              </a:solidFill>
              <a:latin typeface="可画耀动黑-简" panose="020B0500000000000000" charset="-122"/>
              <a:ea typeface="可画耀动黑-简" panose="020B0500000000000000" charset="-122"/>
              <a:cs typeface="可画耀动黑-简" panose="020B0500000000000000" charset="-122"/>
              <a:sym typeface="可画耀动黑-简" panose="020B0500000000000000" charset="-122"/>
            </a:endParaRPr>
          </a:p>
        </p:txBody>
      </p:sp>
      <p:sp>
        <p:nvSpPr>
          <p:cNvPr id="46" name="TextBox 32"/>
          <p:cNvSpPr txBox="1"/>
          <p:nvPr/>
        </p:nvSpPr>
        <p:spPr>
          <a:xfrm>
            <a:off x="5441315" y="1737995"/>
            <a:ext cx="7987030" cy="684530"/>
          </a:xfrm>
          <a:prstGeom prst="rect">
            <a:avLst/>
          </a:prstGeom>
        </p:spPr>
        <p:txBody>
          <a:bodyPr wrap="square" lIns="0" tIns="0" rIns="0" bIns="0" rtlCol="0" anchor="t">
            <a:spAutoFit/>
          </a:bodyPr>
          <a:lstStyle/>
          <a:p>
            <a:pPr algn="ctr">
              <a:lnSpc>
                <a:spcPts val="5340"/>
              </a:lnSpc>
            </a:pPr>
            <a:r>
              <a:rPr lang="zh-CN" altLang="en-US" sz="3815" b="1">
                <a:solidFill>
                  <a:srgbClr val="3D77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rPr>
              <a:t>个性化自定义设计，日夜间模式</a:t>
            </a:r>
            <a:endParaRPr lang="zh-CN" altLang="en-US" sz="3815" b="1">
              <a:solidFill>
                <a:srgbClr val="3D77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endParaRPr>
          </a:p>
        </p:txBody>
      </p:sp>
      <p:sp>
        <p:nvSpPr>
          <p:cNvPr id="47" name="TextBox 33"/>
          <p:cNvSpPr txBox="1"/>
          <p:nvPr/>
        </p:nvSpPr>
        <p:spPr>
          <a:xfrm>
            <a:off x="2287982" y="2743249"/>
            <a:ext cx="13703008" cy="969010"/>
          </a:xfrm>
          <a:prstGeom prst="rect">
            <a:avLst/>
          </a:prstGeom>
        </p:spPr>
        <p:txBody>
          <a:bodyPr lIns="0" tIns="0" rIns="0" bIns="0" rtlCol="0" anchor="t">
            <a:spAutoFit/>
          </a:bodyPr>
          <a:lstStyle/>
          <a:p>
            <a:pPr algn="ctr">
              <a:lnSpc>
                <a:spcPts val="2520"/>
              </a:lnSpc>
            </a:pPr>
            <a:r>
              <a:rPr lang="zh-CN" altLang="en-US" sz="1800">
                <a:solidFill>
                  <a:srgbClr val="737373"/>
                </a:solidFill>
                <a:latin typeface="微软雅黑" panose="020B0503020204020204" charset="-122"/>
                <a:ea typeface="微软雅黑" panose="020B0503020204020204" charset="-122"/>
                <a:cs typeface="微软雅黑" panose="020B0503020204020204" charset="-122"/>
                <a:sym typeface="思源黑体" panose="020B0500000000000000" charset="-122"/>
              </a:rPr>
              <a:t>系统的日夜间模式并非简单的</a:t>
            </a:r>
            <a:r>
              <a:rPr lang="en-US" altLang="zh-CN" sz="1800">
                <a:solidFill>
                  <a:srgbClr val="737373"/>
                </a:solidFill>
                <a:latin typeface="微软雅黑" panose="020B0503020204020204" charset="-122"/>
                <a:ea typeface="微软雅黑" panose="020B0503020204020204" charset="-122"/>
                <a:cs typeface="微软雅黑" panose="020B0503020204020204" charset="-122"/>
                <a:sym typeface="思源黑体" panose="020B0500000000000000" charset="-122"/>
              </a:rPr>
              <a:t> CSS </a:t>
            </a:r>
            <a:r>
              <a:rPr lang="zh-CN" altLang="en-US" sz="1800">
                <a:solidFill>
                  <a:srgbClr val="737373"/>
                </a:solidFill>
                <a:latin typeface="微软雅黑" panose="020B0503020204020204" charset="-122"/>
                <a:ea typeface="微软雅黑" panose="020B0503020204020204" charset="-122"/>
                <a:cs typeface="微软雅黑" panose="020B0503020204020204" charset="-122"/>
                <a:sym typeface="思源黑体" panose="020B0500000000000000" charset="-122"/>
              </a:rPr>
              <a:t>样式替换，而是基于底层动态变量表重构的主题渲染引擎。</a:t>
            </a:r>
            <a:endParaRPr lang="zh-CN" altLang="en-US" sz="1800">
              <a:solidFill>
                <a:srgbClr val="737373"/>
              </a:solidFill>
              <a:latin typeface="微软雅黑" panose="020B0503020204020204" charset="-122"/>
              <a:ea typeface="微软雅黑" panose="020B0503020204020204" charset="-122"/>
              <a:cs typeface="微软雅黑" panose="020B0503020204020204" charset="-122"/>
              <a:sym typeface="思源黑体" panose="020B0500000000000000" charset="-122"/>
            </a:endParaRPr>
          </a:p>
          <a:p>
            <a:pPr algn="ctr">
              <a:lnSpc>
                <a:spcPts val="2520"/>
              </a:lnSpc>
            </a:pPr>
            <a:r>
              <a:rPr lang="zh-CN" altLang="en-US" sz="1800">
                <a:solidFill>
                  <a:srgbClr val="737373"/>
                </a:solidFill>
                <a:latin typeface="微软雅黑" panose="020B0503020204020204" charset="-122"/>
                <a:ea typeface="微软雅黑" panose="020B0503020204020204" charset="-122"/>
                <a:cs typeface="微软雅黑" panose="020B0503020204020204" charset="-122"/>
                <a:sym typeface="思源黑体" panose="020B0500000000000000" charset="-122"/>
              </a:rPr>
              <a:t>用户不仅可以在明暗模式间无缝切换以适应光线，还可以通过内置的色彩选择器与透明度滑块，实时自定义界面主色调及毛玻璃容器的外发光效果。这为每位使用者提供了高度自由的视觉配置空间</a:t>
            </a:r>
            <a:endParaRPr lang="zh-CN" altLang="en-US" sz="1800">
              <a:solidFill>
                <a:srgbClr val="737373"/>
              </a:solidFill>
              <a:latin typeface="微软雅黑" panose="020B0503020204020204" charset="-122"/>
              <a:ea typeface="微软雅黑" panose="020B0503020204020204" charset="-122"/>
              <a:cs typeface="微软雅黑" panose="020B0503020204020204" charset="-122"/>
              <a:sym typeface="思源黑体" panose="020B0500000000000000" charset="-122"/>
            </a:endParaRPr>
          </a:p>
        </p:txBody>
      </p:sp>
      <p:sp>
        <p:nvSpPr>
          <p:cNvPr id="48" name="TextBox 34"/>
          <p:cNvSpPr txBox="1"/>
          <p:nvPr/>
        </p:nvSpPr>
        <p:spPr>
          <a:xfrm>
            <a:off x="1981235" y="4350744"/>
            <a:ext cx="828365" cy="664970"/>
          </a:xfrm>
          <a:prstGeom prst="rect">
            <a:avLst/>
          </a:prstGeom>
        </p:spPr>
        <p:txBody>
          <a:bodyPr lIns="0" tIns="0" rIns="0" bIns="0" rtlCol="0" anchor="t">
            <a:spAutoFit/>
          </a:bodyPr>
          <a:lstStyle/>
          <a:p>
            <a:pPr algn="ctr">
              <a:lnSpc>
                <a:spcPts val="5340"/>
              </a:lnSpc>
            </a:pPr>
            <a:r>
              <a:rPr lang="en-US" sz="3815">
                <a:solidFill>
                  <a:srgbClr val="FFFFFF"/>
                </a:solidFill>
                <a:latin typeface="可画耀动黑-简" panose="020B0500000000000000" charset="-122"/>
                <a:ea typeface="可画耀动黑-简" panose="020B0500000000000000" charset="-122"/>
                <a:cs typeface="可画耀动黑-简" panose="020B0500000000000000" charset="-122"/>
                <a:sym typeface="可画耀动黑-简" panose="020B0500000000000000" charset="-122"/>
              </a:rPr>
              <a:t>01</a:t>
            </a:r>
            <a:endParaRPr lang="en-US" sz="3815">
              <a:solidFill>
                <a:srgbClr val="FFFFFF"/>
              </a:solidFill>
              <a:latin typeface="可画耀动黑-简" panose="020B0500000000000000" charset="-122"/>
              <a:ea typeface="可画耀动黑-简" panose="020B0500000000000000" charset="-122"/>
              <a:cs typeface="可画耀动黑-简" panose="020B0500000000000000" charset="-122"/>
              <a:sym typeface="可画耀动黑-简" panose="020B0500000000000000" charset="-122"/>
            </a:endParaRPr>
          </a:p>
        </p:txBody>
      </p:sp>
      <p:sp>
        <p:nvSpPr>
          <p:cNvPr id="49" name="TextBox 35"/>
          <p:cNvSpPr txBox="1"/>
          <p:nvPr/>
        </p:nvSpPr>
        <p:spPr>
          <a:xfrm>
            <a:off x="15473887" y="4350744"/>
            <a:ext cx="828365" cy="664970"/>
          </a:xfrm>
          <a:prstGeom prst="rect">
            <a:avLst/>
          </a:prstGeom>
        </p:spPr>
        <p:txBody>
          <a:bodyPr lIns="0" tIns="0" rIns="0" bIns="0" rtlCol="0" anchor="t">
            <a:spAutoFit/>
          </a:bodyPr>
          <a:lstStyle/>
          <a:p>
            <a:pPr algn="ctr">
              <a:lnSpc>
                <a:spcPts val="5340"/>
              </a:lnSpc>
            </a:pPr>
            <a:r>
              <a:rPr lang="en-US" sz="3815">
                <a:solidFill>
                  <a:srgbClr val="FFFFFF"/>
                </a:solidFill>
                <a:latin typeface="可画耀动黑-简" panose="020B0500000000000000" charset="-122"/>
                <a:ea typeface="可画耀动黑-简" panose="020B0500000000000000" charset="-122"/>
                <a:cs typeface="可画耀动黑-简" panose="020B0500000000000000" charset="-122"/>
                <a:sym typeface="可画耀动黑-简" panose="020B0500000000000000" charset="-122"/>
              </a:rPr>
              <a:t>02</a:t>
            </a:r>
            <a:endParaRPr lang="en-US" sz="3815">
              <a:solidFill>
                <a:srgbClr val="FFFFFF"/>
              </a:solidFill>
              <a:latin typeface="可画耀动黑-简" panose="020B0500000000000000" charset="-122"/>
              <a:ea typeface="可画耀动黑-简" panose="020B0500000000000000" charset="-122"/>
              <a:cs typeface="可画耀动黑-简" panose="020B0500000000000000" charset="-122"/>
              <a:sym typeface="可画耀动黑-简" panose="020B0500000000000000" charset="-122"/>
            </a:endParaRPr>
          </a:p>
        </p:txBody>
      </p:sp>
      <p:sp>
        <p:nvSpPr>
          <p:cNvPr id="50" name="TextBox 36"/>
          <p:cNvSpPr txBox="1"/>
          <p:nvPr/>
        </p:nvSpPr>
        <p:spPr>
          <a:xfrm>
            <a:off x="3200887" y="4126641"/>
            <a:ext cx="4846548" cy="645795"/>
          </a:xfrm>
          <a:prstGeom prst="rect">
            <a:avLst/>
          </a:prstGeom>
        </p:spPr>
        <p:txBody>
          <a:bodyPr lIns="0" tIns="0" rIns="0" bIns="0" rtlCol="0" anchor="t">
            <a:spAutoFit/>
          </a:bodyPr>
          <a:lstStyle/>
          <a:p>
            <a:pPr algn="l">
              <a:lnSpc>
                <a:spcPts val="5040"/>
              </a:lnSpc>
            </a:pPr>
            <a:r>
              <a:rPr lang="zh-CN" altLang="en-US" sz="3600">
                <a:solidFill>
                  <a:srgbClr val="3D77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rPr>
              <a:t>丰富的自定义选项</a:t>
            </a:r>
            <a:endParaRPr lang="zh-CN" altLang="en-US" sz="3600">
              <a:solidFill>
                <a:srgbClr val="3D77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endParaRPr>
          </a:p>
        </p:txBody>
      </p:sp>
      <p:sp>
        <p:nvSpPr>
          <p:cNvPr id="51" name="TextBox 37"/>
          <p:cNvSpPr txBox="1"/>
          <p:nvPr/>
        </p:nvSpPr>
        <p:spPr>
          <a:xfrm>
            <a:off x="3200887" y="4990093"/>
            <a:ext cx="5486448" cy="645795"/>
          </a:xfrm>
          <a:prstGeom prst="rect">
            <a:avLst/>
          </a:prstGeom>
        </p:spPr>
        <p:txBody>
          <a:bodyPr lIns="0" tIns="0" rIns="0" bIns="0" rtlCol="0" anchor="t">
            <a:spAutoFit/>
          </a:bodyPr>
          <a:lstStyle/>
          <a:p>
            <a:pPr algn="l">
              <a:lnSpc>
                <a:spcPts val="2520"/>
              </a:lnSpc>
            </a:pPr>
            <a:r>
              <a:rPr lang="zh-CN" altLang="en-US" sz="1800">
                <a:solidFill>
                  <a:srgbClr val="737373"/>
                </a:solidFill>
                <a:latin typeface="微软雅黑" panose="020B0503020204020204" charset="-122"/>
                <a:ea typeface="微软雅黑" panose="020B0503020204020204" charset="-122"/>
                <a:cs typeface="思源黑体" panose="020B0500000000000000" charset="-122"/>
                <a:sym typeface="思源黑体" panose="020B0500000000000000" charset="-122"/>
              </a:rPr>
              <a:t>在设置界面可以设置自己喜欢的背景图，调节窗口的透明度和颜色，搭配用户自己喜欢的工作空间。</a:t>
            </a:r>
            <a:endParaRPr lang="zh-CN" altLang="en-US" sz="1800">
              <a:solidFill>
                <a:srgbClr val="737373"/>
              </a:solidFill>
              <a:latin typeface="微软雅黑" panose="020B0503020204020204" charset="-122"/>
              <a:ea typeface="微软雅黑" panose="020B0503020204020204" charset="-122"/>
              <a:cs typeface="思源黑体" panose="020B0500000000000000" charset="-122"/>
              <a:sym typeface="思源黑体" panose="020B0500000000000000" charset="-122"/>
            </a:endParaRPr>
          </a:p>
        </p:txBody>
      </p:sp>
      <p:sp>
        <p:nvSpPr>
          <p:cNvPr id="52" name="TextBox 38"/>
          <p:cNvSpPr txBox="1"/>
          <p:nvPr/>
        </p:nvSpPr>
        <p:spPr>
          <a:xfrm>
            <a:off x="10231538" y="4126641"/>
            <a:ext cx="4846548" cy="645795"/>
          </a:xfrm>
          <a:prstGeom prst="rect">
            <a:avLst/>
          </a:prstGeom>
        </p:spPr>
        <p:txBody>
          <a:bodyPr lIns="0" tIns="0" rIns="0" bIns="0" rtlCol="0" anchor="t">
            <a:spAutoFit/>
          </a:bodyPr>
          <a:lstStyle/>
          <a:p>
            <a:pPr algn="r">
              <a:lnSpc>
                <a:spcPts val="5040"/>
              </a:lnSpc>
            </a:pPr>
            <a:r>
              <a:rPr lang="zh-CN" altLang="en-US" sz="3600">
                <a:solidFill>
                  <a:srgbClr val="3D77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rPr>
              <a:t>日夜间模式</a:t>
            </a:r>
            <a:endParaRPr lang="zh-CN" altLang="en-US" sz="3600">
              <a:solidFill>
                <a:srgbClr val="3D77FF"/>
              </a:solidFill>
              <a:latin typeface="微软雅黑" panose="020B0503020204020204" charset="-122"/>
              <a:ea typeface="微软雅黑" panose="020B0503020204020204" charset="-122"/>
              <a:cs typeface="可画耀动黑-简" panose="020B0500000000000000" charset="-122"/>
              <a:sym typeface="可画耀动黑-简" panose="020B0500000000000000" charset="-122"/>
            </a:endParaRPr>
          </a:p>
        </p:txBody>
      </p:sp>
      <p:pic>
        <p:nvPicPr>
          <p:cNvPr id="3" name="图片 2"/>
          <p:cNvPicPr>
            <a:picLocks noChangeAspect="1"/>
          </p:cNvPicPr>
          <p:nvPr/>
        </p:nvPicPr>
        <p:blipFill>
          <a:blip r:embed="rId8"/>
          <a:stretch>
            <a:fillRect/>
          </a:stretch>
        </p:blipFill>
        <p:spPr>
          <a:xfrm>
            <a:off x="9883775" y="4991100"/>
            <a:ext cx="1704975" cy="878840"/>
          </a:xfrm>
          <a:prstGeom prst="rect">
            <a:avLst/>
          </a:prstGeom>
        </p:spPr>
      </p:pic>
      <p:pic>
        <p:nvPicPr>
          <p:cNvPr id="4" name="图片 3"/>
          <p:cNvPicPr>
            <a:picLocks noChangeAspect="1"/>
          </p:cNvPicPr>
          <p:nvPr/>
        </p:nvPicPr>
        <p:blipFill>
          <a:blip r:embed="rId9"/>
          <a:stretch>
            <a:fillRect/>
          </a:stretch>
        </p:blipFill>
        <p:spPr>
          <a:xfrm>
            <a:off x="12954000" y="5032375"/>
            <a:ext cx="1609725" cy="805180"/>
          </a:xfrm>
          <a:prstGeom prst="rect">
            <a:avLst/>
          </a:prstGeom>
        </p:spPr>
      </p:pic>
      <p:pic>
        <p:nvPicPr>
          <p:cNvPr id="5" name="图片 4"/>
          <p:cNvPicPr>
            <a:picLocks noChangeAspect="1"/>
          </p:cNvPicPr>
          <p:nvPr/>
        </p:nvPicPr>
        <p:blipFill>
          <a:blip r:embed="rId10"/>
          <a:stretch>
            <a:fillRect/>
          </a:stretch>
        </p:blipFill>
        <p:spPr>
          <a:xfrm>
            <a:off x="9373235" y="6286500"/>
            <a:ext cx="2981960" cy="1803400"/>
          </a:xfrm>
          <a:prstGeom prst="rect">
            <a:avLst/>
          </a:prstGeom>
        </p:spPr>
      </p:pic>
      <p:pic>
        <p:nvPicPr>
          <p:cNvPr id="6" name="图片 5"/>
          <p:cNvPicPr>
            <a:picLocks noChangeAspect="1"/>
          </p:cNvPicPr>
          <p:nvPr/>
        </p:nvPicPr>
        <p:blipFill>
          <a:blip r:embed="rId11"/>
          <a:stretch>
            <a:fillRect/>
          </a:stretch>
        </p:blipFill>
        <p:spPr>
          <a:xfrm>
            <a:off x="12386945" y="6283325"/>
            <a:ext cx="2943225" cy="1774825"/>
          </a:xfrm>
          <a:prstGeom prst="rect">
            <a:avLst/>
          </a:prstGeom>
        </p:spPr>
      </p:pic>
      <p:pic>
        <p:nvPicPr>
          <p:cNvPr id="12" name="图片 11"/>
          <p:cNvPicPr>
            <a:picLocks noChangeAspect="1"/>
          </p:cNvPicPr>
          <p:nvPr/>
        </p:nvPicPr>
        <p:blipFill>
          <a:blip r:embed="rId12"/>
          <a:stretch>
            <a:fillRect/>
          </a:stretch>
        </p:blipFill>
        <p:spPr>
          <a:xfrm>
            <a:off x="4267200" y="5681345"/>
            <a:ext cx="3208020" cy="329692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flipH="1">
            <a:off x="0" y="0"/>
            <a:ext cx="18288000" cy="10287000"/>
          </a:xfrm>
          <a:custGeom>
            <a:avLst/>
            <a:gdLst/>
            <a:ahLst/>
            <a:cxnLst/>
            <a:rect l="l" t="t" r="r" b="b"/>
            <a:pathLst>
              <a:path w="18288000" h="10287000">
                <a:moveTo>
                  <a:pt x="18288000" y="0"/>
                </a:moveTo>
                <a:lnTo>
                  <a:pt x="0" y="0"/>
                </a:lnTo>
                <a:lnTo>
                  <a:pt x="0" y="10287000"/>
                </a:lnTo>
                <a:lnTo>
                  <a:pt x="18288000" y="10287000"/>
                </a:lnTo>
                <a:lnTo>
                  <a:pt x="18288000" y="0"/>
                </a:lnTo>
                <a:close/>
              </a:path>
            </a:pathLst>
          </a:custGeom>
          <a:blipFill>
            <a:blip r:embed="rId1"/>
            <a:stretch>
              <a:fillRect t="-24660" r="-76083" b="-83900"/>
            </a:stretch>
          </a:blipFill>
        </p:spPr>
      </p:sp>
      <p:sp>
        <p:nvSpPr>
          <p:cNvPr id="3" name="Freeform 3"/>
          <p:cNvSpPr/>
          <p:nvPr/>
        </p:nvSpPr>
        <p:spPr>
          <a:xfrm rot="-1779464" flipH="1" flipV="1">
            <a:off x="14093795" y="6832486"/>
            <a:ext cx="10494451" cy="5278363"/>
          </a:xfrm>
          <a:custGeom>
            <a:avLst/>
            <a:gdLst/>
            <a:ahLst/>
            <a:cxnLst/>
            <a:rect l="l" t="t" r="r" b="b"/>
            <a:pathLst>
              <a:path w="10494451" h="5278363">
                <a:moveTo>
                  <a:pt x="10494451" y="5278363"/>
                </a:moveTo>
                <a:lnTo>
                  <a:pt x="0" y="5278363"/>
                </a:lnTo>
                <a:lnTo>
                  <a:pt x="0" y="0"/>
                </a:lnTo>
                <a:lnTo>
                  <a:pt x="10494451" y="0"/>
                </a:lnTo>
                <a:lnTo>
                  <a:pt x="10494451" y="5278363"/>
                </a:lnTo>
                <a:close/>
              </a:path>
            </a:pathLst>
          </a:custGeom>
          <a:blipFill>
            <a:blip r:embed="rId2">
              <a:alphaModFix amt="94000"/>
            </a:blip>
            <a:stretch>
              <a:fillRect l="-2401" r="-16997"/>
            </a:stretch>
          </a:blipFill>
        </p:spPr>
      </p:sp>
      <p:sp>
        <p:nvSpPr>
          <p:cNvPr id="4" name="Freeform 4"/>
          <p:cNvSpPr/>
          <p:nvPr/>
        </p:nvSpPr>
        <p:spPr>
          <a:xfrm rot="10060989">
            <a:off x="-6126808" y="-3194497"/>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13000"/>
            </a:blip>
            <a:stretch>
              <a:fillRect/>
            </a:stretch>
          </a:blipFill>
          <a:ln cap="sq">
            <a:noFill/>
            <a:prstDash val="solid"/>
            <a:miter/>
          </a:ln>
        </p:spPr>
      </p:sp>
      <p:sp>
        <p:nvSpPr>
          <p:cNvPr id="5" name="TextBox 5"/>
          <p:cNvSpPr txBox="1"/>
          <p:nvPr/>
        </p:nvSpPr>
        <p:spPr>
          <a:xfrm>
            <a:off x="1028700" y="457200"/>
            <a:ext cx="4776601" cy="1076960"/>
          </a:xfrm>
          <a:prstGeom prst="rect">
            <a:avLst/>
          </a:prstGeom>
        </p:spPr>
        <p:txBody>
          <a:bodyPr lIns="0" tIns="0" rIns="0" bIns="0" rtlCol="0" anchor="t">
            <a:spAutoFit/>
          </a:bodyPr>
          <a:lstStyle/>
          <a:p>
            <a:pPr algn="l">
              <a:lnSpc>
                <a:spcPts val="8400"/>
              </a:lnSpc>
            </a:pPr>
            <a:r>
              <a:rPr 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03.</a:t>
            </a:r>
            <a:r>
              <a:rPr lang="zh-CN" alt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部署实现</a:t>
            </a:r>
            <a:endParaRPr lang="zh-CN" altLang="en-US" sz="6000" b="1" spc="300">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6" name="TextBox 6"/>
          <p:cNvSpPr txBox="1"/>
          <p:nvPr/>
        </p:nvSpPr>
        <p:spPr>
          <a:xfrm>
            <a:off x="13753946" y="872490"/>
            <a:ext cx="3505354" cy="645795"/>
          </a:xfrm>
          <a:prstGeom prst="rect">
            <a:avLst/>
          </a:prstGeom>
        </p:spPr>
        <p:txBody>
          <a:bodyPr lIns="0" tIns="0" rIns="0" bIns="0" rtlCol="0" anchor="t">
            <a:spAutoFit/>
          </a:bodyPr>
          <a:lstStyle/>
          <a:p>
            <a:pPr algn="r">
              <a:lnSpc>
                <a:spcPts val="5040"/>
              </a:lnSpc>
            </a:pPr>
            <a:r>
              <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rPr>
              <a:t>PART THREE</a:t>
            </a:r>
            <a:endParaRPr lang="en-US" sz="3600" spc="179">
              <a:solidFill>
                <a:srgbClr val="3B64C9">
                  <a:alpha val="18824"/>
                </a:srgbClr>
              </a:solidFill>
              <a:latin typeface="Abril Fatface" panose="02000503000000020003"/>
              <a:ea typeface="Abril Fatface" panose="02000503000000020003"/>
              <a:cs typeface="Abril Fatface" panose="02000503000000020003"/>
              <a:sym typeface="Abril Fatface" panose="02000503000000020003"/>
            </a:endParaRPr>
          </a:p>
        </p:txBody>
      </p:sp>
      <p:grpSp>
        <p:nvGrpSpPr>
          <p:cNvPr id="7" name="Group 7"/>
          <p:cNvGrpSpPr/>
          <p:nvPr/>
        </p:nvGrpSpPr>
        <p:grpSpPr>
          <a:xfrm rot="0">
            <a:off x="2000954" y="2805513"/>
            <a:ext cx="9040927" cy="3022901"/>
            <a:chOff x="0" y="0"/>
            <a:chExt cx="12054570" cy="4030534"/>
          </a:xfrm>
        </p:grpSpPr>
        <p:pic>
          <p:nvPicPr>
            <p:cNvPr id="8" name="Picture 8"/>
            <p:cNvPicPr>
              <a:picLocks noChangeAspect="1"/>
            </p:cNvPicPr>
            <p:nvPr/>
          </p:nvPicPr>
          <p:blipFill>
            <a:blip r:embed="rId4"/>
            <a:srcRect t="40558"/>
            <a:stretch>
              <a:fillRect/>
            </a:stretch>
          </p:blipFill>
          <p:spPr>
            <a:xfrm>
              <a:off x="0" y="0"/>
              <a:ext cx="12054570" cy="4030534"/>
            </a:xfrm>
            <a:prstGeom prst="rect">
              <a:avLst/>
            </a:prstGeom>
          </p:spPr>
        </p:pic>
      </p:grpSp>
      <p:grpSp>
        <p:nvGrpSpPr>
          <p:cNvPr id="9" name="Group 9"/>
          <p:cNvGrpSpPr/>
          <p:nvPr/>
        </p:nvGrpSpPr>
        <p:grpSpPr>
          <a:xfrm rot="0">
            <a:off x="11041881" y="2805513"/>
            <a:ext cx="5245165" cy="3022901"/>
            <a:chOff x="0" y="0"/>
            <a:chExt cx="6993553" cy="4030534"/>
          </a:xfrm>
        </p:grpSpPr>
        <p:sp>
          <p:nvSpPr>
            <p:cNvPr id="10" name="AutoShape 10"/>
            <p:cNvSpPr/>
            <p:nvPr/>
          </p:nvSpPr>
          <p:spPr>
            <a:xfrm>
              <a:off x="0" y="0"/>
              <a:ext cx="6993553" cy="4030534"/>
            </a:xfrm>
            <a:prstGeom prst="rect">
              <a:avLst/>
            </a:prstGeom>
            <a:solidFill>
              <a:srgbClr val="3B64C9"/>
            </a:solidFill>
          </p:spPr>
        </p:sp>
      </p:grpSp>
      <p:sp>
        <p:nvSpPr>
          <p:cNvPr id="11" name="TextBox 11"/>
          <p:cNvSpPr txBox="1"/>
          <p:nvPr/>
        </p:nvSpPr>
        <p:spPr>
          <a:xfrm>
            <a:off x="11583789" y="3085996"/>
            <a:ext cx="4161348" cy="645795"/>
          </a:xfrm>
          <a:prstGeom prst="rect">
            <a:avLst/>
          </a:prstGeom>
        </p:spPr>
        <p:txBody>
          <a:bodyPr lIns="0" tIns="0" rIns="0" bIns="0" rtlCol="0" anchor="t">
            <a:spAutoFit/>
          </a:bodyPr>
          <a:lstStyle/>
          <a:p>
            <a:pPr algn="l">
              <a:lnSpc>
                <a:spcPts val="5040"/>
              </a:lnSpc>
            </a:pPr>
            <a:r>
              <a:rPr lang="zh-CN" altLang="en-US" sz="3600" spc="179">
                <a:solidFill>
                  <a:srgbClr val="FFFFFF"/>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双轨部署</a:t>
            </a:r>
            <a:endParaRPr lang="zh-CN" altLang="en-US" sz="3600" spc="179">
              <a:solidFill>
                <a:srgbClr val="FFFFFF"/>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12" name="TextBox 12"/>
          <p:cNvSpPr txBox="1"/>
          <p:nvPr/>
        </p:nvSpPr>
        <p:spPr>
          <a:xfrm>
            <a:off x="11588750" y="3848100"/>
            <a:ext cx="4391025" cy="1477645"/>
          </a:xfrm>
          <a:prstGeom prst="rect">
            <a:avLst/>
          </a:prstGeom>
        </p:spPr>
        <p:txBody>
          <a:bodyPr lIns="0" tIns="0" rIns="0" bIns="0" rtlCol="0" anchor="t">
            <a:noAutofit/>
          </a:bodyPr>
          <a:lstStyle/>
          <a:p>
            <a:pPr algn="l">
              <a:lnSpc>
                <a:spcPts val="3080"/>
              </a:lnSpc>
            </a:pPr>
            <a:r>
              <a:rPr lang="zh-CN" altLang="en-US" sz="1800">
                <a:solidFill>
                  <a:srgbClr val="FFFFFF"/>
                </a:solidFill>
                <a:latin typeface="微软雅黑" panose="020B0503020204020204" charset="-122"/>
                <a:ea typeface="微软雅黑" panose="020B0503020204020204" charset="-122"/>
                <a:cs typeface="思源宋体" panose="02020400000000000000" charset="-122"/>
                <a:sym typeface="思源宋体" panose="02020400000000000000" charset="-122"/>
              </a:rPr>
              <a:t>系统兼顾了个人隐私安全与团队协同办公。既提供断网即用的本地一键式轻量运行方案，也支持云端的全量化部署，打破硬件壁垒，灵活适配各种数据处理场景。</a:t>
            </a:r>
            <a:endParaRPr lang="zh-CN" altLang="en-US" sz="1800">
              <a:solidFill>
                <a:srgbClr val="FFFFFF"/>
              </a:solidFill>
              <a:latin typeface="微软雅黑" panose="020B0503020204020204" charset="-122"/>
              <a:ea typeface="微软雅黑" panose="020B0503020204020204" charset="-122"/>
              <a:cs typeface="思源宋体" panose="02020400000000000000" charset="-122"/>
              <a:sym typeface="思源宋体" panose="02020400000000000000" charset="-122"/>
            </a:endParaRPr>
          </a:p>
        </p:txBody>
      </p:sp>
      <p:sp>
        <p:nvSpPr>
          <p:cNvPr id="13" name="TextBox 13"/>
          <p:cNvSpPr txBox="1"/>
          <p:nvPr/>
        </p:nvSpPr>
        <p:spPr>
          <a:xfrm>
            <a:off x="1344999" y="6371338"/>
            <a:ext cx="6593124" cy="645795"/>
          </a:xfrm>
          <a:prstGeom prst="rect">
            <a:avLst/>
          </a:prstGeom>
        </p:spPr>
        <p:txBody>
          <a:bodyPr lIns="0" tIns="0" rIns="0" bIns="0" rtlCol="0" anchor="t">
            <a:spAutoFit/>
          </a:bodyPr>
          <a:lstStyle/>
          <a:p>
            <a:pPr algn="l">
              <a:lnSpc>
                <a:spcPts val="5040"/>
              </a:lnSpc>
            </a:pPr>
            <a:r>
              <a:rPr lang="en-US" altLang="zh-CN" sz="3600" spc="179">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webui</a:t>
            </a:r>
            <a:r>
              <a:rPr lang="zh-CN" altLang="en-US" sz="3600" spc="179">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rPr>
              <a:t>桌面端部署</a:t>
            </a:r>
            <a:endParaRPr lang="zh-CN" altLang="en-US" sz="3600" spc="179">
              <a:solidFill>
                <a:srgbClr val="3B64C9"/>
              </a:solidFill>
              <a:latin typeface="微软雅黑" panose="020B0503020204020204" charset="-122"/>
              <a:ea typeface="微软雅黑" panose="020B0503020204020204" charset="-122"/>
              <a:cs typeface="微软雅黑" panose="020B0503020204020204" charset="-122"/>
              <a:sym typeface="思源宋体-超粗体" panose="02020900000000000000" charset="-122"/>
            </a:endParaRPr>
          </a:p>
        </p:txBody>
      </p:sp>
      <p:sp>
        <p:nvSpPr>
          <p:cNvPr id="14" name="TextBox 14"/>
          <p:cNvSpPr txBox="1"/>
          <p:nvPr/>
        </p:nvSpPr>
        <p:spPr>
          <a:xfrm>
            <a:off x="1344930" y="7139940"/>
            <a:ext cx="7506970" cy="1579880"/>
          </a:xfrm>
          <a:prstGeom prst="rect">
            <a:avLst/>
          </a:prstGeom>
        </p:spPr>
        <p:txBody>
          <a:bodyPr wrap="square" lIns="0" tIns="0" rIns="0" bIns="0" rtlCol="0" anchor="t">
            <a:spAutoFit/>
          </a:bodyPr>
          <a:lstStyle/>
          <a:p>
            <a:pPr algn="l">
              <a:lnSpc>
                <a:spcPts val="3080"/>
              </a:lnSpc>
            </a:pP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本地端摒弃了繁琐的环境配置，采用</a:t>
            </a:r>
            <a:r>
              <a:rPr lang="en-US" altLang="zh-CN"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一键式批处理（</a:t>
            </a:r>
            <a:r>
              <a:rPr lang="en-US" altLang="zh-CN"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CMD</a:t>
            </a: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en-US" altLang="zh-CN"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 Python</a:t>
            </a: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微服务</a:t>
            </a:r>
            <a:r>
              <a:rPr lang="en-US" altLang="zh-CN"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架构。通过封装自动化执行脚本，用户只需双击即可唤醒本地</a:t>
            </a:r>
            <a:r>
              <a:rPr lang="en-US" altLang="zh-CN"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 Flask </a:t>
            </a: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算力引擎，并自动拉起默认浏览器渲染</a:t>
            </a:r>
            <a:r>
              <a:rPr lang="en-US" altLang="zh-CN"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 Vue </a:t>
            </a: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前端。无需懂代码，真正实现</a:t>
            </a:r>
            <a:r>
              <a:rPr lang="en-US" altLang="zh-CN"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即开即用</a:t>
            </a:r>
            <a:r>
              <a:rPr lang="en-US" altLang="zh-CN"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a:t>
            </a: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的极客化轻量级办公体验。</a:t>
            </a:r>
            <a:endPar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p:txBody>
      </p:sp>
      <p:sp>
        <p:nvSpPr>
          <p:cNvPr id="15" name="TextBox 15"/>
          <p:cNvSpPr txBox="1"/>
          <p:nvPr/>
        </p:nvSpPr>
        <p:spPr>
          <a:xfrm>
            <a:off x="9693922" y="6371338"/>
            <a:ext cx="6593124" cy="645795"/>
          </a:xfrm>
          <a:prstGeom prst="rect">
            <a:avLst/>
          </a:prstGeom>
        </p:spPr>
        <p:txBody>
          <a:bodyPr lIns="0" tIns="0" rIns="0" bIns="0" rtlCol="0" anchor="t">
            <a:spAutoFit/>
          </a:bodyPr>
          <a:lstStyle/>
          <a:p>
            <a:pPr algn="l">
              <a:lnSpc>
                <a:spcPts val="5040"/>
              </a:lnSpc>
            </a:pPr>
            <a:r>
              <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云服务器的网页部署</a:t>
            </a:r>
            <a:endParaRPr lang="zh-CN" altLang="en-US" sz="3600" spc="179">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
        <p:nvSpPr>
          <p:cNvPr id="16" name="TextBox 16"/>
          <p:cNvSpPr txBox="1"/>
          <p:nvPr/>
        </p:nvSpPr>
        <p:spPr>
          <a:xfrm>
            <a:off x="9693910" y="7139940"/>
            <a:ext cx="7231380" cy="1974850"/>
          </a:xfrm>
          <a:prstGeom prst="rect">
            <a:avLst/>
          </a:prstGeom>
        </p:spPr>
        <p:txBody>
          <a:bodyPr wrap="square" lIns="0" tIns="0" rIns="0" bIns="0" rtlCol="0" anchor="t">
            <a:spAutoFit/>
          </a:bodyPr>
          <a:lstStyle/>
          <a:p>
            <a:pPr algn="l">
              <a:lnSpc>
                <a:spcPts val="3080"/>
              </a:lnSpc>
            </a:pP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面向多用户并发与长效运行需求，系统同样支持标准的</a:t>
            </a:r>
            <a:r>
              <a:rPr lang="en-US" altLang="zh-CN"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 B/S </a:t>
            </a: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云端架构部署。以</a:t>
            </a:r>
            <a:r>
              <a:rPr lang="en-US" altLang="zh-CN"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 Linux </a:t>
            </a: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云服务器为底座，前端静态资源由</a:t>
            </a:r>
            <a:r>
              <a:rPr lang="en-US" altLang="zh-CN"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 Nginx </a:t>
            </a: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承载反向代理与端口分发；后端算力池则长驻于云端，为多终端提供稳定、跨平台的数据处理</a:t>
            </a:r>
            <a:r>
              <a:rPr lang="en-US" altLang="zh-CN"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 API</a:t>
            </a:r>
            <a:r>
              <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rPr>
              <a:t>，满足多人团队的数据共享与流转。</a:t>
            </a:r>
            <a:endParaRPr lang="zh-CN" altLang="en-US" sz="2000">
              <a:solidFill>
                <a:srgbClr val="A6A6A6"/>
              </a:solidFill>
              <a:latin typeface="微软雅黑" panose="020B0503020204020204" charset="-122"/>
              <a:ea typeface="微软雅黑" panose="020B0503020204020204" charset="-122"/>
              <a:cs typeface="微软雅黑" panose="020B0503020204020204" charset="-122"/>
              <a:sym typeface="思源宋体" panose="02020400000000000000" charset="-122"/>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1"/>
            <a:stretch>
              <a:fillRect t="-14244" r="-35041" b="-45704"/>
            </a:stretch>
          </a:blipFill>
        </p:spPr>
      </p:sp>
      <p:sp>
        <p:nvSpPr>
          <p:cNvPr id="3" name="Freeform 3"/>
          <p:cNvSpPr/>
          <p:nvPr/>
        </p:nvSpPr>
        <p:spPr>
          <a:xfrm rot="-718246" flipV="1">
            <a:off x="7274135" y="6386720"/>
            <a:ext cx="13085169" cy="5743161"/>
          </a:xfrm>
          <a:custGeom>
            <a:avLst/>
            <a:gdLst/>
            <a:ahLst/>
            <a:cxnLst/>
            <a:rect l="l" t="t" r="r" b="b"/>
            <a:pathLst>
              <a:path w="13085169" h="5743161">
                <a:moveTo>
                  <a:pt x="0" y="5743160"/>
                </a:moveTo>
                <a:lnTo>
                  <a:pt x="13085169" y="5743160"/>
                </a:lnTo>
                <a:lnTo>
                  <a:pt x="13085169" y="0"/>
                </a:lnTo>
                <a:lnTo>
                  <a:pt x="0" y="0"/>
                </a:lnTo>
                <a:lnTo>
                  <a:pt x="0" y="5743160"/>
                </a:lnTo>
                <a:close/>
              </a:path>
            </a:pathLst>
          </a:custGeom>
          <a:blipFill>
            <a:blip r:embed="rId2"/>
            <a:stretch>
              <a:fillRect l="-2095" r="-2095"/>
            </a:stretch>
          </a:blipFill>
        </p:spPr>
      </p:sp>
      <p:sp>
        <p:nvSpPr>
          <p:cNvPr id="4" name="Freeform 4"/>
          <p:cNvSpPr/>
          <p:nvPr/>
        </p:nvSpPr>
        <p:spPr>
          <a:xfrm rot="-1204851" flipV="1">
            <a:off x="5641124" y="8018466"/>
            <a:ext cx="13996660" cy="4723021"/>
          </a:xfrm>
          <a:custGeom>
            <a:avLst/>
            <a:gdLst/>
            <a:ahLst/>
            <a:cxnLst/>
            <a:rect l="l" t="t" r="r" b="b"/>
            <a:pathLst>
              <a:path w="13996660" h="4723021">
                <a:moveTo>
                  <a:pt x="0" y="4723021"/>
                </a:moveTo>
                <a:lnTo>
                  <a:pt x="13996660" y="4723021"/>
                </a:lnTo>
                <a:lnTo>
                  <a:pt x="13996660" y="0"/>
                </a:lnTo>
                <a:lnTo>
                  <a:pt x="0" y="0"/>
                </a:lnTo>
                <a:lnTo>
                  <a:pt x="0" y="4723021"/>
                </a:lnTo>
                <a:close/>
              </a:path>
            </a:pathLst>
          </a:custGeom>
          <a:blipFill>
            <a:blip r:embed="rId3">
              <a:alphaModFix amt="21999"/>
            </a:blip>
            <a:stretch>
              <a:fillRect r="-24401"/>
            </a:stretch>
          </a:blipFill>
          <a:ln cap="sq">
            <a:noFill/>
            <a:prstDash val="solid"/>
            <a:miter/>
          </a:ln>
        </p:spPr>
      </p:sp>
      <p:sp>
        <p:nvSpPr>
          <p:cNvPr id="5" name="Freeform 5"/>
          <p:cNvSpPr/>
          <p:nvPr/>
        </p:nvSpPr>
        <p:spPr>
          <a:xfrm rot="862994">
            <a:off x="-7949821" y="7331300"/>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3">
              <a:alphaModFix amt="21999"/>
            </a:blip>
            <a:stretch>
              <a:fillRect/>
            </a:stretch>
          </a:blipFill>
          <a:ln cap="sq">
            <a:noFill/>
            <a:prstDash val="solid"/>
            <a:miter/>
          </a:ln>
        </p:spPr>
      </p:sp>
      <p:sp>
        <p:nvSpPr>
          <p:cNvPr id="6" name="Freeform 6"/>
          <p:cNvSpPr/>
          <p:nvPr/>
        </p:nvSpPr>
        <p:spPr>
          <a:xfrm rot="10060989">
            <a:off x="-3585179" y="-3313264"/>
            <a:ext cx="17412058" cy="4723021"/>
          </a:xfrm>
          <a:custGeom>
            <a:avLst/>
            <a:gdLst/>
            <a:ahLst/>
            <a:cxnLst/>
            <a:rect l="l" t="t" r="r" b="b"/>
            <a:pathLst>
              <a:path w="17412058" h="4723021">
                <a:moveTo>
                  <a:pt x="0" y="0"/>
                </a:moveTo>
                <a:lnTo>
                  <a:pt x="17412059" y="0"/>
                </a:lnTo>
                <a:lnTo>
                  <a:pt x="17412059" y="4723020"/>
                </a:lnTo>
                <a:lnTo>
                  <a:pt x="0" y="4723020"/>
                </a:lnTo>
                <a:lnTo>
                  <a:pt x="0" y="0"/>
                </a:lnTo>
                <a:close/>
              </a:path>
            </a:pathLst>
          </a:custGeom>
          <a:blipFill>
            <a:blip r:embed="rId3">
              <a:alphaModFix amt="21999"/>
            </a:blip>
            <a:stretch>
              <a:fillRect/>
            </a:stretch>
          </a:blipFill>
          <a:ln cap="sq">
            <a:noFill/>
            <a:prstDash val="solid"/>
            <a:miter/>
          </a:ln>
        </p:spPr>
      </p:sp>
      <p:sp>
        <p:nvSpPr>
          <p:cNvPr id="11" name="TextBox 11"/>
          <p:cNvSpPr txBox="1"/>
          <p:nvPr/>
        </p:nvSpPr>
        <p:spPr>
          <a:xfrm>
            <a:off x="3049132" y="3616633"/>
            <a:ext cx="12189736" cy="1908175"/>
          </a:xfrm>
          <a:prstGeom prst="rect">
            <a:avLst/>
          </a:prstGeom>
        </p:spPr>
        <p:txBody>
          <a:bodyPr lIns="0" tIns="0" rIns="0" bIns="0" rtlCol="0" anchor="t">
            <a:spAutoFit/>
          </a:bodyPr>
          <a:lstStyle/>
          <a:p>
            <a:pPr algn="l">
              <a:lnSpc>
                <a:spcPts val="14880"/>
              </a:lnSpc>
            </a:pPr>
            <a:r>
              <a:rPr lang="en-US" sz="10625" spc="5335">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rPr>
              <a:t>感谢您的观看</a:t>
            </a:r>
            <a:endParaRPr lang="en-US" sz="10625" spc="5335">
              <a:solidFill>
                <a:srgbClr val="3B64C9"/>
              </a:solidFill>
              <a:latin typeface="微软雅黑" panose="020B0503020204020204" charset="-122"/>
              <a:ea typeface="微软雅黑" panose="020B0503020204020204" charset="-122"/>
              <a:cs typeface="思源宋体-超粗体" panose="02020900000000000000" charset="-122"/>
              <a:sym typeface="思源宋体-超粗体" panose="02020900000000000000" charset="-122"/>
            </a:endParaRPr>
          </a:p>
        </p:txBody>
      </p:sp>
    </p:spTree>
  </p:cSld>
  <p:clrMapOvr>
    <a:masterClrMapping/>
  </p:clrMapOvr>
</p:sld>
</file>

<file path=ppt/tags/tag1.xml><?xml version="1.0" encoding="utf-8"?>
<p:tagLst xmlns:p="http://schemas.openxmlformats.org/presentationml/2006/main">
  <p:tag name="KSO_WM_DIAGRAM_VIRTUALLY_FRAME" val="{&quot;height&quot;:582.631653543307,&quot;left&quot;:674.3822047244095,&quot;top&quot;:109.18417322834645,&quot;width&quot;:433.82417322834635}"/>
</p:tagLst>
</file>

<file path=ppt/tags/tag2.xml><?xml version="1.0" encoding="utf-8"?>
<p:tagLst xmlns:p="http://schemas.openxmlformats.org/presentationml/2006/main">
  <p:tag name="KSO_WM_DIAGRAM_VIRTUALLY_FRAME" val="{&quot;height&quot;:582.631653543307,&quot;left&quot;:674.3822047244095,&quot;top&quot;:109.18417322834645,&quot;width&quot;:433.82417322834635}"/>
</p:tagLst>
</file>

<file path=ppt/tags/tag3.xml><?xml version="1.0" encoding="utf-8"?>
<p:tagLst xmlns:p="http://schemas.openxmlformats.org/presentationml/2006/main">
  <p:tag name="KSO_WM_DIAGRAM_VIRTUALLY_FRAME" val="{&quot;height&quot;:582.631653543307,&quot;left&quot;:674.3822047244095,&quot;top&quot;:109.18417322834645,&quot;width&quot;:433.82417322834635}"/>
</p:tagLst>
</file>

<file path=ppt/tags/tag4.xml><?xml version="1.0" encoding="utf-8"?>
<p:tagLst xmlns:p="http://schemas.openxmlformats.org/presentationml/2006/main">
  <p:tag name="KSO_WM_DIAGRAM_VIRTUALLY_FRAME" val="{&quot;height&quot;:582.631653543307,&quot;left&quot;:674.3822047244095,&quot;top&quot;:109.18417322834645,&quot;width&quot;:433.82417322834635}"/>
</p:tagLst>
</file>

<file path=ppt/tags/tag5.xml><?xml version="1.0" encoding="utf-8"?>
<p:tagLst xmlns:p="http://schemas.openxmlformats.org/presentationml/2006/main">
  <p:tag name="KSO_WM_DIAGRAM_VIRTUALLY_FRAME" val="{&quot;height&quot;:582.631653543307,&quot;left&quot;:674.3822047244095,&quot;top&quot;:109.18417322834645,&quot;width&quot;:433.82417322834635}"/>
</p:tagLst>
</file>

<file path=ppt/tags/tag6.xml><?xml version="1.0" encoding="utf-8"?>
<p:tagLst xmlns:p="http://schemas.openxmlformats.org/presentationml/2006/main">
  <p:tag name="KSO_WM_DIAGRAM_VIRTUALLY_FRAME" val="{&quot;height&quot;:582.631653543307,&quot;left&quot;:674.3822047244095,&quot;top&quot;:109.18417322834645,&quot;width&quot;:433.82417322834635}"/>
</p:tagLst>
</file>

<file path=ppt/tags/tag7.xml><?xml version="1.0" encoding="utf-8"?>
<p:tagLst xmlns:p="http://schemas.openxmlformats.org/presentationml/2006/main">
  <p:tag name="KSO_WM_DIAGRAM_VIRTUALLY_FRAME" val="{&quot;height&quot;:140.90535433070863,&quot;left&quot;:170.15905511811022,&quot;top&quot;:248.6083464566929,&quot;width&quot;:1099.6818897637795}"/>
</p:tagLst>
</file>

<file path=ppt/tags/tag8.xml><?xml version="1.0" encoding="utf-8"?>
<p:tagLst xmlns:p="http://schemas.openxmlformats.org/presentationml/2006/main">
  <p:tag name="KSO_WM_DIAGRAM_VIRTUALLY_FRAME" val="{&quot;height&quot;:242.50535433070863,&quot;left&quot;:170.15905511811022,&quot;top&quot;:147.00834645669292,&quot;width&quot;:1099.6818897637795}"/>
</p:tagLst>
</file>

<file path=ppt/tags/tag9.xml><?xml version="1.0" encoding="utf-8"?>
<p:tagLst xmlns:p="http://schemas.openxmlformats.org/presentationml/2006/main">
  <p:tag name="KSO_WM_DIAGRAM_VIRTUALLY_FRAME" val="{&quot;height&quot;:242.50535433070863,&quot;left&quot;:170.15905511811022,&quot;top&quot;:147.00834645669292,&quot;width&quot;:1099.6818897637795}"/>
</p:tagLst>
</file>

<file path=ppt/tags/tag10.xml><?xml version="1.0" encoding="utf-8"?>
<p:tagLst xmlns:p="http://schemas.openxmlformats.org/presentationml/2006/main">
  <p:tag name="KSO_WM_DIAGRAM_VIRTUALLY_FRAME" val="{&quot;height&quot;:242.50535433070863,&quot;left&quot;:170.15905511811022,&quot;top&quot;:147.00834645669292,&quot;width&quot;:1099.6818897637795}"/>
</p:tagLst>
</file>

<file path=ppt/tags/tag11.xml><?xml version="1.0" encoding="utf-8"?>
<p:tagLst xmlns:p="http://schemas.openxmlformats.org/presentationml/2006/main">
  <p:tag name="KSO_WM_DIAGRAM_VIRTUALLY_FRAME" val="{&quot;height&quot;:507.7616141732284,&quot;left&quot;:808.2648818897637,&quot;top&quot;:195.38064960629922,&quot;width&quot;:463.4682677165353}"/>
</p:tagLst>
</file>

<file path=ppt/tags/tag12.xml><?xml version="1.0" encoding="utf-8"?>
<p:tagLst xmlns:p="http://schemas.openxmlformats.org/presentationml/2006/main">
  <p:tag name="KSO_WM_DIAGRAM_VIRTUALLY_FRAME" val="{&quot;height&quot;:507.7616141732284,&quot;left&quot;:808.2648818897637,&quot;top&quot;:195.38064960629922,&quot;width&quot;:463.4682677165353}"/>
</p:tagLst>
</file>

<file path=ppt/tags/tag13.xml><?xml version="1.0" encoding="utf-8"?>
<p:tagLst xmlns:p="http://schemas.openxmlformats.org/presentationml/2006/main">
  <p:tag name="KSO_WM_DIAGRAM_VIRTUALLY_FRAME" val="{&quot;height&quot;:507.7616141732284,&quot;left&quot;:808.2648818897637,&quot;top&quot;:195.38064960629922,&quot;width&quot;:463.4682677165353}"/>
</p:tagLst>
</file>

<file path=ppt/tags/tag14.xml><?xml version="1.0" encoding="utf-8"?>
<p:tagLst xmlns:p="http://schemas.openxmlformats.org/presentationml/2006/main">
  <p:tag name="KSO_WM_DIAGRAM_VIRTUALLY_FRAME" val="{&quot;height&quot;:507.7616141732284,&quot;left&quot;:808.2648818897637,&quot;top&quot;:195.38064960629922,&quot;width&quot;:463.4682677165353}"/>
</p:tagLst>
</file>

<file path=ppt/tags/tag15.xml><?xml version="1.0" encoding="utf-8"?>
<p:tagLst xmlns:p="http://schemas.openxmlformats.org/presentationml/2006/main">
  <p:tag name="KSO_WM_DIAGRAM_VIRTUALLY_FRAME" val="{&quot;height&quot;:507.7616141732284,&quot;left&quot;:808.2648818897637,&quot;top&quot;:195.38064960629922,&quot;width&quot;:463.4682677165353}"/>
</p:tagLst>
</file>

<file path=ppt/tags/tag16.xml><?xml version="1.0" encoding="utf-8"?>
<p:tagLst xmlns:p="http://schemas.openxmlformats.org/presentationml/2006/main">
  <p:tag name="KSO_WM_DIAGRAM_VIRTUALLY_FRAME" val="{&quot;height&quot;:507.7616141732284,&quot;left&quot;:808.2648818897637,&quot;top&quot;:195.38064960629922,&quot;width&quot;:463.4682677165353}"/>
</p:tagLst>
</file>

<file path=ppt/tags/tag17.xml><?xml version="1.0" encoding="utf-8"?>
<p:tagLst xmlns:p="http://schemas.openxmlformats.org/presentationml/2006/main">
  <p:tag name="KSO_WM_DIAGRAM_VIRTUALLY_FRAME" val="{&quot;height&quot;:507.7616141732284,&quot;left&quot;:808.2648818897637,&quot;top&quot;:195.38064960629922,&quot;width&quot;:463.4682677165353}"/>
</p:tagLst>
</file>

<file path=ppt/tags/tag18.xml><?xml version="1.0" encoding="utf-8"?>
<p:tagLst xmlns:p="http://schemas.openxmlformats.org/presentationml/2006/main">
  <p:tag name="KSO_WM_DIAGRAM_VIRTUALLY_FRAME" val="{&quot;height&quot;:507.7616141732284,&quot;left&quot;:808.2648818897637,&quot;top&quot;:195.38064960629922,&quot;width&quot;:463.4682677165353}"/>
</p:tagLst>
</file>

<file path=ppt/tags/tag19.xml><?xml version="1.0" encoding="utf-8"?>
<p:tagLst xmlns:p="http://schemas.openxmlformats.org/presentationml/2006/main">
  <p:tag name="KSO_WM_DIAGRAM_VIRTUALLY_FRAME" val="{&quot;height&quot;:507.7616141732284,&quot;left&quot;:808.2648818897637,&quot;top&quot;:195.38064960629922,&quot;width&quot;:463.4682677165353}"/>
</p:tagLst>
</file>

<file path=ppt/tags/tag20.xml><?xml version="1.0" encoding="utf-8"?>
<p:tagLst xmlns:p="http://schemas.openxmlformats.org/presentationml/2006/main">
  <p:tag name="KSO_WM_DIAGRAM_VIRTUALLY_FRAME" val="{&quot;height&quot;:507.7616141732284,&quot;left&quot;:808.2648818897637,&quot;top&quot;:195.38064960629922,&quot;width&quot;:463.4682677165353}"/>
</p:tagLst>
</file>

<file path=ppt/tags/tag21.xml><?xml version="1.0" encoding="utf-8"?>
<p:tagLst xmlns:p="http://schemas.openxmlformats.org/presentationml/2006/main">
  <p:tag name="KSO_WM_DIAGRAM_VIRTUALLY_FRAME" val="{&quot;height&quot;:507.7616141732284,&quot;left&quot;:808.2648818897637,&quot;top&quot;:195.38064960629922,&quot;width&quot;:463.4682677165353}"/>
</p:tagLst>
</file>

<file path=ppt/tags/tag22.xml><?xml version="1.0" encoding="utf-8"?>
<p:tagLst xmlns:p="http://schemas.openxmlformats.org/presentationml/2006/main">
  <p:tag name="KSO_WM_DIAGRAM_VIRTUALLY_FRAME" val="{&quot;height&quot;:507.7616141732284,&quot;left&quot;:808.2648818897637,&quot;top&quot;:195.38064960629922,&quot;width&quot;:463.4682677165353}"/>
</p:tagLst>
</file>

<file path=ppt/tags/tag23.xml><?xml version="1.0" encoding="utf-8"?>
<p:tagLst xmlns:p="http://schemas.openxmlformats.org/presentationml/2006/main">
  <p:tag name="KSO_WM_DIAGRAM_VIRTUALLY_FRAME" val="{&quot;height&quot;:277.13834645669294,&quot;left&quot;:249.21188976377954,&quot;top&quot;:171.13748031496064,&quot;width&quot;:1059.0885826771653}"/>
</p:tagLst>
</file>

<file path=ppt/tags/tag24.xml><?xml version="1.0" encoding="utf-8"?>
<p:tagLst xmlns:p="http://schemas.openxmlformats.org/presentationml/2006/main">
  <p:tag name="KSO_WM_DIAGRAM_VIRTUALLY_FRAME" val="{&quot;height&quot;:277.13834645669294,&quot;left&quot;:249.21188976377954,&quot;top&quot;:171.13748031496064,&quot;width&quot;:1059.0885826771653}"/>
</p:tagLst>
</file>

<file path=ppt/tags/tag25.xml><?xml version="1.0" encoding="utf-8"?>
<p:tagLst xmlns:p="http://schemas.openxmlformats.org/presentationml/2006/main">
  <p:tag name="KSO_WM_DIAGRAM_VIRTUALLY_FRAME" val="{&quot;height&quot;:277.13834645669294,&quot;left&quot;:249.21188976377954,&quot;top&quot;:171.13748031496064,&quot;width&quot;:1059.0885826771653}"/>
</p:tagLst>
</file>

<file path=ppt/tags/tag26.xml><?xml version="1.0" encoding="utf-8"?>
<p:tagLst xmlns:p="http://schemas.openxmlformats.org/presentationml/2006/main">
  <p:tag name="KSO_WM_DIAGRAM_VIRTUALLY_FRAME" val="{&quot;height&quot;:579.4602362204724,&quot;left&quot;:184.8,&quot;top&quot;:171.13748031496064,&quot;width&quot;:1155.45}"/>
</p:tagLst>
</file>

<file path=ppt/tags/tag27.xml><?xml version="1.0" encoding="utf-8"?>
<p:tagLst xmlns:p="http://schemas.openxmlformats.org/presentationml/2006/main">
  <p:tag name="KSO_WM_DIAGRAM_VIRTUALLY_FRAME" val="{&quot;height&quot;:579.4602362204724,&quot;left&quot;:184.8,&quot;top&quot;:171.13748031496064,&quot;width&quot;:1155.45}"/>
</p:tagLst>
</file>

<file path=ppt/tags/tag28.xml><?xml version="1.0" encoding="utf-8"?>
<p:tagLst xmlns:p="http://schemas.openxmlformats.org/presentationml/2006/main">
  <p:tag name="KSO_WM_DIAGRAM_VIRTUALLY_FRAME" val="{&quot;height&quot;:277.13834645669294,&quot;left&quot;:249.21188976377954,&quot;top&quot;:171.13748031496064,&quot;width&quot;:1059.0885826771653}"/>
</p:tagLst>
</file>

<file path=ppt/tags/tag29.xml><?xml version="1.0" encoding="utf-8"?>
<p:tagLst xmlns:p="http://schemas.openxmlformats.org/presentationml/2006/main">
  <p:tag name="KSO_WM_DIAGRAM_VIRTUALLY_FRAME" val="{&quot;height&quot;:277.13834645669294,&quot;left&quot;:249.21188976377954,&quot;top&quot;:171.13748031496064,&quot;width&quot;:1059.0885826771653}"/>
</p:tagLst>
</file>

<file path=ppt/tags/tag30.xml><?xml version="1.0" encoding="utf-8"?>
<p:tagLst xmlns:p="http://schemas.openxmlformats.org/presentationml/2006/main">
  <p:tag name="KSO_WM_DIAGRAM_VIRTUALLY_FRAME" val="{&quot;height&quot;:277.13834645669294,&quot;left&quot;:249.21188976377954,&quot;top&quot;:171.13748031496064,&quot;width&quot;:1059.0885826771653}"/>
</p:tagLst>
</file>

<file path=ppt/tags/tag31.xml><?xml version="1.0" encoding="utf-8"?>
<p:tagLst xmlns:p="http://schemas.openxmlformats.org/presentationml/2006/main">
  <p:tag name="KSO_WM_DIAGRAM_VIRTUALLY_FRAME" val="{&quot;height&quot;:579.4602362204724,&quot;left&quot;:184.8,&quot;top&quot;:171.13748031496064,&quot;width&quot;:1155.45}"/>
</p:tagLst>
</file>

<file path=ppt/tags/tag32.xml><?xml version="1.0" encoding="utf-8"?>
<p:tagLst xmlns:p="http://schemas.openxmlformats.org/presentationml/2006/main">
  <p:tag name="KSO_WM_DIAGRAM_VIRTUALLY_FRAME" val="{&quot;height&quot;:579.4602362204724,&quot;left&quot;:184.8,&quot;top&quot;:171.13748031496064,&quot;width&quot;:1155.45}"/>
</p:tagLst>
</file>

<file path=ppt/tags/tag33.xml><?xml version="1.0" encoding="utf-8"?>
<p:tagLst xmlns:p="http://schemas.openxmlformats.org/presentationml/2006/main">
  <p:tag name="KSO_WM_DIAGRAM_VIRTUALLY_FRAME" val="{&quot;height&quot;:277.13834645669294,&quot;left&quot;:249.21188976377954,&quot;top&quot;:171.13748031496064,&quot;width&quot;:1059.0885826771653}"/>
</p:tagLst>
</file>

<file path=ppt/tags/tag34.xml><?xml version="1.0" encoding="utf-8"?>
<p:tagLst xmlns:p="http://schemas.openxmlformats.org/presentationml/2006/main">
  <p:tag name="KSO_WM_DIAGRAM_VIRTUALLY_FRAME" val="{&quot;height&quot;:277.13834645669294,&quot;left&quot;:249.21188976377954,&quot;top&quot;:171.13748031496064,&quot;width&quot;:1059.0885826771653}"/>
</p:tagLst>
</file>

<file path=ppt/tags/tag35.xml><?xml version="1.0" encoding="utf-8"?>
<p:tagLst xmlns:p="http://schemas.openxmlformats.org/presentationml/2006/main">
  <p:tag name="KSO_WM_DIAGRAM_VIRTUALLY_FRAME" val="{&quot;height&quot;:277.13834645669294,&quot;left&quot;:249.21188976377954,&quot;top&quot;:171.13748031496064,&quot;width&quot;:1059.0885826771653}"/>
</p:tagLst>
</file>

<file path=ppt/tags/tag36.xml><?xml version="1.0" encoding="utf-8"?>
<p:tagLst xmlns:p="http://schemas.openxmlformats.org/presentationml/2006/main">
  <p:tag name="KSO_WM_DIAGRAM_VIRTUALLY_FRAME" val="{&quot;height&quot;:579.4602362204724,&quot;left&quot;:184.8,&quot;top&quot;:171.13748031496064,&quot;width&quot;:1155.45}"/>
</p:tagLst>
</file>

<file path=ppt/tags/tag37.xml><?xml version="1.0" encoding="utf-8"?>
<p:tagLst xmlns:p="http://schemas.openxmlformats.org/presentationml/2006/main">
  <p:tag name="KSO_WM_DIAGRAM_VIRTUALLY_FRAME" val="{&quot;height&quot;:579.4602362204724,&quot;left&quot;:184.8,&quot;top&quot;:171.13748031496064,&quot;width&quot;:1155.45}"/>
</p:tagLst>
</file>

<file path=ppt/tags/tag38.xml><?xml version="1.0" encoding="utf-8"?>
<p:tagLst xmlns:p="http://schemas.openxmlformats.org/presentationml/2006/main">
  <p:tag name="KSO_WM_DIAGRAM_VIRTUALLY_FRAME" val="{&quot;height&quot;:579.4602362204724,&quot;left&quot;:184.8,&quot;top&quot;:171.13748031496064,&quot;width&quot;:1155.45}"/>
</p:tagLst>
</file>

<file path=ppt/tags/tag39.xml><?xml version="1.0" encoding="utf-8"?>
<p:tagLst xmlns:p="http://schemas.openxmlformats.org/presentationml/2006/main">
  <p:tag name="KSO_WM_DIAGRAM_VIRTUALLY_FRAME" val="{&quot;height&quot;:579.4602362204724,&quot;left&quot;:184.8,&quot;top&quot;:171.13748031496064,&quot;width&quot;:1155.45}"/>
</p:tagLst>
</file>

<file path=ppt/tags/tag40.xml><?xml version="1.0" encoding="utf-8"?>
<p:tagLst xmlns:p="http://schemas.openxmlformats.org/presentationml/2006/main">
  <p:tag name="KSO_WM_DIAGRAM_VIRTUALLY_FRAME" val="{&quot;height&quot;:579.4602362204724,&quot;left&quot;:184.8,&quot;top&quot;:171.13748031496064,&quot;width&quot;:1155.45}"/>
</p:tagLst>
</file>

<file path=ppt/tags/tag41.xml><?xml version="1.0" encoding="utf-8"?>
<p:tagLst xmlns:p="http://schemas.openxmlformats.org/presentationml/2006/main">
  <p:tag name="KSO_WM_DIAGRAM_VIRTUALLY_FRAME" val="{&quot;height&quot;:579.4602362204724,&quot;left&quot;:184.8,&quot;top&quot;:171.13748031496064,&quot;width&quot;:1155.45}"/>
</p:tagLst>
</file>

<file path=ppt/tags/tag42.xml><?xml version="1.0" encoding="utf-8"?>
<p:tagLst xmlns:p="http://schemas.openxmlformats.org/presentationml/2006/main">
  <p:tag name="KSO_WM_DIAGRAM_VIRTUALLY_FRAME" val="{&quot;height&quot;:579.4602362204724,&quot;left&quot;:184.8,&quot;top&quot;:171.13748031496064,&quot;width&quot;:1155.45}"/>
</p:tagLst>
</file>

<file path=ppt/tags/tag43.xml><?xml version="1.0" encoding="utf-8"?>
<p:tagLst xmlns:p="http://schemas.openxmlformats.org/presentationml/2006/main">
  <p:tag name="KSO_WM_DIAGRAM_VIRTUALLY_FRAME" val="{&quot;height&quot;:579.4602362204724,&quot;left&quot;:184.8,&quot;top&quot;:171.13748031496064,&quot;width&quot;:1155.45}"/>
</p:tagLst>
</file>

<file path=ppt/tags/tag44.xml><?xml version="1.0" encoding="utf-8"?>
<p:tagLst xmlns:p="http://schemas.openxmlformats.org/presentationml/2006/main">
  <p:tag name="KSO_WM_DIAGRAM_VIRTUALLY_FRAME" val="{&quot;height&quot;:579.4602362204724,&quot;left&quot;:184.8,&quot;top&quot;:171.13748031496064,&quot;width&quot;:1155.45}"/>
</p:tagLst>
</file>

<file path=ppt/tags/tag45.xml><?xml version="1.0" encoding="utf-8"?>
<p:tagLst xmlns:p="http://schemas.openxmlformats.org/presentationml/2006/main">
  <p:tag name="KSO_WM_DIAGRAM_VIRTUALLY_FRAME" val="{&quot;height&quot;:579.4602362204724,&quot;left&quot;:184.8,&quot;top&quot;:171.13748031496064,&quot;width&quot;:1155.45}"/>
</p:tagLst>
</file>

<file path=ppt/tags/tag46.xml><?xml version="1.0" encoding="utf-8"?>
<p:tagLst xmlns:p="http://schemas.openxmlformats.org/presentationml/2006/main">
  <p:tag name="KSO_WM_DIAGRAM_VIRTUALLY_FRAME" val="{&quot;height&quot;:579.4602362204724,&quot;left&quot;:184.8,&quot;top&quot;:171.13748031496064,&quot;width&quot;:1155.45}"/>
</p:tagLst>
</file>

<file path=ppt/tags/tag47.xml><?xml version="1.0" encoding="utf-8"?>
<p:tagLst xmlns:p="http://schemas.openxmlformats.org/presentationml/2006/main">
  <p:tag name="KSO_WM_DIAGRAM_VIRTUALLY_FRAME" val="{&quot;height&quot;:579.4602362204724,&quot;left&quot;:184.8,&quot;top&quot;:171.13748031496064,&quot;width&quot;:1155.45}"/>
</p:tagLst>
</file>

<file path=ppt/tags/tag48.xml><?xml version="1.0" encoding="utf-8"?>
<p:tagLst xmlns:p="http://schemas.openxmlformats.org/presentationml/2006/main">
  <p:tag name="KSO_WM_DIAGRAM_VIRTUALLY_FRAME" val="{&quot;height&quot;:579.4602362204724,&quot;left&quot;:184.8,&quot;top&quot;:171.13748031496064,&quot;width&quot;:1155.45}"/>
</p:tagLst>
</file>

<file path=ppt/tags/tag49.xml><?xml version="1.0" encoding="utf-8"?>
<p:tagLst xmlns:p="http://schemas.openxmlformats.org/presentationml/2006/main">
  <p:tag name="KSO_WM_DIAGRAM_VIRTUALLY_FRAME" val="{&quot;height&quot;:579.4602362204724,&quot;left&quot;:184.8,&quot;top&quot;:171.13748031496064,&quot;width&quot;:1155.45}"/>
</p:tagLst>
</file>

<file path=ppt/tags/tag50.xml><?xml version="1.0" encoding="utf-8"?>
<p:tagLst xmlns:p="http://schemas.openxmlformats.org/presentationml/2006/main">
  <p:tag name="KSO_WM_DIAGRAM_VIRTUALLY_FRAME" val="{&quot;height&quot;:579.4602362204724,&quot;left&quot;:184.8,&quot;top&quot;:171.13748031496064,&quot;width&quot;:1155.45}"/>
</p:tagLst>
</file>

<file path=ppt/tags/tag51.xml><?xml version="1.0" encoding="utf-8"?>
<p:tagLst xmlns:p="http://schemas.openxmlformats.org/presentationml/2006/main">
  <p:tag name="KSO_WM_DIAGRAM_VIRTUALLY_FRAME" val="{&quot;height&quot;:579.4602362204724,&quot;left&quot;:184.8,&quot;top&quot;:171.13748031496064,&quot;width&quot;:1155.45}"/>
</p:tagLst>
</file>

<file path=ppt/tags/tag52.xml><?xml version="1.0" encoding="utf-8"?>
<p:tagLst xmlns:p="http://schemas.openxmlformats.org/presentationml/2006/main">
  <p:tag name="KSO_WM_DIAGRAM_VIRTUALLY_FRAME" val="{&quot;height&quot;:579.4602362204724,&quot;left&quot;:184.8,&quot;top&quot;:171.13748031496064,&quot;width&quot;:1155.45}"/>
</p:tagLst>
</file>

<file path=ppt/tags/tag53.xml><?xml version="1.0" encoding="utf-8"?>
<p:tagLst xmlns:p="http://schemas.openxmlformats.org/presentationml/2006/main">
  <p:tag name="KSO_WM_DIAGRAM_VIRTUALLY_FRAME" val="{&quot;height&quot;:590.6176377952756,&quot;left&quot;:167.08574803149605,&quot;top&quot;:239.91330708661417,&quot;width&quot;:636.9156692913386}"/>
</p:tagLst>
</file>

<file path=ppt/tags/tag54.xml><?xml version="1.0" encoding="utf-8"?>
<p:tagLst xmlns:p="http://schemas.openxmlformats.org/presentationml/2006/main">
  <p:tag name="KSO_WM_DIAGRAM_VIRTUALLY_FRAME" val="{&quot;height&quot;:590.6176377952756,&quot;left&quot;:167.08574803149605,&quot;top&quot;:239.91330708661417,&quot;width&quot;:636.9156692913386}"/>
</p:tagLst>
</file>

<file path=ppt/tags/tag55.xml><?xml version="1.0" encoding="utf-8"?>
<p:tagLst xmlns:p="http://schemas.openxmlformats.org/presentationml/2006/main">
  <p:tag name="KSO_WM_DIAGRAM_VIRTUALLY_FRAME" val="{&quot;height&quot;:590.6176377952756,&quot;left&quot;:167.08574803149605,&quot;top&quot;:239.91330708661417,&quot;width&quot;:636.9156692913386}"/>
</p:tagLst>
</file>

<file path=ppt/tags/tag56.xml><?xml version="1.0" encoding="utf-8"?>
<p:tagLst xmlns:p="http://schemas.openxmlformats.org/presentationml/2006/main">
  <p:tag name="KSO_WM_DIAGRAM_VIRTUALLY_FRAME" val="{&quot;height&quot;:590.6176377952756,&quot;left&quot;:167.08574803149605,&quot;top&quot;:239.91330708661417,&quot;width&quot;:636.9156692913386}"/>
</p:tagLst>
</file>

<file path=ppt/tags/tag57.xml><?xml version="1.0" encoding="utf-8"?>
<p:tagLst xmlns:p="http://schemas.openxmlformats.org/presentationml/2006/main">
  <p:tag name="KSO_WM_DIAGRAM_VIRTUALLY_FRAME" val="{&quot;height&quot;:590.6176377952756,&quot;left&quot;:167.08574803149605,&quot;top&quot;:239.91330708661417,&quot;width&quot;:636.9156692913386}"/>
</p:tagLst>
</file>

<file path=ppt/tags/tag58.xml><?xml version="1.0" encoding="utf-8"?>
<p:tagLst xmlns:p="http://schemas.openxmlformats.org/presentationml/2006/main">
  <p:tag name="KSO_WM_DIAGRAM_VIRTUALLY_FRAME" val="{&quot;height&quot;:590.6176377952756,&quot;left&quot;:167.08574803149605,&quot;top&quot;:239.91330708661417,&quot;width&quot;:636.9156692913386}"/>
</p:tagLst>
</file>

<file path=ppt/tags/tag59.xml><?xml version="1.0" encoding="utf-8"?>
<p:tagLst xmlns:p="http://schemas.openxmlformats.org/presentationml/2006/main">
  <p:tag name="KSO_WM_DIAGRAM_VIRTUALLY_FRAME" val="{&quot;height&quot;:590.6176377952756,&quot;left&quot;:167.08574803149605,&quot;top&quot;:239.91330708661417,&quot;width&quot;:636.9156692913386}"/>
</p:tagLst>
</file>

<file path=ppt/tags/tag60.xml><?xml version="1.0" encoding="utf-8"?>
<p:tagLst xmlns:p="http://schemas.openxmlformats.org/presentationml/2006/main">
  <p:tag name="KSO_WM_DIAGRAM_VIRTUALLY_FRAME" val="{&quot;height&quot;:590.6176377952756,&quot;left&quot;:167.08574803149605,&quot;top&quot;:239.91330708661417,&quot;width&quot;:636.9156692913386}"/>
</p:tagLst>
</file>

<file path=ppt/tags/tag61.xml><?xml version="1.0" encoding="utf-8"?>
<p:tagLst xmlns:p="http://schemas.openxmlformats.org/presentationml/2006/main">
  <p:tag name="KSO_WM_DIAGRAM_VIRTUALLY_FRAME" val="{&quot;height&quot;:590.6176377952756,&quot;left&quot;:167.08574803149605,&quot;top&quot;:239.91330708661417,&quot;width&quot;:636.9156692913386}"/>
</p:tagLst>
</file>

<file path=ppt/tags/tag62.xml><?xml version="1.0" encoding="utf-8"?>
<p:tagLst xmlns:p="http://schemas.openxmlformats.org/presentationml/2006/main">
  <p:tag name="KSO_WM_DIAGRAM_VIRTUALLY_FRAME" val="{&quot;height&quot;:590.6176377952756,&quot;left&quot;:167.08574803149605,&quot;top&quot;:239.91330708661417,&quot;width&quot;:636.9156692913386}"/>
</p:tagLst>
</file>

<file path=ppt/tags/tag63.xml><?xml version="1.0" encoding="utf-8"?>
<p:tagLst xmlns:p="http://schemas.openxmlformats.org/presentationml/2006/main">
  <p:tag name="KSO_WM_DIAGRAM_VIRTUALLY_FRAME" val="{&quot;height&quot;:590.6176377952756,&quot;left&quot;:167.08574803149605,&quot;top&quot;:239.91330708661417,&quot;width&quot;:636.9156692913386}"/>
</p:tagLst>
</file>

<file path=ppt/tags/tag64.xml><?xml version="1.0" encoding="utf-8"?>
<p:tagLst xmlns:p="http://schemas.openxmlformats.org/presentationml/2006/main">
  <p:tag name="KSO_WM_DIAGRAM_VIRTUALLY_FRAME" val="{&quot;height&quot;:590.6176377952756,&quot;left&quot;:167.08574803149605,&quot;top&quot;:239.91330708661417,&quot;width&quot;:636.9156692913386}"/>
</p:tagLst>
</file>

<file path=ppt/tags/tag65.xml><?xml version="1.0" encoding="utf-8"?>
<p:tagLst xmlns:p="http://schemas.openxmlformats.org/presentationml/2006/main">
  <p:tag name="KSO_WM_DIAGRAM_VIRTUALLY_FRAME" val="{&quot;height&quot;:590.6176377952756,&quot;left&quot;:167.08574803149605,&quot;top&quot;:239.91330708661417,&quot;width&quot;:636.9156692913386}"/>
</p:tagLst>
</file>

<file path=ppt/tags/tag66.xml><?xml version="1.0" encoding="utf-8"?>
<p:tagLst xmlns:p="http://schemas.openxmlformats.org/presentationml/2006/main">
  <p:tag name="KSO_WM_DIAGRAM_VIRTUALLY_FRAME" val="{&quot;height&quot;:590.6176377952756,&quot;left&quot;:167.08574803149605,&quot;top&quot;:239.91330708661417,&quot;width&quot;:636.9156692913386}"/>
</p:tagLst>
</file>

<file path=ppt/tags/tag67.xml><?xml version="1.0" encoding="utf-8"?>
<p:tagLst xmlns:p="http://schemas.openxmlformats.org/presentationml/2006/main">
  <p:tag name="KSO_WM_DIAGRAM_VIRTUALLY_FRAME" val="{&quot;height&quot;:590.6176377952756,&quot;left&quot;:167.08574803149605,&quot;top&quot;:239.91330708661417,&quot;width&quot;:636.9156692913386}"/>
</p:tagLst>
</file>

<file path=ppt/tags/tag68.xml><?xml version="1.0" encoding="utf-8"?>
<p:tagLst xmlns:p="http://schemas.openxmlformats.org/presentationml/2006/main">
  <p:tag name="KSO_WM_DIAGRAM_VIRTUALLY_FRAME" val="{&quot;height&quot;:590.6176377952756,&quot;left&quot;:167.08574803149605,&quot;top&quot;:239.91330708661417,&quot;width&quot;:636.9156692913386}"/>
</p:tagLst>
</file>

<file path=ppt/tags/tag69.xml><?xml version="1.0" encoding="utf-8"?>
<p:tagLst xmlns:p="http://schemas.openxmlformats.org/presentationml/2006/main">
  <p:tag name="KSO_WM_DIAGRAM_VIRTUALLY_FRAME" val="{&quot;height&quot;:590.6176377952756,&quot;left&quot;:167.08574803149605,&quot;top&quot;:239.91330708661417,&quot;width&quot;:636.9156692913386}"/>
</p:tagLst>
</file>

<file path=ppt/tags/tag70.xml><?xml version="1.0" encoding="utf-8"?>
<p:tagLst xmlns:p="http://schemas.openxmlformats.org/presentationml/2006/main">
  <p:tag name="KSO_WM_DIAGRAM_VIRTUALLY_FRAME" val="{&quot;height&quot;:590.6176377952756,&quot;left&quot;:167.08574803149605,&quot;top&quot;:239.91330708661417,&quot;width&quot;:636.9156692913386}"/>
</p:tagLst>
</file>

<file path=ppt/tags/tag71.xml><?xml version="1.0" encoding="utf-8"?>
<p:tagLst xmlns:p="http://schemas.openxmlformats.org/presentationml/2006/main">
  <p:tag name="KSO_WM_DIAGRAM_VIRTUALLY_FRAME" val="{&quot;height&quot;:590.6176377952756,&quot;left&quot;:167.08574803149605,&quot;top&quot;:239.91330708661417,&quot;width&quot;:636.9156692913386}"/>
</p:tagLst>
</file>

<file path=ppt/tags/tag72.xml><?xml version="1.0" encoding="utf-8"?>
<p:tagLst xmlns:p="http://schemas.openxmlformats.org/presentationml/2006/main">
  <p:tag name="KSO_WM_DIAGRAM_VIRTUALLY_FRAME" val="{&quot;height&quot;:590.6176377952756,&quot;left&quot;:167.08574803149605,&quot;top&quot;:239.91330708661417,&quot;width&quot;:636.9156692913386}"/>
</p:tagLst>
</file>

<file path=ppt/tags/tag73.xml><?xml version="1.0" encoding="utf-8"?>
<p:tagLst xmlns:p="http://schemas.openxmlformats.org/presentationml/2006/main">
  <p:tag name="KSO_WM_DIAGRAM_VIRTUALLY_FRAME" val="{&quot;height&quot;:590.6176377952756,&quot;left&quot;:167.08574803149605,&quot;top&quot;:239.91330708661417,&quot;width&quot;:636.9156692913386}"/>
</p:tagLst>
</file>

<file path=ppt/tags/tag74.xml><?xml version="1.0" encoding="utf-8"?>
<p:tagLst xmlns:p="http://schemas.openxmlformats.org/presentationml/2006/main">
  <p:tag name="KSO_WM_DIAGRAM_VIRTUALLY_FRAME" val="{&quot;height&quot;:590.6176377952756,&quot;left&quot;:167.08574803149605,&quot;top&quot;:239.91330708661417,&quot;width&quot;:636.9156692913386}"/>
</p:tagLst>
</file>

<file path=ppt/tags/tag75.xml><?xml version="1.0" encoding="utf-8"?>
<p:tagLst xmlns:p="http://schemas.openxmlformats.org/presentationml/2006/main">
  <p:tag name="KSO_WM_DIAGRAM_VIRTUALLY_FRAME" val="{&quot;height&quot;:677.4963779527559,&quot;left&quot;:695.5047244094487,&quot;top&quot;:135.00314960629922,&quot;width&quot;:686.2952755905512}"/>
</p:tagLst>
</file>

<file path=ppt/tags/tag76.xml><?xml version="1.0" encoding="utf-8"?>
<p:tagLst xmlns:p="http://schemas.openxmlformats.org/presentationml/2006/main">
  <p:tag name="KSO_WM_DIAGRAM_VIRTUALLY_FRAME" val="{&quot;height&quot;:677.4963779527559,&quot;left&quot;:695.5047244094487,&quot;top&quot;:135.00314960629922,&quot;width&quot;:686.2952755905512}"/>
</p:tagLst>
</file>

<file path=ppt/tags/tag77.xml><?xml version="1.0" encoding="utf-8"?>
<p:tagLst xmlns:p="http://schemas.openxmlformats.org/presentationml/2006/main">
  <p:tag name="KSO_WM_DIAGRAM_VIRTUALLY_FRAME" val="{&quot;height&quot;:677.4963779527559,&quot;left&quot;:695.5047244094487,&quot;top&quot;:135.00314960629922,&quot;width&quot;:686.2952755905512}"/>
</p:tagLst>
</file>

<file path=ppt/tags/tag78.xml><?xml version="1.0" encoding="utf-8"?>
<p:tagLst xmlns:p="http://schemas.openxmlformats.org/presentationml/2006/main">
  <p:tag name="KSO_WM_DIAGRAM_VIRTUALLY_FRAME" val="{&quot;height&quot;:677.4963779527559,&quot;left&quot;:695.5047244094487,&quot;top&quot;:135.00314960629922,&quot;width&quot;:686.2952755905512}"/>
</p:tagLst>
</file>

<file path=ppt/tags/tag79.xml><?xml version="1.0" encoding="utf-8"?>
<p:tagLst xmlns:p="http://schemas.openxmlformats.org/presentationml/2006/main">
  <p:tag name="KSO_WM_DIAGRAM_VIRTUALLY_FRAME" val="{&quot;height&quot;:677.4963779527559,&quot;left&quot;:695.5047244094487,&quot;top&quot;:135.00314960629922,&quot;width&quot;:686.2952755905512}"/>
</p:tagLst>
</file>

<file path=ppt/tags/tag80.xml><?xml version="1.0" encoding="utf-8"?>
<p:tagLst xmlns:p="http://schemas.openxmlformats.org/presentationml/2006/main">
  <p:tag name="KSO_WM_DIAGRAM_VIRTUALLY_FRAME" val="{&quot;height&quot;:677.4963779527559,&quot;left&quot;:695.5047244094487,&quot;top&quot;:135.00314960629922,&quot;width&quot;:686.2952755905512}"/>
</p:tagLst>
</file>

<file path=ppt/tags/tag81.xml><?xml version="1.0" encoding="utf-8"?>
<p:tagLst xmlns:p="http://schemas.openxmlformats.org/presentationml/2006/main">
  <p:tag name="KSO_WM_DIAGRAM_VIRTUALLY_FRAME" val="{&quot;height&quot;:677.4963779527559,&quot;left&quot;:695.5047244094487,&quot;top&quot;:135.00314960629922,&quot;width&quot;:686.2952755905512}"/>
</p:tagLst>
</file>

<file path=ppt/tags/tag82.xml><?xml version="1.0" encoding="utf-8"?>
<p:tagLst xmlns:p="http://schemas.openxmlformats.org/presentationml/2006/main">
  <p:tag name="KSO_WM_DIAGRAM_VIRTUALLY_FRAME" val="{&quot;height&quot;:677.4963779527559,&quot;left&quot;:695.5047244094487,&quot;top&quot;:135.00314960629922,&quot;width&quot;:686.2952755905512}"/>
</p:tagLst>
</file>

<file path=ppt/tags/tag83.xml><?xml version="1.0" encoding="utf-8"?>
<p:tagLst xmlns:p="http://schemas.openxmlformats.org/presentationml/2006/main">
  <p:tag name="KSO_WM_DIAGRAM_VIRTUALLY_FRAME" val="{&quot;height&quot;:677.4963779527559,&quot;left&quot;:695.5047244094487,&quot;top&quot;:135.00314960629922,&quot;width&quot;:686.2952755905512}"/>
</p:tagLst>
</file>

<file path=ppt/tags/tag84.xml><?xml version="1.0" encoding="utf-8"?>
<p:tagLst xmlns:p="http://schemas.openxmlformats.org/presentationml/2006/main">
  <p:tag name="KSO_WM_DIAGRAM_VIRTUALLY_FRAME" val="{&quot;height&quot;:677.4963779527559,&quot;left&quot;:695.5047244094487,&quot;top&quot;:135.00314960629922,&quot;width&quot;:686.295275590551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5860</Words>
  <Application>WPS 演示</Application>
  <PresentationFormat>On-screen Show (4:3)</PresentationFormat>
  <Paragraphs>540</Paragraphs>
  <Slides>32</Slides>
  <Notes>0</Notes>
  <HiddenSlides>0</HiddenSlides>
  <MMClips>0</MMClips>
  <ScaleCrop>false</ScaleCrop>
  <HeadingPairs>
    <vt:vector size="6" baseType="variant">
      <vt:variant>
        <vt:lpstr>已用的字体</vt:lpstr>
      </vt:variant>
      <vt:variant>
        <vt:i4>32</vt:i4>
      </vt:variant>
      <vt:variant>
        <vt:lpstr>主题</vt:lpstr>
      </vt:variant>
      <vt:variant>
        <vt:i4>1</vt:i4>
      </vt:variant>
      <vt:variant>
        <vt:lpstr>幻灯片标题</vt:lpstr>
      </vt:variant>
      <vt:variant>
        <vt:i4>32</vt:i4>
      </vt:variant>
    </vt:vector>
  </HeadingPairs>
  <TitlesOfParts>
    <vt:vector size="65" baseType="lpstr">
      <vt:lpstr>Arial</vt:lpstr>
      <vt:lpstr>宋体</vt:lpstr>
      <vt:lpstr>Wingdings</vt:lpstr>
      <vt:lpstr>思源宋体 Bold</vt:lpstr>
      <vt:lpstr>微软雅黑</vt:lpstr>
      <vt:lpstr>思源宋体-超粗体</vt:lpstr>
      <vt:lpstr>Aharoni CLM</vt:lpstr>
      <vt:lpstr>Abril Fatface</vt:lpstr>
      <vt:lpstr>Abirim</vt:lpstr>
      <vt:lpstr>思源宋体</vt:lpstr>
      <vt:lpstr>阿里巴巴普惠体</vt:lpstr>
      <vt:lpstr>黑体</vt:lpstr>
      <vt:lpstr>可画耀动黑-简</vt:lpstr>
      <vt:lpstr>思源黑体</vt:lpstr>
      <vt:lpstr>Arial</vt:lpstr>
      <vt:lpstr>Calibri</vt:lpstr>
      <vt:lpstr>Arial Unicode MS</vt:lpstr>
      <vt:lpstr>思源黑体 Bold</vt:lpstr>
      <vt:lpstr>Roboto Slab</vt:lpstr>
      <vt:lpstr>Roboto</vt:lpstr>
      <vt:lpstr>Roboto Slab</vt:lpstr>
      <vt:lpstr>Roboto Slab</vt:lpstr>
      <vt:lpstr>Roboto</vt:lpstr>
      <vt:lpstr>Roboto</vt:lpstr>
      <vt:lpstr>Microsoft Himalaya</vt:lpstr>
      <vt:lpstr>锦绣宋体</vt:lpstr>
      <vt:lpstr>造字工房刻宋体 粗体</vt:lpstr>
      <vt:lpstr>komorebi</vt:lpstr>
      <vt:lpstr>阿里巴巴和七个小矮人</vt:lpstr>
      <vt:lpstr>汉仪旗黑-105简</vt:lpstr>
      <vt:lpstr>文道潮黑体</vt:lpstr>
      <vt:lpstr>方正大黑体_GBK</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蓝色简约商务风个人年终工作汇报演示文稿</dc:title>
  <dc:creator/>
  <cp:lastModifiedBy>吷弥弥弥弥弥</cp:lastModifiedBy>
  <cp:revision>16</cp:revision>
  <dcterms:created xsi:type="dcterms:W3CDTF">2006-08-16T00:00:00Z</dcterms:created>
  <dcterms:modified xsi:type="dcterms:W3CDTF">2026-04-13T16:12:59Z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{"Label":"1","ContentProducer":"001191110105MA01AN806X00000","ProduceID":"DAHGolM1GEA","ReservedCode1":"","ContentPropagator":"001191110105MA01AN806X00000","PropagateID":"DAHGolM1GEA","ReservedCode2":""}</vt:lpwstr>
  </property>
  <property fmtid="{D5CDD505-2E9C-101B-9397-08002B2CF9AE}" pid="3" name="ICV">
    <vt:lpwstr>8E2764F785B84B1BA3074A5919906FE0_12</vt:lpwstr>
  </property>
  <property fmtid="{D5CDD505-2E9C-101B-9397-08002B2CF9AE}" pid="4" name="KSOProductBuildVer">
    <vt:lpwstr>2052-12.1.0.23125</vt:lpwstr>
  </property>
</Properties>
</file>